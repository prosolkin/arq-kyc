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narrative" id="{031c78c5-a3cc-c074-5f28-bc842013977e}">
          <p14:sldIdLst>
            <p14:sldId id="256"/>
            <p14:sldId id="257"/>
            <p14:sldId id="258"/>
            <p14:sldId id="259"/>
            <p14:sldId id="260"/>
            <p14:sldId id="261"/>
            <p14:sldId id="262"/>
            <p14:sldId id="263"/>
            <p14:sldId id="264"/>
            <p14:sldId id="265"/>
            <p14:sldId id="266"/>
            <p14:sldId id="267"/>
            <p14:sldId id="268"/>
            <p14:sldId id="269"/>
          </p14:sldIdLst>
        </p14:section>
        <p14:section name="Appendix" id="{62cdf6d5-815a-bca1-1933-b816d0599c29}">
          <p14:sldIdLst>
            <p14:sldId id="270"/>
            <p14:sldId id="271"/>
            <p14:sldId id="272"/>
            <p14:sldId id="273"/>
            <p14:sldId id="274"/>
            <p14:sldId id="275"/>
            <p14:sldId id="276"/>
            <p14:sldId id="277"/>
            <p14:sldId id="278"/>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answer the brief in one pass. The headline metric is approval among recorded decisions. These extracts cannot measure the start-to-finish funnel that the brief describes, and the deck says so first. The interactive version of the same analysis is at prosolkin.github.io/arq-kyc. Its password is in the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website shows the same analysis and figures as this report, with a chat about the case. Its password is in the email. The repository holds the scripts and the aggregated tables, and one build makes every output from the two extracts.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seven points follow the order that an executive needs. They are: what we can measure, what changed, the arithmetic, the hypotheses, the first steps, the needs, and the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defines pass rate as people who start and finish KYC. The extracts hold one recorded decision per user with a date only, so the headline is approval among recorded decisions. Completion, eventual approval and abandonment need new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came without context, so the analysis states what it assumes. Each row names the assumption and what changes if it is wrong. The same list is in the methodology note and on the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 fell for two reasons: fewer decisions in the recent period, and a lower approval rate. Only the rate effect is about KYC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unsuccessful decision gets one primary reason in check order, so effects add up to the total change. Red is the part above baseline inside the four date windows (base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Attribution is observed minus expected at the prior-period rate of the same signature. Dates only: we cannot match records to times of day. Other failures on those days are not attributed.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is established. Each row names the evidence, the strongest alternative, and the investigation and the decision it enables.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Rows are the kind of work, columns are time. Fixes and instruments go first, because they are cheap and useful whatever the root cause. Experiments test the obvious hypotheses. Research runs beside them, from support tickets up to eye tracking. Platform work comes later. Items marked ◌ are conditional.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0 is mostly measurement and investigation, plus one remediation (hold and retry) that is useful whatever the root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population is observed; every multiplier is an assumption. Populations do not overlap. Incident-type benefits occur only when a comparable incident recurs. Control-gap reversals are shown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is small in Phase 0. Verification is per action (acceptance criteria) and per experiment (eventual approval per person within 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not asked in the submission. They are the answers that would change the findings. Each row says what changes with the answer.
1. Does each row hold a user's first, latest or final KYC attempt, and does the date mark the submission or the vendor's decision? Who would know: Data platform or whoever produced the extract.
2. Is there any record, even weekly counts, of people who opened KYC and never submitted? Who would know: Mobile and platform engineering (app analytics, API logs).
3. What happens today after a TECHNICAL_ERROR or a liveness failure: does the user see the vendor's outcome, get a retake, or enter a review queue? Who would know: Product and the onboarding squad; the vendor integration owner.
4. Which vendor product tier and data centre does ARQ use, and did ARQ receive incident notices for Sep 1, 2 and 6, 2023? Who would know: Vendor management; the vendor's account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appendix: definitions, validation, composition, Mexico, incident sensitivity, experiments, value model, operating model, control findings, vendor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Proposed KPI registry entries. Unavailable metrics list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checks recomputed on every build. Raw files are hashed to show they were not modified.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Classes describe who could act on a group of vendor reasons. They are not adjudicated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all Mexican-document decisions. No reason code is the largest and grew; the cause is not established.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baseline-based variants plus the old method (every failure of the pattern, no baseline) for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assignment by person, repeat attempts do not count as independent users. Sample sizes use stand-in baselines and must be recomputed after Phase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preset comes from a published price, salary or fintech benchmark, fetched on the research date. The dashboard lists every source with its figure and fetch status. Low, Mid and High are the ends and middle of each input’s range, not pessimistic and optimistic cases. Cautious takes the end that weakens the case. Finance should replace each preset with ARQ’s own number; the value model recomputes immediately.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Central scenario: 634 recoverable approvals per 30 days (range 233–1,093). Cohort value = recoverable × activation rate × first-year value per activated customer. Break-even = (build cost ÷ 12 + run cost per month) ÷ (recoverable × activation rate). Vendor spend = decisions × billable transactions per decision × cost per transaction. These are illustrations on market-based inputs, not forecasts and not ARQ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Role-based example functions, not ARQ’s organisation. Relevant to a company KPI platform: definitions, owners, versions, freshness, access and adoption.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approval record is not an enabled account; a blank field is not proof a check never ran. Legal obligations are not asserted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Kept separate from the 2023 diagnosis. Each row lists prerequisites and what is not verified for ARQ.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8"/>
        </a:solidFill>
      </p:bgPr>
    </p:bg>
    <p:spTree>
      <p:nvGrpSpPr>
        <p:cNvPr id="1" name=""/>
        <p:cNvGrpSpPr/>
        <p:nvPr/>
      </p:nvGrpSpPr>
      <p:grpSpPr>
        <a:xfrm>
          <a:off x="0" y="0"/>
          <a:ext cx="0" cy="0"/>
          <a:chOff x="0" y="0"/>
          <a:chExt cx="0" cy="0"/>
        </a:xfrm>
      </p:grpSpPr>
      <p:sp>
        <p:nvSpPr>
          <p:cNvPr id="2" name="Text 0"/>
          <p:cNvSpPr/>
          <p:nvPr/>
        </p:nvSpPr>
        <p:spPr>
          <a:xfrm>
            <a:off x="548640" y="6473952"/>
            <a:ext cx="8229600" cy="228600"/>
          </a:xfrm>
          <a:prstGeom prst="rect">
            <a:avLst/>
          </a:prstGeom>
          <a:noFill/>
          <a:ln/>
        </p:spPr>
        <p:txBody>
          <a:bodyPr wrap="square" lIns="0" tIns="0" rIns="0" bIns="0" rtlCol="0" anchor="ctr"/>
          <a:lstStyle/>
          <a:p>
            <a:pPr indent="0" marL="0">
              <a:buNone/>
            </a:pPr>
            <a:r>
              <a:rPr lang="en-US" sz="900" dirty="0">
                <a:solidFill>
                  <a:srgbClr val="8B949C"/>
                </a:solidFill>
                <a:latin typeface="Arial" pitchFamily="34" charset="0"/>
                <a:ea typeface="Arial" pitchFamily="34" charset="-122"/>
                <a:cs typeface="Arial" pitchFamily="34" charset="-120"/>
              </a:rPr>
              <a:t>KYC approval-rate diagnosis · 2023 extracts (Jul 25 – Sep 22) · Case-study submission</a:t>
            </a:r>
            <a:endParaRPr lang="en-US" sz="9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11417"/>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prosolkin.github.io/arq-kyc/" TargetMode="External"/><Relationship Id="rId2" Type="http://schemas.openxmlformats.org/officeDocument/2006/relationships/hyperlink" Target="https://github.com/prosolkin/arq-kyc" TargetMode="External"/><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prosolkin.github.io/arq-kyc/" TargetMode="External"/><Relationship Id="rId2" Type="http://schemas.openxmlformats.org/officeDocument/2006/relationships/hyperlink" Target="https://github.com/prosolkin/arq-kyc" TargetMode="External"/><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0"/>
          <p:cNvSpPr txBox="1"/>
          <p:nvPr/>
        </p:nvSpPr>
        <p:spPr>
          <a:xfrm>
            <a:off x="548640" y="457200"/>
            <a:ext cx="11094415" cy="640080"/>
          </a:xfrm>
          <a:prstGeom prst="rect">
            <a:avLst/>
          </a:prstGeom>
          <a:noFill/>
          <a:ln/>
        </p:spPr>
        <p:txBody>
          <a:bodyPr wrap="square" lIns="0" tIns="0" rIns="0" bIns="0" rtlCol="0" anchor="t"/>
          <a:lstStyle/>
          <a:p>
            <a:pPr algn="l" indent="0" marL="0">
              <a:buNone/>
            </a:pPr>
            <a:r>
              <a:rPr lang="en-US" sz="3200" dirty="0">
                <a:solidFill>
                  <a:srgbClr val="E5E9EC"/>
                </a:solidFill>
                <a:latin typeface="Georgia" pitchFamily="34" charset="0"/>
                <a:ea typeface="Georgia" pitchFamily="34" charset="-122"/>
                <a:cs typeface="Georgia" pitchFamily="34" charset="-120"/>
              </a:rPr>
              <a:t>KYC pass rate: why it fell and what to do</a:t>
            </a:r>
            <a:endParaRPr lang="en-US" sz="3200" dirty="0"/>
          </a:p>
        </p:txBody>
      </p:sp>
      <p:sp>
        <p:nvSpPr>
          <p:cNvPr id="3" name="text-1"/>
          <p:cNvSpPr txBox="1"/>
          <p:nvPr/>
        </p:nvSpPr>
        <p:spPr>
          <a:xfrm>
            <a:off x="548640" y="1170432"/>
            <a:ext cx="8778240" cy="548640"/>
          </a:xfrm>
          <a:prstGeom prst="rect">
            <a:avLst/>
          </a:prstGeom>
          <a:noFill/>
          <a:ln/>
        </p:spPr>
        <p:txBody>
          <a:bodyPr wrap="square" lIns="0" tIns="0" rIns="0" bIns="0" rtlCol="0" anchor="t"/>
          <a:lstStyle/>
          <a:p>
            <a:pPr algn="l" indent="0" marL="0">
              <a:buNone/>
            </a:pPr>
            <a:r>
              <a:rPr lang="en-US" sz="1500" dirty="0">
                <a:solidFill>
                  <a:srgbClr val="E5E9EC"/>
                </a:solidFill>
                <a:latin typeface="Arial" pitchFamily="34" charset="0"/>
                <a:ea typeface="Arial" pitchFamily="34" charset="-122"/>
                <a:cs typeface="Arial" pitchFamily="34" charset="-120"/>
              </a:rPr>
              <a:t>The KYC pass rate (approval among recorded decisions) fell from 88.7% to 83.3% between the two periods (−5.4 pp), or −2,945 approvals.</a:t>
            </a:r>
            <a:endParaRPr lang="en-US" sz="1500" dirty="0"/>
          </a:p>
        </p:txBody>
      </p:sp>
      <p:sp>
        <p:nvSpPr>
          <p:cNvPr id="4" name="text-2"/>
          <p:cNvSpPr txBox="1"/>
          <p:nvPr/>
        </p:nvSpPr>
        <p:spPr>
          <a:xfrm>
            <a:off x="548640" y="1810512"/>
            <a:ext cx="11094415" cy="384048"/>
          </a:xfrm>
          <a:prstGeom prst="rect">
            <a:avLst/>
          </a:prstGeom>
          <a:noFill/>
          <a:ln/>
        </p:spPr>
        <p:txBody>
          <a:bodyPr wrap="square" lIns="0" tIns="0" rIns="0" bIns="0" rtlCol="0" anchor="t"/>
          <a:lstStyle/>
          <a:p>
            <a:pPr algn="l" indent="0" marL="0">
              <a:buNone/>
            </a:pPr>
            <a:r>
              <a:rPr lang="en-US" sz="1050" dirty="0">
                <a:solidFill>
                  <a:srgbClr val="A1ABB4"/>
                </a:solidFill>
                <a:latin typeface="Arial" pitchFamily="34" charset="0"/>
                <a:ea typeface="Arial" pitchFamily="34" charset="-122"/>
                <a:cs typeface="Arial" pitchFamily="34" charset="-120"/>
              </a:rPr>
              <a:t>52,075 recorded decisions, one per user. Prior period: Jul 25 – Aug 23, 2023; recent period: Aug 24 – Sep 22, 2023. Aggregated data, no personal data.</a:t>
            </a:r>
            <a:endParaRPr lang="en-US" sz="1050" dirty="0"/>
          </a:p>
          <a:p>
            <a:pPr algn="l" indent="0" marL="0">
              <a:buNone/>
            </a:pPr>
            <a:r>
              <a:rPr lang="en-US" sz="1050" dirty="0">
                <a:solidFill>
                  <a:srgbClr val="A1ABB4"/>
                </a:solidFill>
                <a:latin typeface="Arial" pitchFamily="34" charset="0"/>
                <a:ea typeface="Arial" pitchFamily="34" charset="-122"/>
                <a:cs typeface="Arial" pitchFamily="34" charset="-120"/>
              </a:rPr>
              <a:t>Vendor research dated Oct 13, 2026.</a:t>
            </a:r>
            <a:endParaRPr lang="en-US" sz="1050" dirty="0"/>
          </a:p>
        </p:txBody>
      </p:sp>
      <p:sp>
        <p:nvSpPr>
          <p:cNvPr id="5" name="rect-3"/>
          <p:cNvSpPr/>
          <p:nvPr/>
        </p:nvSpPr>
        <p:spPr>
          <a:xfrm>
            <a:off x="548640" y="2286000"/>
            <a:ext cx="7360920" cy="2926080"/>
          </a:xfrm>
          <a:prstGeom prst="roundRect">
            <a:avLst>
              <a:gd name="adj" fmla="val 2500"/>
            </a:avLst>
          </a:prstGeom>
          <a:solidFill>
            <a:srgbClr val="181C20"/>
          </a:solidFill>
          <a:ln w="9525">
            <a:solidFill>
              <a:srgbClr val="2A3036"/>
            </a:solidFill>
            <a:prstDash val="solid"/>
          </a:ln>
        </p:spPr>
      </p:sp>
      <p:sp>
        <p:nvSpPr>
          <p:cNvPr id="6" name="text-4"/>
          <p:cNvSpPr txBox="1"/>
          <p:nvPr/>
        </p:nvSpPr>
        <p:spPr>
          <a:xfrm>
            <a:off x="749808" y="2432304"/>
            <a:ext cx="6995160" cy="274320"/>
          </a:xfrm>
          <a:prstGeom prst="rect">
            <a:avLst/>
          </a:prstGeom>
          <a:noFill/>
          <a:ln/>
        </p:spPr>
        <p:txBody>
          <a:bodyPr wrap="square" lIns="0" tIns="0" rIns="0" bIns="0" rtlCol="0" anchor="t"/>
          <a:lstStyle/>
          <a:p>
            <a:pPr algn="l" indent="0" marL="0">
              <a:buNone/>
            </a:pPr>
            <a:r>
              <a:rPr lang="en-US" sz="1200" b="1" dirty="0">
                <a:solidFill>
                  <a:srgbClr val="E5E9EC"/>
                </a:solidFill>
                <a:latin typeface="Arial" pitchFamily="34" charset="0"/>
                <a:ea typeface="Arial" pitchFamily="34" charset="-122"/>
                <a:cs typeface="Arial" pitchFamily="34" charset="-120"/>
              </a:rPr>
              <a:t>Approval among recorded decisions, by day</a:t>
            </a:r>
            <a:endParaRPr lang="en-US" sz="1200" dirty="0"/>
          </a:p>
        </p:txBody>
      </p:sp>
      <p:sp>
        <p:nvSpPr>
          <p:cNvPr id="7" name="line-5"/>
          <p:cNvSpPr/>
          <p:nvPr/>
        </p:nvSpPr>
        <p:spPr>
          <a:xfrm>
            <a:off x="1115568" y="4389120"/>
            <a:ext cx="5742432" cy="0"/>
          </a:xfrm>
          <a:prstGeom prst="line">
            <a:avLst/>
          </a:prstGeom>
          <a:noFill/>
          <a:ln w="9525">
            <a:solidFill>
              <a:srgbClr val="2A3036"/>
            </a:solidFill>
            <a:prstDash val="solid"/>
          </a:ln>
        </p:spPr>
      </p:sp>
      <p:sp>
        <p:nvSpPr>
          <p:cNvPr id="8" name="text-6"/>
          <p:cNvSpPr txBox="1"/>
          <p:nvPr/>
        </p:nvSpPr>
        <p:spPr>
          <a:xfrm>
            <a:off x="658368" y="4306824"/>
            <a:ext cx="384048"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60%</a:t>
            </a:r>
            <a:endParaRPr lang="en-US" sz="900" dirty="0"/>
          </a:p>
        </p:txBody>
      </p:sp>
      <p:sp>
        <p:nvSpPr>
          <p:cNvPr id="9" name="line-7"/>
          <p:cNvSpPr/>
          <p:nvPr/>
        </p:nvSpPr>
        <p:spPr>
          <a:xfrm>
            <a:off x="1115568" y="3621024"/>
            <a:ext cx="5742432" cy="0"/>
          </a:xfrm>
          <a:prstGeom prst="line">
            <a:avLst/>
          </a:prstGeom>
          <a:noFill/>
          <a:ln w="9525">
            <a:solidFill>
              <a:srgbClr val="2A3036"/>
            </a:solidFill>
            <a:prstDash val="solid"/>
          </a:ln>
        </p:spPr>
      </p:sp>
      <p:sp>
        <p:nvSpPr>
          <p:cNvPr id="10" name="text-8"/>
          <p:cNvSpPr txBox="1"/>
          <p:nvPr/>
        </p:nvSpPr>
        <p:spPr>
          <a:xfrm>
            <a:off x="658368" y="3538728"/>
            <a:ext cx="384048"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80%</a:t>
            </a:r>
            <a:endParaRPr lang="en-US" sz="900" dirty="0"/>
          </a:p>
        </p:txBody>
      </p:sp>
      <p:sp>
        <p:nvSpPr>
          <p:cNvPr id="11" name="line-9"/>
          <p:cNvSpPr/>
          <p:nvPr/>
        </p:nvSpPr>
        <p:spPr>
          <a:xfrm>
            <a:off x="1115568" y="2852928"/>
            <a:ext cx="5742432" cy="0"/>
          </a:xfrm>
          <a:prstGeom prst="line">
            <a:avLst/>
          </a:prstGeom>
          <a:noFill/>
          <a:ln w="9525">
            <a:solidFill>
              <a:srgbClr val="2A3036"/>
            </a:solidFill>
            <a:prstDash val="solid"/>
          </a:ln>
        </p:spPr>
      </p:sp>
      <p:sp>
        <p:nvSpPr>
          <p:cNvPr id="12" name="text-10"/>
          <p:cNvSpPr txBox="1"/>
          <p:nvPr/>
        </p:nvSpPr>
        <p:spPr>
          <a:xfrm>
            <a:off x="658368" y="2770632"/>
            <a:ext cx="384048"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100%</a:t>
            </a:r>
            <a:endParaRPr lang="en-US" sz="900" dirty="0"/>
          </a:p>
        </p:txBody>
      </p:sp>
      <p:sp>
        <p:nvSpPr>
          <p:cNvPr id="13" name="rect-11"/>
          <p:cNvSpPr/>
          <p:nvPr/>
        </p:nvSpPr>
        <p:spPr>
          <a:xfrm>
            <a:off x="1128967" y="3279605"/>
            <a:ext cx="68909" cy="1493563"/>
          </a:xfrm>
          <a:prstGeom prst="rect">
            <a:avLst/>
          </a:prstGeom>
          <a:solidFill>
            <a:srgbClr val="6FA6E6"/>
          </a:solidFill>
          <a:ln/>
        </p:spPr>
      </p:sp>
      <p:sp>
        <p:nvSpPr>
          <p:cNvPr id="14" name="rect-12"/>
          <p:cNvSpPr/>
          <p:nvPr/>
        </p:nvSpPr>
        <p:spPr>
          <a:xfrm>
            <a:off x="1224674" y="3193195"/>
            <a:ext cx="68909" cy="1579973"/>
          </a:xfrm>
          <a:prstGeom prst="rect">
            <a:avLst/>
          </a:prstGeom>
          <a:solidFill>
            <a:srgbClr val="6FA6E6"/>
          </a:solidFill>
          <a:ln/>
        </p:spPr>
      </p:sp>
      <p:sp>
        <p:nvSpPr>
          <p:cNvPr id="15" name="rect-13"/>
          <p:cNvSpPr/>
          <p:nvPr/>
        </p:nvSpPr>
        <p:spPr>
          <a:xfrm>
            <a:off x="1320381" y="3237744"/>
            <a:ext cx="68909" cy="1535424"/>
          </a:xfrm>
          <a:prstGeom prst="rect">
            <a:avLst/>
          </a:prstGeom>
          <a:solidFill>
            <a:srgbClr val="6FA6E6"/>
          </a:solidFill>
          <a:ln/>
        </p:spPr>
      </p:sp>
      <p:sp>
        <p:nvSpPr>
          <p:cNvPr id="16" name="rect-14"/>
          <p:cNvSpPr/>
          <p:nvPr/>
        </p:nvSpPr>
        <p:spPr>
          <a:xfrm>
            <a:off x="1416089" y="3426312"/>
            <a:ext cx="68909" cy="1346856"/>
          </a:xfrm>
          <a:prstGeom prst="rect">
            <a:avLst/>
          </a:prstGeom>
          <a:solidFill>
            <a:srgbClr val="6FA6E6"/>
          </a:solidFill>
          <a:ln/>
        </p:spPr>
      </p:sp>
      <p:sp>
        <p:nvSpPr>
          <p:cNvPr id="17" name="rect-15"/>
          <p:cNvSpPr/>
          <p:nvPr/>
        </p:nvSpPr>
        <p:spPr>
          <a:xfrm>
            <a:off x="1511796" y="3365632"/>
            <a:ext cx="68909" cy="1407536"/>
          </a:xfrm>
          <a:prstGeom prst="rect">
            <a:avLst/>
          </a:prstGeom>
          <a:solidFill>
            <a:srgbClr val="6FA6E6"/>
          </a:solidFill>
          <a:ln/>
        </p:spPr>
      </p:sp>
      <p:sp>
        <p:nvSpPr>
          <p:cNvPr id="18" name="rect-16"/>
          <p:cNvSpPr/>
          <p:nvPr/>
        </p:nvSpPr>
        <p:spPr>
          <a:xfrm>
            <a:off x="1607503" y="3300344"/>
            <a:ext cx="68909" cy="1472824"/>
          </a:xfrm>
          <a:prstGeom prst="rect">
            <a:avLst/>
          </a:prstGeom>
          <a:solidFill>
            <a:srgbClr val="6FA6E6"/>
          </a:solidFill>
          <a:ln/>
        </p:spPr>
      </p:sp>
      <p:sp>
        <p:nvSpPr>
          <p:cNvPr id="19" name="rect-17"/>
          <p:cNvSpPr/>
          <p:nvPr/>
        </p:nvSpPr>
        <p:spPr>
          <a:xfrm>
            <a:off x="1703210" y="3294967"/>
            <a:ext cx="68909" cy="1478201"/>
          </a:xfrm>
          <a:prstGeom prst="rect">
            <a:avLst/>
          </a:prstGeom>
          <a:solidFill>
            <a:srgbClr val="6FA6E6"/>
          </a:solidFill>
          <a:ln/>
        </p:spPr>
      </p:sp>
      <p:sp>
        <p:nvSpPr>
          <p:cNvPr id="20" name="rect-18"/>
          <p:cNvSpPr/>
          <p:nvPr/>
        </p:nvSpPr>
        <p:spPr>
          <a:xfrm>
            <a:off x="1798917" y="3198955"/>
            <a:ext cx="68909" cy="1574213"/>
          </a:xfrm>
          <a:prstGeom prst="rect">
            <a:avLst/>
          </a:prstGeom>
          <a:solidFill>
            <a:srgbClr val="6FA6E6"/>
          </a:solidFill>
          <a:ln/>
        </p:spPr>
      </p:sp>
      <p:sp>
        <p:nvSpPr>
          <p:cNvPr id="21" name="rect-19"/>
          <p:cNvSpPr/>
          <p:nvPr/>
        </p:nvSpPr>
        <p:spPr>
          <a:xfrm>
            <a:off x="1894625" y="3316090"/>
            <a:ext cx="68909" cy="1457078"/>
          </a:xfrm>
          <a:prstGeom prst="rect">
            <a:avLst/>
          </a:prstGeom>
          <a:solidFill>
            <a:srgbClr val="6FA6E6"/>
          </a:solidFill>
          <a:ln/>
        </p:spPr>
      </p:sp>
      <p:sp>
        <p:nvSpPr>
          <p:cNvPr id="22" name="rect-20"/>
          <p:cNvSpPr/>
          <p:nvPr/>
        </p:nvSpPr>
        <p:spPr>
          <a:xfrm>
            <a:off x="1990332" y="3318394"/>
            <a:ext cx="68909" cy="1454774"/>
          </a:xfrm>
          <a:prstGeom prst="rect">
            <a:avLst/>
          </a:prstGeom>
          <a:solidFill>
            <a:srgbClr val="6FA6E6"/>
          </a:solidFill>
          <a:ln/>
        </p:spPr>
      </p:sp>
      <p:sp>
        <p:nvSpPr>
          <p:cNvPr id="23" name="rect-21"/>
          <p:cNvSpPr/>
          <p:nvPr/>
        </p:nvSpPr>
        <p:spPr>
          <a:xfrm>
            <a:off x="2086039" y="3372929"/>
            <a:ext cx="68909" cy="1400239"/>
          </a:xfrm>
          <a:prstGeom prst="rect">
            <a:avLst/>
          </a:prstGeom>
          <a:solidFill>
            <a:srgbClr val="6FA6E6"/>
          </a:solidFill>
          <a:ln/>
        </p:spPr>
      </p:sp>
      <p:sp>
        <p:nvSpPr>
          <p:cNvPr id="24" name="rect-22"/>
          <p:cNvSpPr/>
          <p:nvPr/>
        </p:nvSpPr>
        <p:spPr>
          <a:xfrm>
            <a:off x="2181746" y="3217774"/>
            <a:ext cx="68909" cy="1555394"/>
          </a:xfrm>
          <a:prstGeom prst="rect">
            <a:avLst/>
          </a:prstGeom>
          <a:solidFill>
            <a:srgbClr val="6FA6E6"/>
          </a:solidFill>
          <a:ln/>
        </p:spPr>
      </p:sp>
      <p:sp>
        <p:nvSpPr>
          <p:cNvPr id="25" name="rect-23"/>
          <p:cNvSpPr/>
          <p:nvPr/>
        </p:nvSpPr>
        <p:spPr>
          <a:xfrm>
            <a:off x="2277453" y="3231215"/>
            <a:ext cx="68909" cy="1541953"/>
          </a:xfrm>
          <a:prstGeom prst="rect">
            <a:avLst/>
          </a:prstGeom>
          <a:solidFill>
            <a:srgbClr val="6FA6E6"/>
          </a:solidFill>
          <a:ln/>
        </p:spPr>
      </p:sp>
      <p:sp>
        <p:nvSpPr>
          <p:cNvPr id="26" name="rect-24"/>
          <p:cNvSpPr/>
          <p:nvPr/>
        </p:nvSpPr>
        <p:spPr>
          <a:xfrm>
            <a:off x="2373161" y="3262707"/>
            <a:ext cx="68909" cy="1510461"/>
          </a:xfrm>
          <a:prstGeom prst="rect">
            <a:avLst/>
          </a:prstGeom>
          <a:solidFill>
            <a:srgbClr val="6FA6E6"/>
          </a:solidFill>
          <a:ln/>
        </p:spPr>
      </p:sp>
      <p:sp>
        <p:nvSpPr>
          <p:cNvPr id="27" name="rect-25"/>
          <p:cNvSpPr/>
          <p:nvPr/>
        </p:nvSpPr>
        <p:spPr>
          <a:xfrm>
            <a:off x="2468868" y="3307257"/>
            <a:ext cx="68909" cy="1465911"/>
          </a:xfrm>
          <a:prstGeom prst="rect">
            <a:avLst/>
          </a:prstGeom>
          <a:solidFill>
            <a:srgbClr val="6FA6E6"/>
          </a:solidFill>
          <a:ln/>
        </p:spPr>
      </p:sp>
      <p:sp>
        <p:nvSpPr>
          <p:cNvPr id="28" name="rect-26"/>
          <p:cNvSpPr/>
          <p:nvPr/>
        </p:nvSpPr>
        <p:spPr>
          <a:xfrm>
            <a:off x="2564575" y="3289975"/>
            <a:ext cx="68909" cy="1483193"/>
          </a:xfrm>
          <a:prstGeom prst="rect">
            <a:avLst/>
          </a:prstGeom>
          <a:solidFill>
            <a:srgbClr val="6FA6E6"/>
          </a:solidFill>
          <a:ln/>
        </p:spPr>
      </p:sp>
      <p:sp>
        <p:nvSpPr>
          <p:cNvPr id="29" name="rect-27"/>
          <p:cNvSpPr/>
          <p:nvPr/>
        </p:nvSpPr>
        <p:spPr>
          <a:xfrm>
            <a:off x="2660282" y="3287286"/>
            <a:ext cx="68909" cy="1485882"/>
          </a:xfrm>
          <a:prstGeom prst="rect">
            <a:avLst/>
          </a:prstGeom>
          <a:solidFill>
            <a:srgbClr val="6FA6E6"/>
          </a:solidFill>
          <a:ln/>
        </p:spPr>
      </p:sp>
      <p:sp>
        <p:nvSpPr>
          <p:cNvPr id="30" name="rect-28"/>
          <p:cNvSpPr/>
          <p:nvPr/>
        </p:nvSpPr>
        <p:spPr>
          <a:xfrm>
            <a:off x="2755989" y="3308793"/>
            <a:ext cx="68909" cy="1464375"/>
          </a:xfrm>
          <a:prstGeom prst="rect">
            <a:avLst/>
          </a:prstGeom>
          <a:solidFill>
            <a:srgbClr val="6FA6E6"/>
          </a:solidFill>
          <a:ln/>
        </p:spPr>
      </p:sp>
      <p:sp>
        <p:nvSpPr>
          <p:cNvPr id="31" name="rect-29"/>
          <p:cNvSpPr/>
          <p:nvPr/>
        </p:nvSpPr>
        <p:spPr>
          <a:xfrm>
            <a:off x="2851697" y="3275381"/>
            <a:ext cx="68909" cy="1497787"/>
          </a:xfrm>
          <a:prstGeom prst="rect">
            <a:avLst/>
          </a:prstGeom>
          <a:solidFill>
            <a:srgbClr val="6FA6E6"/>
          </a:solidFill>
          <a:ln/>
        </p:spPr>
      </p:sp>
      <p:sp>
        <p:nvSpPr>
          <p:cNvPr id="32" name="rect-30"/>
          <p:cNvSpPr/>
          <p:nvPr/>
        </p:nvSpPr>
        <p:spPr>
          <a:xfrm>
            <a:off x="2947404" y="3337981"/>
            <a:ext cx="68909" cy="1435187"/>
          </a:xfrm>
          <a:prstGeom prst="rect">
            <a:avLst/>
          </a:prstGeom>
          <a:solidFill>
            <a:srgbClr val="6FA6E6"/>
          </a:solidFill>
          <a:ln/>
        </p:spPr>
      </p:sp>
      <p:sp>
        <p:nvSpPr>
          <p:cNvPr id="33" name="rect-31"/>
          <p:cNvSpPr/>
          <p:nvPr/>
        </p:nvSpPr>
        <p:spPr>
          <a:xfrm>
            <a:off x="3043111" y="3208172"/>
            <a:ext cx="68909" cy="1564996"/>
          </a:xfrm>
          <a:prstGeom prst="rect">
            <a:avLst/>
          </a:prstGeom>
          <a:solidFill>
            <a:srgbClr val="6FA6E6"/>
          </a:solidFill>
          <a:ln/>
        </p:spPr>
      </p:sp>
      <p:sp>
        <p:nvSpPr>
          <p:cNvPr id="34" name="rect-32"/>
          <p:cNvSpPr/>
          <p:nvPr/>
        </p:nvSpPr>
        <p:spPr>
          <a:xfrm>
            <a:off x="3138818" y="3240432"/>
            <a:ext cx="68909" cy="1532736"/>
          </a:xfrm>
          <a:prstGeom prst="rect">
            <a:avLst/>
          </a:prstGeom>
          <a:solidFill>
            <a:srgbClr val="6FA6E6"/>
          </a:solidFill>
          <a:ln/>
        </p:spPr>
      </p:sp>
      <p:sp>
        <p:nvSpPr>
          <p:cNvPr id="35" name="rect-33"/>
          <p:cNvSpPr/>
          <p:nvPr/>
        </p:nvSpPr>
        <p:spPr>
          <a:xfrm>
            <a:off x="3234525" y="3245425"/>
            <a:ext cx="68909" cy="1527743"/>
          </a:xfrm>
          <a:prstGeom prst="rect">
            <a:avLst/>
          </a:prstGeom>
          <a:solidFill>
            <a:srgbClr val="6FA6E6"/>
          </a:solidFill>
          <a:ln/>
        </p:spPr>
      </p:sp>
      <p:sp>
        <p:nvSpPr>
          <p:cNvPr id="36" name="rect-34"/>
          <p:cNvSpPr/>
          <p:nvPr/>
        </p:nvSpPr>
        <p:spPr>
          <a:xfrm>
            <a:off x="3330233" y="3330300"/>
            <a:ext cx="68909" cy="1442868"/>
          </a:xfrm>
          <a:prstGeom prst="rect">
            <a:avLst/>
          </a:prstGeom>
          <a:solidFill>
            <a:srgbClr val="6FA6E6"/>
          </a:solidFill>
          <a:ln/>
        </p:spPr>
      </p:sp>
      <p:sp>
        <p:nvSpPr>
          <p:cNvPr id="37" name="rect-35"/>
          <p:cNvSpPr/>
          <p:nvPr/>
        </p:nvSpPr>
        <p:spPr>
          <a:xfrm>
            <a:off x="3425940" y="3270388"/>
            <a:ext cx="68909" cy="1502780"/>
          </a:xfrm>
          <a:prstGeom prst="rect">
            <a:avLst/>
          </a:prstGeom>
          <a:solidFill>
            <a:srgbClr val="6FA6E6"/>
          </a:solidFill>
          <a:ln/>
        </p:spPr>
      </p:sp>
      <p:sp>
        <p:nvSpPr>
          <p:cNvPr id="38" name="rect-36"/>
          <p:cNvSpPr/>
          <p:nvPr/>
        </p:nvSpPr>
        <p:spPr>
          <a:xfrm>
            <a:off x="3521647" y="3355647"/>
            <a:ext cx="68909" cy="1417521"/>
          </a:xfrm>
          <a:prstGeom prst="rect">
            <a:avLst/>
          </a:prstGeom>
          <a:solidFill>
            <a:srgbClr val="6FA6E6"/>
          </a:solidFill>
          <a:ln/>
        </p:spPr>
      </p:sp>
      <p:sp>
        <p:nvSpPr>
          <p:cNvPr id="39" name="rect-37"/>
          <p:cNvSpPr/>
          <p:nvPr/>
        </p:nvSpPr>
        <p:spPr>
          <a:xfrm>
            <a:off x="3617354" y="3420551"/>
            <a:ext cx="68909" cy="1352617"/>
          </a:xfrm>
          <a:prstGeom prst="rect">
            <a:avLst/>
          </a:prstGeom>
          <a:solidFill>
            <a:srgbClr val="6FA6E6"/>
          </a:solidFill>
          <a:ln/>
        </p:spPr>
      </p:sp>
      <p:sp>
        <p:nvSpPr>
          <p:cNvPr id="40" name="rect-38"/>
          <p:cNvSpPr/>
          <p:nvPr/>
        </p:nvSpPr>
        <p:spPr>
          <a:xfrm>
            <a:off x="3713061" y="3202412"/>
            <a:ext cx="68909" cy="1570756"/>
          </a:xfrm>
          <a:prstGeom prst="rect">
            <a:avLst/>
          </a:prstGeom>
          <a:solidFill>
            <a:srgbClr val="6FA6E6"/>
          </a:solidFill>
          <a:ln/>
        </p:spPr>
      </p:sp>
      <p:sp>
        <p:nvSpPr>
          <p:cNvPr id="41" name="rect-39"/>
          <p:cNvSpPr/>
          <p:nvPr/>
        </p:nvSpPr>
        <p:spPr>
          <a:xfrm>
            <a:off x="3808769" y="3344125"/>
            <a:ext cx="68909" cy="1429043"/>
          </a:xfrm>
          <a:prstGeom prst="rect">
            <a:avLst/>
          </a:prstGeom>
          <a:solidFill>
            <a:srgbClr val="6FA6E6"/>
          </a:solidFill>
          <a:ln/>
        </p:spPr>
      </p:sp>
      <p:sp>
        <p:nvSpPr>
          <p:cNvPr id="42" name="rect-40"/>
          <p:cNvSpPr/>
          <p:nvPr/>
        </p:nvSpPr>
        <p:spPr>
          <a:xfrm>
            <a:off x="3904476" y="3244273"/>
            <a:ext cx="68909" cy="1528895"/>
          </a:xfrm>
          <a:prstGeom prst="rect">
            <a:avLst/>
          </a:prstGeom>
          <a:solidFill>
            <a:srgbClr val="6FA6E6"/>
          </a:solidFill>
          <a:ln/>
        </p:spPr>
      </p:sp>
      <p:sp>
        <p:nvSpPr>
          <p:cNvPr id="43" name="rect-41"/>
          <p:cNvSpPr/>
          <p:nvPr/>
        </p:nvSpPr>
        <p:spPr>
          <a:xfrm>
            <a:off x="4000183" y="4465546"/>
            <a:ext cx="68909" cy="307622"/>
          </a:xfrm>
          <a:prstGeom prst="rect">
            <a:avLst/>
          </a:prstGeom>
          <a:solidFill>
            <a:srgbClr val="F07A66"/>
          </a:solidFill>
          <a:ln/>
        </p:spPr>
      </p:sp>
      <p:sp>
        <p:nvSpPr>
          <p:cNvPr id="44" name="rect-42"/>
          <p:cNvSpPr/>
          <p:nvPr/>
        </p:nvSpPr>
        <p:spPr>
          <a:xfrm>
            <a:off x="4095890" y="3236592"/>
            <a:ext cx="68909" cy="1536576"/>
          </a:xfrm>
          <a:prstGeom prst="rect">
            <a:avLst/>
          </a:prstGeom>
          <a:solidFill>
            <a:srgbClr val="6FA6E6"/>
          </a:solidFill>
          <a:ln/>
        </p:spPr>
      </p:sp>
      <p:sp>
        <p:nvSpPr>
          <p:cNvPr id="45" name="rect-43"/>
          <p:cNvSpPr/>
          <p:nvPr/>
        </p:nvSpPr>
        <p:spPr>
          <a:xfrm>
            <a:off x="4191597" y="3246961"/>
            <a:ext cx="68909" cy="1526207"/>
          </a:xfrm>
          <a:prstGeom prst="rect">
            <a:avLst/>
          </a:prstGeom>
          <a:solidFill>
            <a:srgbClr val="6FA6E6"/>
          </a:solidFill>
          <a:ln/>
        </p:spPr>
      </p:sp>
      <p:sp>
        <p:nvSpPr>
          <p:cNvPr id="46" name="rect-44"/>
          <p:cNvSpPr/>
          <p:nvPr/>
        </p:nvSpPr>
        <p:spPr>
          <a:xfrm>
            <a:off x="4287305" y="3353343"/>
            <a:ext cx="68909" cy="1419825"/>
          </a:xfrm>
          <a:prstGeom prst="rect">
            <a:avLst/>
          </a:prstGeom>
          <a:solidFill>
            <a:srgbClr val="6FA6E6"/>
          </a:solidFill>
          <a:ln/>
        </p:spPr>
      </p:sp>
      <p:sp>
        <p:nvSpPr>
          <p:cNvPr id="47" name="rect-45"/>
          <p:cNvSpPr/>
          <p:nvPr/>
        </p:nvSpPr>
        <p:spPr>
          <a:xfrm>
            <a:off x="4383012" y="3307641"/>
            <a:ext cx="68909" cy="1465527"/>
          </a:xfrm>
          <a:prstGeom prst="rect">
            <a:avLst/>
          </a:prstGeom>
          <a:solidFill>
            <a:srgbClr val="6FA6E6"/>
          </a:solidFill>
          <a:ln/>
        </p:spPr>
      </p:sp>
      <p:sp>
        <p:nvSpPr>
          <p:cNvPr id="48" name="rect-46"/>
          <p:cNvSpPr/>
          <p:nvPr/>
        </p:nvSpPr>
        <p:spPr>
          <a:xfrm>
            <a:off x="4478719" y="3389827"/>
            <a:ext cx="68909" cy="1383341"/>
          </a:xfrm>
          <a:prstGeom prst="rect">
            <a:avLst/>
          </a:prstGeom>
          <a:solidFill>
            <a:srgbClr val="6FA6E6"/>
          </a:solidFill>
          <a:ln/>
        </p:spPr>
      </p:sp>
      <p:sp>
        <p:nvSpPr>
          <p:cNvPr id="49" name="rect-47"/>
          <p:cNvSpPr/>
          <p:nvPr/>
        </p:nvSpPr>
        <p:spPr>
          <a:xfrm>
            <a:off x="4574426" y="3292279"/>
            <a:ext cx="68909" cy="1480889"/>
          </a:xfrm>
          <a:prstGeom prst="rect">
            <a:avLst/>
          </a:prstGeom>
          <a:solidFill>
            <a:srgbClr val="6FA6E6"/>
          </a:solidFill>
          <a:ln/>
        </p:spPr>
      </p:sp>
      <p:sp>
        <p:nvSpPr>
          <p:cNvPr id="50" name="rect-48"/>
          <p:cNvSpPr/>
          <p:nvPr/>
        </p:nvSpPr>
        <p:spPr>
          <a:xfrm>
            <a:off x="4670133" y="3265780"/>
            <a:ext cx="68909" cy="1507388"/>
          </a:xfrm>
          <a:prstGeom prst="rect">
            <a:avLst/>
          </a:prstGeom>
          <a:solidFill>
            <a:srgbClr val="6FA6E6"/>
          </a:solidFill>
          <a:ln/>
        </p:spPr>
      </p:sp>
      <p:sp>
        <p:nvSpPr>
          <p:cNvPr id="51" name="rect-49"/>
          <p:cNvSpPr/>
          <p:nvPr/>
        </p:nvSpPr>
        <p:spPr>
          <a:xfrm>
            <a:off x="4765841" y="3998159"/>
            <a:ext cx="68909" cy="775009"/>
          </a:xfrm>
          <a:prstGeom prst="rect">
            <a:avLst/>
          </a:prstGeom>
          <a:solidFill>
            <a:srgbClr val="F07A66"/>
          </a:solidFill>
          <a:ln/>
        </p:spPr>
      </p:sp>
      <p:sp>
        <p:nvSpPr>
          <p:cNvPr id="52" name="rect-50"/>
          <p:cNvSpPr/>
          <p:nvPr/>
        </p:nvSpPr>
        <p:spPr>
          <a:xfrm>
            <a:off x="4861548" y="4677540"/>
            <a:ext cx="68909" cy="95628"/>
          </a:xfrm>
          <a:prstGeom prst="rect">
            <a:avLst/>
          </a:prstGeom>
          <a:solidFill>
            <a:srgbClr val="F07A66"/>
          </a:solidFill>
          <a:ln/>
        </p:spPr>
      </p:sp>
      <p:sp>
        <p:nvSpPr>
          <p:cNvPr id="53" name="rect-51"/>
          <p:cNvSpPr/>
          <p:nvPr/>
        </p:nvSpPr>
        <p:spPr>
          <a:xfrm>
            <a:off x="4957255" y="3430152"/>
            <a:ext cx="68909" cy="1343016"/>
          </a:xfrm>
          <a:prstGeom prst="rect">
            <a:avLst/>
          </a:prstGeom>
          <a:solidFill>
            <a:srgbClr val="6FA6E6"/>
          </a:solidFill>
          <a:ln/>
        </p:spPr>
      </p:sp>
      <p:sp>
        <p:nvSpPr>
          <p:cNvPr id="54" name="rect-52"/>
          <p:cNvSpPr/>
          <p:nvPr/>
        </p:nvSpPr>
        <p:spPr>
          <a:xfrm>
            <a:off x="5052962" y="3294583"/>
            <a:ext cx="68909" cy="1478585"/>
          </a:xfrm>
          <a:prstGeom prst="rect">
            <a:avLst/>
          </a:prstGeom>
          <a:solidFill>
            <a:srgbClr val="6FA6E6"/>
          </a:solidFill>
          <a:ln/>
        </p:spPr>
      </p:sp>
      <p:sp>
        <p:nvSpPr>
          <p:cNvPr id="55" name="rect-53"/>
          <p:cNvSpPr/>
          <p:nvPr/>
        </p:nvSpPr>
        <p:spPr>
          <a:xfrm>
            <a:off x="5148669" y="3293815"/>
            <a:ext cx="68909" cy="1479353"/>
          </a:xfrm>
          <a:prstGeom prst="rect">
            <a:avLst/>
          </a:prstGeom>
          <a:solidFill>
            <a:srgbClr val="6FA6E6"/>
          </a:solidFill>
          <a:ln/>
        </p:spPr>
      </p:sp>
      <p:sp>
        <p:nvSpPr>
          <p:cNvPr id="56" name="rect-54"/>
          <p:cNvSpPr/>
          <p:nvPr/>
        </p:nvSpPr>
        <p:spPr>
          <a:xfrm>
            <a:off x="5244377" y="3556888"/>
            <a:ext cx="68909" cy="1216280"/>
          </a:xfrm>
          <a:prstGeom prst="rect">
            <a:avLst/>
          </a:prstGeom>
          <a:solidFill>
            <a:srgbClr val="F07A66"/>
          </a:solidFill>
          <a:ln/>
        </p:spPr>
      </p:sp>
      <p:sp>
        <p:nvSpPr>
          <p:cNvPr id="57" name="rect-55"/>
          <p:cNvSpPr/>
          <p:nvPr/>
        </p:nvSpPr>
        <p:spPr>
          <a:xfrm>
            <a:off x="5340084" y="3359871"/>
            <a:ext cx="68909" cy="1413297"/>
          </a:xfrm>
          <a:prstGeom prst="rect">
            <a:avLst/>
          </a:prstGeom>
          <a:solidFill>
            <a:srgbClr val="6FA6E6"/>
          </a:solidFill>
          <a:ln/>
        </p:spPr>
      </p:sp>
      <p:sp>
        <p:nvSpPr>
          <p:cNvPr id="58" name="rect-56"/>
          <p:cNvSpPr/>
          <p:nvPr/>
        </p:nvSpPr>
        <p:spPr>
          <a:xfrm>
            <a:off x="5435791" y="3269620"/>
            <a:ext cx="68909" cy="1503548"/>
          </a:xfrm>
          <a:prstGeom prst="rect">
            <a:avLst/>
          </a:prstGeom>
          <a:solidFill>
            <a:srgbClr val="6FA6E6"/>
          </a:solidFill>
          <a:ln/>
        </p:spPr>
      </p:sp>
      <p:sp>
        <p:nvSpPr>
          <p:cNvPr id="59" name="rect-57"/>
          <p:cNvSpPr/>
          <p:nvPr/>
        </p:nvSpPr>
        <p:spPr>
          <a:xfrm>
            <a:off x="5531498" y="3265012"/>
            <a:ext cx="68909" cy="1508156"/>
          </a:xfrm>
          <a:prstGeom prst="rect">
            <a:avLst/>
          </a:prstGeom>
          <a:solidFill>
            <a:srgbClr val="6FA6E6"/>
          </a:solidFill>
          <a:ln/>
        </p:spPr>
      </p:sp>
      <p:sp>
        <p:nvSpPr>
          <p:cNvPr id="60" name="rect-58"/>
          <p:cNvSpPr/>
          <p:nvPr/>
        </p:nvSpPr>
        <p:spPr>
          <a:xfrm>
            <a:off x="5627205" y="3249266"/>
            <a:ext cx="68909" cy="1523902"/>
          </a:xfrm>
          <a:prstGeom prst="rect">
            <a:avLst/>
          </a:prstGeom>
          <a:solidFill>
            <a:srgbClr val="6FA6E6"/>
          </a:solidFill>
          <a:ln/>
        </p:spPr>
      </p:sp>
      <p:sp>
        <p:nvSpPr>
          <p:cNvPr id="61" name="rect-59"/>
          <p:cNvSpPr/>
          <p:nvPr/>
        </p:nvSpPr>
        <p:spPr>
          <a:xfrm>
            <a:off x="5722913" y="3297656"/>
            <a:ext cx="68909" cy="1475512"/>
          </a:xfrm>
          <a:prstGeom prst="rect">
            <a:avLst/>
          </a:prstGeom>
          <a:solidFill>
            <a:srgbClr val="6FA6E6"/>
          </a:solidFill>
          <a:ln/>
        </p:spPr>
      </p:sp>
      <p:sp>
        <p:nvSpPr>
          <p:cNvPr id="62" name="rect-60"/>
          <p:cNvSpPr/>
          <p:nvPr/>
        </p:nvSpPr>
        <p:spPr>
          <a:xfrm>
            <a:off x="5818620" y="3420935"/>
            <a:ext cx="68909" cy="1352233"/>
          </a:xfrm>
          <a:prstGeom prst="rect">
            <a:avLst/>
          </a:prstGeom>
          <a:solidFill>
            <a:srgbClr val="6FA6E6"/>
          </a:solidFill>
          <a:ln/>
        </p:spPr>
      </p:sp>
      <p:sp>
        <p:nvSpPr>
          <p:cNvPr id="63" name="rect-61"/>
          <p:cNvSpPr/>
          <p:nvPr/>
        </p:nvSpPr>
        <p:spPr>
          <a:xfrm>
            <a:off x="5914327" y="3557656"/>
            <a:ext cx="68909" cy="1215512"/>
          </a:xfrm>
          <a:prstGeom prst="rect">
            <a:avLst/>
          </a:prstGeom>
          <a:solidFill>
            <a:srgbClr val="6FA6E6"/>
          </a:solidFill>
          <a:ln/>
        </p:spPr>
      </p:sp>
      <p:sp>
        <p:nvSpPr>
          <p:cNvPr id="64" name="rect-62"/>
          <p:cNvSpPr/>
          <p:nvPr/>
        </p:nvSpPr>
        <p:spPr>
          <a:xfrm>
            <a:off x="6010034" y="3466253"/>
            <a:ext cx="68909" cy="1306915"/>
          </a:xfrm>
          <a:prstGeom prst="rect">
            <a:avLst/>
          </a:prstGeom>
          <a:solidFill>
            <a:srgbClr val="F07A66"/>
          </a:solidFill>
          <a:ln/>
        </p:spPr>
      </p:sp>
      <p:sp>
        <p:nvSpPr>
          <p:cNvPr id="65" name="rect-63"/>
          <p:cNvSpPr/>
          <p:nvPr/>
        </p:nvSpPr>
        <p:spPr>
          <a:xfrm>
            <a:off x="6105741" y="3395204"/>
            <a:ext cx="68909" cy="1377964"/>
          </a:xfrm>
          <a:prstGeom prst="rect">
            <a:avLst/>
          </a:prstGeom>
          <a:solidFill>
            <a:srgbClr val="F07A66"/>
          </a:solidFill>
          <a:ln/>
        </p:spPr>
      </p:sp>
      <p:sp>
        <p:nvSpPr>
          <p:cNvPr id="66" name="rect-64"/>
          <p:cNvSpPr/>
          <p:nvPr/>
        </p:nvSpPr>
        <p:spPr>
          <a:xfrm>
            <a:off x="6201449" y="3354495"/>
            <a:ext cx="68909" cy="1418673"/>
          </a:xfrm>
          <a:prstGeom prst="rect">
            <a:avLst/>
          </a:prstGeom>
          <a:solidFill>
            <a:srgbClr val="F07A66"/>
          </a:solidFill>
          <a:ln/>
        </p:spPr>
      </p:sp>
      <p:sp>
        <p:nvSpPr>
          <p:cNvPr id="67" name="rect-65"/>
          <p:cNvSpPr/>
          <p:nvPr/>
        </p:nvSpPr>
        <p:spPr>
          <a:xfrm>
            <a:off x="6297156" y="3449355"/>
            <a:ext cx="68909" cy="1323813"/>
          </a:xfrm>
          <a:prstGeom prst="rect">
            <a:avLst/>
          </a:prstGeom>
          <a:solidFill>
            <a:srgbClr val="F07A66"/>
          </a:solidFill>
          <a:ln/>
        </p:spPr>
      </p:sp>
      <p:sp>
        <p:nvSpPr>
          <p:cNvPr id="68" name="rect-66"/>
          <p:cNvSpPr/>
          <p:nvPr/>
        </p:nvSpPr>
        <p:spPr>
          <a:xfrm>
            <a:off x="6392863" y="3392899"/>
            <a:ext cx="68909" cy="1380269"/>
          </a:xfrm>
          <a:prstGeom prst="rect">
            <a:avLst/>
          </a:prstGeom>
          <a:solidFill>
            <a:srgbClr val="F07A66"/>
          </a:solidFill>
          <a:ln/>
        </p:spPr>
      </p:sp>
      <p:sp>
        <p:nvSpPr>
          <p:cNvPr id="69" name="rect-67"/>
          <p:cNvSpPr/>
          <p:nvPr/>
        </p:nvSpPr>
        <p:spPr>
          <a:xfrm>
            <a:off x="6488570" y="3463180"/>
            <a:ext cx="68909" cy="1309988"/>
          </a:xfrm>
          <a:prstGeom prst="rect">
            <a:avLst/>
          </a:prstGeom>
          <a:solidFill>
            <a:srgbClr val="F07A66"/>
          </a:solidFill>
          <a:ln/>
        </p:spPr>
      </p:sp>
      <p:sp>
        <p:nvSpPr>
          <p:cNvPr id="70" name="rect-68"/>
          <p:cNvSpPr/>
          <p:nvPr/>
        </p:nvSpPr>
        <p:spPr>
          <a:xfrm>
            <a:off x="6584277" y="3347198"/>
            <a:ext cx="68909" cy="1425970"/>
          </a:xfrm>
          <a:prstGeom prst="rect">
            <a:avLst/>
          </a:prstGeom>
          <a:solidFill>
            <a:srgbClr val="6FA6E6"/>
          </a:solidFill>
          <a:ln/>
        </p:spPr>
      </p:sp>
      <p:sp>
        <p:nvSpPr>
          <p:cNvPr id="71" name="rect-69"/>
          <p:cNvSpPr/>
          <p:nvPr/>
        </p:nvSpPr>
        <p:spPr>
          <a:xfrm>
            <a:off x="6679985" y="3587996"/>
            <a:ext cx="68909" cy="1185172"/>
          </a:xfrm>
          <a:prstGeom prst="rect">
            <a:avLst/>
          </a:prstGeom>
          <a:solidFill>
            <a:srgbClr val="6FA6E6"/>
          </a:solidFill>
          <a:ln/>
        </p:spPr>
      </p:sp>
      <p:sp>
        <p:nvSpPr>
          <p:cNvPr id="72" name="rect-70"/>
          <p:cNvSpPr/>
          <p:nvPr/>
        </p:nvSpPr>
        <p:spPr>
          <a:xfrm>
            <a:off x="6775692" y="3359871"/>
            <a:ext cx="68909" cy="1413297"/>
          </a:xfrm>
          <a:prstGeom prst="rect">
            <a:avLst/>
          </a:prstGeom>
          <a:solidFill>
            <a:srgbClr val="6FA6E6"/>
          </a:solidFill>
          <a:ln/>
        </p:spPr>
      </p:sp>
      <p:sp>
        <p:nvSpPr>
          <p:cNvPr id="73" name="line-71"/>
          <p:cNvSpPr/>
          <p:nvPr/>
        </p:nvSpPr>
        <p:spPr>
          <a:xfrm>
            <a:off x="1115568" y="3287286"/>
            <a:ext cx="2871216" cy="0"/>
          </a:xfrm>
          <a:prstGeom prst="line">
            <a:avLst/>
          </a:prstGeom>
          <a:noFill/>
          <a:ln w="12700">
            <a:solidFill>
              <a:srgbClr val="A1ABB4"/>
            </a:solidFill>
            <a:prstDash val="dash"/>
          </a:ln>
        </p:spPr>
      </p:sp>
      <p:sp>
        <p:nvSpPr>
          <p:cNvPr id="74" name="line-72"/>
          <p:cNvSpPr/>
          <p:nvPr/>
        </p:nvSpPr>
        <p:spPr>
          <a:xfrm>
            <a:off x="3986784" y="3494672"/>
            <a:ext cx="2871216" cy="0"/>
          </a:xfrm>
          <a:prstGeom prst="line">
            <a:avLst/>
          </a:prstGeom>
          <a:noFill/>
          <a:ln w="12700">
            <a:solidFill>
              <a:srgbClr val="A1ABB4"/>
            </a:solidFill>
            <a:prstDash val="dash"/>
          </a:ln>
        </p:spPr>
      </p:sp>
      <p:sp>
        <p:nvSpPr>
          <p:cNvPr id="75" name="text-73"/>
          <p:cNvSpPr txBox="1"/>
          <p:nvPr/>
        </p:nvSpPr>
        <p:spPr>
          <a:xfrm>
            <a:off x="6931152" y="3140982"/>
            <a:ext cx="91440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Prior 88.7%</a:t>
            </a:r>
            <a:endParaRPr lang="en-US" sz="900" dirty="0"/>
          </a:p>
        </p:txBody>
      </p:sp>
      <p:sp>
        <p:nvSpPr>
          <p:cNvPr id="76" name="text-74"/>
          <p:cNvSpPr txBox="1"/>
          <p:nvPr/>
        </p:nvSpPr>
        <p:spPr>
          <a:xfrm>
            <a:off x="6931152" y="3476384"/>
            <a:ext cx="91440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Recent 83.3%</a:t>
            </a:r>
            <a:endParaRPr lang="en-US" sz="900" dirty="0"/>
          </a:p>
        </p:txBody>
      </p:sp>
      <p:sp>
        <p:nvSpPr>
          <p:cNvPr id="77" name="text-75"/>
          <p:cNvSpPr txBox="1"/>
          <p:nvPr/>
        </p:nvSpPr>
        <p:spPr>
          <a:xfrm>
            <a:off x="1115568" y="4846320"/>
            <a:ext cx="91440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Jul 25</a:t>
            </a:r>
            <a:endParaRPr lang="en-US" sz="900" dirty="0"/>
          </a:p>
        </p:txBody>
      </p:sp>
      <p:sp>
        <p:nvSpPr>
          <p:cNvPr id="78" name="text-76"/>
          <p:cNvSpPr txBox="1"/>
          <p:nvPr/>
        </p:nvSpPr>
        <p:spPr>
          <a:xfrm>
            <a:off x="3529584" y="4846320"/>
            <a:ext cx="914400" cy="182880"/>
          </a:xfrm>
          <a:prstGeom prst="rect">
            <a:avLst/>
          </a:prstGeom>
          <a:noFill/>
          <a:ln/>
        </p:spPr>
        <p:txBody>
          <a:bodyPr wrap="square" lIns="0" tIns="0" rIns="0" bIns="0" rtlCol="0" anchor="t"/>
          <a:lstStyle/>
          <a:p>
            <a:pPr algn="ctr" indent="0" marL="0">
              <a:buNone/>
            </a:pPr>
            <a:r>
              <a:rPr lang="en-US" sz="900" dirty="0">
                <a:solidFill>
                  <a:srgbClr val="A1ABB4"/>
                </a:solidFill>
                <a:latin typeface="Arial" pitchFamily="34" charset="0"/>
                <a:ea typeface="Arial" pitchFamily="34" charset="-122"/>
                <a:cs typeface="Arial" pitchFamily="34" charset="-120"/>
              </a:rPr>
              <a:t>Aug 24</a:t>
            </a:r>
            <a:endParaRPr lang="en-US" sz="900" dirty="0"/>
          </a:p>
        </p:txBody>
      </p:sp>
      <p:sp>
        <p:nvSpPr>
          <p:cNvPr id="79" name="text-77"/>
          <p:cNvSpPr txBox="1"/>
          <p:nvPr/>
        </p:nvSpPr>
        <p:spPr>
          <a:xfrm>
            <a:off x="5943600" y="4846320"/>
            <a:ext cx="914400"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Sep 22</a:t>
            </a:r>
            <a:endParaRPr lang="en-US" sz="900" dirty="0"/>
          </a:p>
        </p:txBody>
      </p:sp>
      <p:sp>
        <p:nvSpPr>
          <p:cNvPr id="80" name="rect-78"/>
          <p:cNvSpPr/>
          <p:nvPr/>
        </p:nvSpPr>
        <p:spPr>
          <a:xfrm>
            <a:off x="1115568" y="5029200"/>
            <a:ext cx="109728" cy="73152"/>
          </a:xfrm>
          <a:prstGeom prst="rect">
            <a:avLst/>
          </a:prstGeom>
          <a:solidFill>
            <a:srgbClr val="6FA6E6"/>
          </a:solidFill>
          <a:ln/>
        </p:spPr>
      </p:sp>
      <p:sp>
        <p:nvSpPr>
          <p:cNvPr id="81" name="text-79"/>
          <p:cNvSpPr txBox="1"/>
          <p:nvPr/>
        </p:nvSpPr>
        <p:spPr>
          <a:xfrm>
            <a:off x="1280160" y="4983480"/>
            <a:ext cx="128016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Daily pass rate</a:t>
            </a:r>
            <a:endParaRPr lang="en-US" sz="900" dirty="0"/>
          </a:p>
        </p:txBody>
      </p:sp>
      <p:sp>
        <p:nvSpPr>
          <p:cNvPr id="82" name="rect-80"/>
          <p:cNvSpPr/>
          <p:nvPr/>
        </p:nvSpPr>
        <p:spPr>
          <a:xfrm>
            <a:off x="2532888" y="5010912"/>
            <a:ext cx="109728" cy="109728"/>
          </a:xfrm>
          <a:prstGeom prst="rect">
            <a:avLst/>
          </a:prstGeom>
          <a:solidFill>
            <a:srgbClr val="F07A66"/>
          </a:solidFill>
          <a:ln/>
        </p:spPr>
      </p:sp>
      <p:sp>
        <p:nvSpPr>
          <p:cNvPr id="83" name="text-81"/>
          <p:cNvSpPr txBox="1"/>
          <p:nvPr/>
        </p:nvSpPr>
        <p:spPr>
          <a:xfrm>
            <a:off x="2697480" y="4983480"/>
            <a:ext cx="164592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Incident window day</a:t>
            </a:r>
            <a:endParaRPr lang="en-US" sz="900" dirty="0"/>
          </a:p>
        </p:txBody>
      </p:sp>
      <p:sp>
        <p:nvSpPr>
          <p:cNvPr id="84" name="rect-82"/>
          <p:cNvSpPr/>
          <p:nvPr/>
        </p:nvSpPr>
        <p:spPr>
          <a:xfrm>
            <a:off x="8074152" y="2286000"/>
            <a:ext cx="3568903" cy="2926080"/>
          </a:xfrm>
          <a:prstGeom prst="roundRect">
            <a:avLst>
              <a:gd name="adj" fmla="val 2500"/>
            </a:avLst>
          </a:prstGeom>
          <a:solidFill>
            <a:srgbClr val="181C20"/>
          </a:solidFill>
          <a:ln w="9525">
            <a:solidFill>
              <a:srgbClr val="2A3036"/>
            </a:solidFill>
            <a:prstDash val="solid"/>
          </a:ln>
        </p:spPr>
      </p:sp>
      <p:sp>
        <p:nvSpPr>
          <p:cNvPr id="85" name="text-83"/>
          <p:cNvSpPr txBox="1"/>
          <p:nvPr/>
        </p:nvSpPr>
        <p:spPr>
          <a:xfrm>
            <a:off x="8275320" y="2432304"/>
            <a:ext cx="3203143" cy="274320"/>
          </a:xfrm>
          <a:prstGeom prst="rect">
            <a:avLst/>
          </a:prstGeom>
          <a:noFill/>
          <a:ln/>
        </p:spPr>
        <p:txBody>
          <a:bodyPr wrap="square" lIns="0" tIns="0" rIns="0" bIns="0" rtlCol="0" anchor="t"/>
          <a:lstStyle/>
          <a:p>
            <a:pPr algn="l" indent="0" marL="0">
              <a:buNone/>
            </a:pPr>
            <a:r>
              <a:rPr lang="en-US" sz="1200" b="1" dirty="0">
                <a:solidFill>
                  <a:srgbClr val="E5E9EC"/>
                </a:solidFill>
                <a:latin typeface="Arial" pitchFamily="34" charset="0"/>
                <a:ea typeface="Arial" pitchFamily="34" charset="-122"/>
                <a:cs typeface="Arial" pitchFamily="34" charset="-120"/>
              </a:rPr>
              <a:t>In this deck</a:t>
            </a:r>
            <a:endParaRPr lang="en-US" sz="1200" dirty="0"/>
          </a:p>
        </p:txBody>
      </p:sp>
      <p:sp>
        <p:nvSpPr>
          <p:cNvPr id="86" name="text-84"/>
          <p:cNvSpPr txBox="1"/>
          <p:nvPr/>
        </p:nvSpPr>
        <p:spPr>
          <a:xfrm>
            <a:off x="8275320" y="2761488"/>
            <a:ext cx="3203143" cy="1737360"/>
          </a:xfrm>
          <a:prstGeom prst="rect">
            <a:avLst/>
          </a:prstGeom>
          <a:noFill/>
          <a:ln/>
        </p:spPr>
        <p:txBody>
          <a:bodyPr wrap="square" lIns="0" tIns="0" rIns="0" bIns="0" rtlCol="0" anchor="t"/>
          <a:lstStyle/>
          <a:p>
            <a:pPr algn="l" indent="0" marL="0">
              <a:spcAft>
                <a:spcPts val="300"/>
              </a:spcAft>
              <a:buNone/>
            </a:pPr>
            <a:r>
              <a:rPr lang="en-US" sz="1100" dirty="0">
                <a:solidFill>
                  <a:srgbClr val="E5E9EC"/>
                </a:solidFill>
                <a:latin typeface="Arial" pitchFamily="34" charset="0"/>
                <a:ea typeface="Arial" pitchFamily="34" charset="-122"/>
                <a:cs typeface="Arial" pitchFamily="34" charset="-120"/>
              </a:rPr>
              <a:t>1.  The answer in seven points</a:t>
            </a:r>
            <a:endParaRPr lang="en-US" sz="1100" dirty="0"/>
          </a:p>
          <a:p>
            <a:pPr algn="l" indent="0" marL="0">
              <a:spcAft>
                <a:spcPts val="300"/>
              </a:spcAft>
              <a:buNone/>
            </a:pPr>
            <a:r>
              <a:rPr lang="en-US" sz="1100" dirty="0">
                <a:solidFill>
                  <a:srgbClr val="E5E9EC"/>
                </a:solidFill>
                <a:latin typeface="Arial" pitchFamily="34" charset="0"/>
                <a:ea typeface="Arial" pitchFamily="34" charset="-122"/>
                <a:cs typeface="Arial" pitchFamily="34" charset="-120"/>
              </a:rPr>
              <a:t>2.  What we can measure, and what we assume</a:t>
            </a:r>
            <a:endParaRPr lang="en-US" sz="1100" dirty="0"/>
          </a:p>
          <a:p>
            <a:pPr algn="l" indent="0" marL="0">
              <a:spcAft>
                <a:spcPts val="300"/>
              </a:spcAft>
              <a:buNone/>
            </a:pPr>
            <a:r>
              <a:rPr lang="en-US" sz="1100" dirty="0">
                <a:solidFill>
                  <a:srgbClr val="E5E9EC"/>
                </a:solidFill>
                <a:latin typeface="Arial" pitchFamily="34" charset="0"/>
                <a:ea typeface="Arial" pitchFamily="34" charset="-122"/>
                <a:cs typeface="Arial" pitchFamily="34" charset="-120"/>
              </a:rPr>
              <a:t>3.  Why the rate fell</a:t>
            </a:r>
            <a:endParaRPr lang="en-US" sz="1100" dirty="0"/>
          </a:p>
          <a:p>
            <a:pPr algn="l" indent="0" marL="0">
              <a:spcAft>
                <a:spcPts val="300"/>
              </a:spcAft>
              <a:buNone/>
            </a:pPr>
            <a:r>
              <a:rPr lang="en-US" sz="1100" dirty="0">
                <a:solidFill>
                  <a:srgbClr val="E5E9EC"/>
                </a:solidFill>
                <a:latin typeface="Arial" pitchFamily="34" charset="0"/>
                <a:ea typeface="Arial" pitchFamily="34" charset="-122"/>
                <a:cs typeface="Arial" pitchFamily="34" charset="-120"/>
              </a:rPr>
              <a:t>4.  Short incidents</a:t>
            </a:r>
            <a:endParaRPr lang="en-US" sz="1100" dirty="0"/>
          </a:p>
          <a:p>
            <a:pPr algn="l" indent="0" marL="0">
              <a:spcAft>
                <a:spcPts val="300"/>
              </a:spcAft>
              <a:buNone/>
            </a:pPr>
            <a:r>
              <a:rPr lang="en-US" sz="1100" dirty="0">
                <a:solidFill>
                  <a:srgbClr val="E5E9EC"/>
                </a:solidFill>
                <a:latin typeface="Arial" pitchFamily="34" charset="0"/>
                <a:ea typeface="Arial" pitchFamily="34" charset="-122"/>
                <a:cs typeface="Arial" pitchFamily="34" charset="-120"/>
              </a:rPr>
              <a:t>5.  Hypotheses and tests</a:t>
            </a:r>
            <a:endParaRPr lang="en-US" sz="1100" dirty="0"/>
          </a:p>
          <a:p>
            <a:pPr algn="l" indent="0" marL="0">
              <a:spcAft>
                <a:spcPts val="300"/>
              </a:spcAft>
              <a:buNone/>
            </a:pPr>
            <a:r>
              <a:rPr lang="en-US" sz="1100" dirty="0">
                <a:solidFill>
                  <a:srgbClr val="E5E9EC"/>
                </a:solidFill>
                <a:latin typeface="Arial" pitchFamily="34" charset="0"/>
                <a:ea typeface="Arial" pitchFamily="34" charset="-122"/>
                <a:cs typeface="Arial" pitchFamily="34" charset="-120"/>
              </a:rPr>
              <a:t>6.  The plan in four tracks</a:t>
            </a:r>
            <a:endParaRPr lang="en-US" sz="1100" dirty="0"/>
          </a:p>
          <a:p>
            <a:pPr algn="l" indent="0" marL="0">
              <a:spcAft>
                <a:spcPts val="300"/>
              </a:spcAft>
              <a:buNone/>
            </a:pPr>
            <a:r>
              <a:rPr lang="en-US" sz="1100" dirty="0">
                <a:solidFill>
                  <a:srgbClr val="E5E9EC"/>
                </a:solidFill>
                <a:latin typeface="Arial" pitchFamily="34" charset="0"/>
                <a:ea typeface="Arial" pitchFamily="34" charset="-122"/>
                <a:cs typeface="Arial" pitchFamily="34" charset="-120"/>
              </a:rPr>
              <a:t>7.  What we gain</a:t>
            </a:r>
            <a:endParaRPr lang="en-US" sz="1100" dirty="0"/>
          </a:p>
          <a:p>
            <a:pPr algn="l" indent="0" marL="0">
              <a:spcAft>
                <a:spcPts val="300"/>
              </a:spcAft>
              <a:buNone/>
            </a:pPr>
            <a:r>
              <a:rPr lang="en-US" sz="1100" dirty="0">
                <a:solidFill>
                  <a:srgbClr val="E5E9EC"/>
                </a:solidFill>
                <a:latin typeface="Arial" pitchFamily="34" charset="0"/>
                <a:ea typeface="Arial" pitchFamily="34" charset="-122"/>
                <a:cs typeface="Arial" pitchFamily="34" charset="-120"/>
              </a:rPr>
              <a:t>8.  Evidence appendix (A1–A11)</a:t>
            </a:r>
            <a:endParaRPr lang="en-US" sz="1100" dirty="0"/>
          </a:p>
        </p:txBody>
      </p:sp>
      <p:sp>
        <p:nvSpPr>
          <p:cNvPr id="87" name="line-85"/>
          <p:cNvSpPr/>
          <p:nvPr/>
        </p:nvSpPr>
        <p:spPr>
          <a:xfrm>
            <a:off x="8275320" y="4517136"/>
            <a:ext cx="3166567" cy="0"/>
          </a:xfrm>
          <a:prstGeom prst="line">
            <a:avLst/>
          </a:prstGeom>
          <a:noFill/>
          <a:ln w="9525">
            <a:solidFill>
              <a:srgbClr val="2A3036"/>
            </a:solidFill>
            <a:prstDash val="solid"/>
          </a:ln>
        </p:spPr>
      </p:sp>
      <p:sp>
        <p:nvSpPr>
          <p:cNvPr id="88" name="text-86"/>
          <p:cNvSpPr txBox="1"/>
          <p:nvPr/>
        </p:nvSpPr>
        <p:spPr>
          <a:xfrm>
            <a:off x="8275320" y="4590288"/>
            <a:ext cx="3203143" cy="566928"/>
          </a:xfrm>
          <a:prstGeom prst="rect">
            <a:avLst/>
          </a:prstGeom>
          <a:noFill/>
          <a:ln/>
        </p:spPr>
        <p:txBody>
          <a:bodyPr wrap="square" lIns="0" tIns="0" rIns="0" bIns="0" rtlCol="0" anchor="t"/>
          <a:lstStyle/>
          <a:p>
            <a:pPr algn="l" indent="0" marL="0">
              <a:spcAft>
                <a:spcPts val="300"/>
              </a:spcAft>
              <a:buNone/>
            </a:pPr>
            <a:r>
              <a:rPr lang="en-US" sz="1050" u="sng" dirty="0">
                <a:solidFill>
                  <a:srgbClr val="6FA6E6"/>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Website: prosolkin.github.io/arq-kyc</a:t>
            </a:r>
            <a:endParaRPr lang="en-US" sz="1050" dirty="0"/>
          </a:p>
          <a:p>
            <a:pPr algn="l" indent="0" marL="0">
              <a:spcAft>
                <a:spcPts val="300"/>
              </a:spcAft>
              <a:buNone/>
            </a:pPr>
            <a:r>
              <a:rPr lang="en-US" sz="1050" u="sng" dirty="0">
                <a:solidFill>
                  <a:srgbClr val="6FA6E6"/>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Code and data: github.com/prosolkin/arq-kyc</a:t>
            </a:r>
            <a:endParaRPr lang="en-US" sz="1050" dirty="0"/>
          </a:p>
          <a:p>
            <a:pPr algn="l" indent="0" marL="0">
              <a:buNone/>
            </a:pPr>
            <a:r>
              <a:rPr lang="en-US" sz="900" dirty="0">
                <a:solidFill>
                  <a:srgbClr val="A1ABB4"/>
                </a:solidFill>
                <a:latin typeface="Arial" pitchFamily="34" charset="0"/>
                <a:ea typeface="Arial" pitchFamily="34" charset="-122"/>
                <a:cs typeface="Arial" pitchFamily="34" charset="-120"/>
              </a:rPr>
              <a:t>The website has a chat. Its password is in the email.</a:t>
            </a:r>
            <a:endParaRPr lang="en-US" sz="1050" dirty="0"/>
          </a:p>
        </p:txBody>
      </p:sp>
      <p:sp>
        <p:nvSpPr>
          <p:cNvPr id="89" name="rect-87"/>
          <p:cNvSpPr/>
          <p:nvPr/>
        </p:nvSpPr>
        <p:spPr>
          <a:xfrm>
            <a:off x="548640" y="5376672"/>
            <a:ext cx="3588410" cy="1207008"/>
          </a:xfrm>
          <a:prstGeom prst="roundRect">
            <a:avLst>
              <a:gd name="adj" fmla="val 6061"/>
            </a:avLst>
          </a:prstGeom>
          <a:solidFill>
            <a:srgbClr val="181C20"/>
          </a:solidFill>
          <a:ln w="9525">
            <a:solidFill>
              <a:srgbClr val="2A3036"/>
            </a:solidFill>
            <a:prstDash val="solid"/>
          </a:ln>
        </p:spPr>
      </p:sp>
      <p:sp>
        <p:nvSpPr>
          <p:cNvPr id="90" name="text-88"/>
          <p:cNvSpPr txBox="1"/>
          <p:nvPr/>
        </p:nvSpPr>
        <p:spPr>
          <a:xfrm>
            <a:off x="749808" y="5486400"/>
            <a:ext cx="3222650" cy="219456"/>
          </a:xfrm>
          <a:prstGeom prst="rect">
            <a:avLst/>
          </a:prstGeom>
          <a:noFill/>
          <a:ln/>
        </p:spPr>
        <p:txBody>
          <a:bodyPr wrap="square" lIns="0" tIns="0" rIns="0" bIns="0" rtlCol="0" anchor="t"/>
          <a:lstStyle/>
          <a:p>
            <a:pPr algn="l" indent="0" marL="0">
              <a:buNone/>
            </a:pPr>
            <a:r>
              <a:rPr lang="en-US" sz="1000" dirty="0">
                <a:solidFill>
                  <a:srgbClr val="A1ABB4"/>
                </a:solidFill>
                <a:latin typeface="Arial" pitchFamily="34" charset="0"/>
                <a:ea typeface="Arial" pitchFamily="34" charset="-122"/>
                <a:cs typeface="Arial" pitchFamily="34" charset="-120"/>
              </a:rPr>
              <a:t>Pass rate change</a:t>
            </a:r>
            <a:endParaRPr lang="en-US" sz="1000" dirty="0"/>
          </a:p>
        </p:txBody>
      </p:sp>
      <p:sp>
        <p:nvSpPr>
          <p:cNvPr id="91" name="text-89"/>
          <p:cNvSpPr txBox="1"/>
          <p:nvPr/>
        </p:nvSpPr>
        <p:spPr>
          <a:xfrm>
            <a:off x="749808" y="5705856"/>
            <a:ext cx="3222650" cy="457200"/>
          </a:xfrm>
          <a:prstGeom prst="rect">
            <a:avLst/>
          </a:prstGeom>
          <a:noFill/>
          <a:ln/>
        </p:spPr>
        <p:txBody>
          <a:bodyPr wrap="square" lIns="0" tIns="0" rIns="0" bIns="0" rtlCol="0" anchor="t"/>
          <a:lstStyle/>
          <a:p>
            <a:pPr algn="l" indent="0" marL="0">
              <a:buNone/>
            </a:pPr>
            <a:r>
              <a:rPr lang="en-US" sz="2400" dirty="0">
                <a:solidFill>
                  <a:srgbClr val="E5E9EC"/>
                </a:solidFill>
                <a:latin typeface="Georgia" pitchFamily="34" charset="0"/>
                <a:ea typeface="Georgia" pitchFamily="34" charset="-122"/>
                <a:cs typeface="Georgia" pitchFamily="34" charset="-120"/>
              </a:rPr>
              <a:t>−5.4 pts</a:t>
            </a:r>
            <a:endParaRPr lang="en-US" sz="2400" dirty="0"/>
          </a:p>
        </p:txBody>
      </p:sp>
      <p:sp>
        <p:nvSpPr>
          <p:cNvPr id="92" name="text-90"/>
          <p:cNvSpPr txBox="1"/>
          <p:nvPr/>
        </p:nvSpPr>
        <p:spPr>
          <a:xfrm>
            <a:off x="749808" y="6163056"/>
            <a:ext cx="3222650" cy="384048"/>
          </a:xfrm>
          <a:prstGeom prst="rect">
            <a:avLst/>
          </a:prstGeom>
          <a:noFill/>
          <a:ln/>
        </p:spPr>
        <p:txBody>
          <a:bodyPr wrap="square" lIns="0" tIns="0" rIns="0" bIns="0" rtlCol="0" anchor="t"/>
          <a:lstStyle/>
          <a:p>
            <a:pPr algn="l" indent="0" marL="0">
              <a:buNone/>
            </a:pPr>
            <a:r>
              <a:rPr lang="en-US" sz="950" dirty="0">
                <a:solidFill>
                  <a:srgbClr val="A1ABB4"/>
                </a:solidFill>
                <a:latin typeface="Arial" pitchFamily="34" charset="0"/>
                <a:ea typeface="Arial" pitchFamily="34" charset="-122"/>
                <a:cs typeface="Arial" pitchFamily="34" charset="-120"/>
              </a:rPr>
              <a:t>88.7% → 83.3%, prior to recent 30 days</a:t>
            </a:r>
            <a:endParaRPr lang="en-US" sz="950" dirty="0"/>
          </a:p>
        </p:txBody>
      </p:sp>
      <p:sp>
        <p:nvSpPr>
          <p:cNvPr id="93" name="rect-91"/>
          <p:cNvSpPr/>
          <p:nvPr/>
        </p:nvSpPr>
        <p:spPr>
          <a:xfrm>
            <a:off x="4301642" y="5376672"/>
            <a:ext cx="3588410" cy="1207008"/>
          </a:xfrm>
          <a:prstGeom prst="roundRect">
            <a:avLst>
              <a:gd name="adj" fmla="val 6061"/>
            </a:avLst>
          </a:prstGeom>
          <a:solidFill>
            <a:srgbClr val="181C20"/>
          </a:solidFill>
          <a:ln w="9525">
            <a:solidFill>
              <a:srgbClr val="2A3036"/>
            </a:solidFill>
            <a:prstDash val="solid"/>
          </a:ln>
        </p:spPr>
      </p:sp>
      <p:sp>
        <p:nvSpPr>
          <p:cNvPr id="94" name="text-92"/>
          <p:cNvSpPr txBox="1"/>
          <p:nvPr/>
        </p:nvSpPr>
        <p:spPr>
          <a:xfrm>
            <a:off x="4502810" y="5486400"/>
            <a:ext cx="3222650" cy="219456"/>
          </a:xfrm>
          <a:prstGeom prst="rect">
            <a:avLst/>
          </a:prstGeom>
          <a:noFill/>
          <a:ln/>
        </p:spPr>
        <p:txBody>
          <a:bodyPr wrap="square" lIns="0" tIns="0" rIns="0" bIns="0" rtlCol="0" anchor="t"/>
          <a:lstStyle/>
          <a:p>
            <a:pPr algn="l" indent="0" marL="0">
              <a:buNone/>
            </a:pPr>
            <a:r>
              <a:rPr lang="en-US" sz="1000" dirty="0">
                <a:solidFill>
                  <a:srgbClr val="A1ABB4"/>
                </a:solidFill>
                <a:latin typeface="Arial" pitchFamily="34" charset="0"/>
                <a:ea typeface="Arial" pitchFamily="34" charset="-122"/>
                <a:cs typeface="Arial" pitchFamily="34" charset="-120"/>
              </a:rPr>
              <a:t>Approvals</a:t>
            </a:r>
            <a:endParaRPr lang="en-US" sz="1000" dirty="0"/>
          </a:p>
        </p:txBody>
      </p:sp>
      <p:sp>
        <p:nvSpPr>
          <p:cNvPr id="95" name="text-93"/>
          <p:cNvSpPr txBox="1"/>
          <p:nvPr/>
        </p:nvSpPr>
        <p:spPr>
          <a:xfrm>
            <a:off x="4502810" y="5705856"/>
            <a:ext cx="3222650" cy="457200"/>
          </a:xfrm>
          <a:prstGeom prst="rect">
            <a:avLst/>
          </a:prstGeom>
          <a:noFill/>
          <a:ln/>
        </p:spPr>
        <p:txBody>
          <a:bodyPr wrap="square" lIns="0" tIns="0" rIns="0" bIns="0" rtlCol="0" anchor="t"/>
          <a:lstStyle/>
          <a:p>
            <a:pPr algn="l" indent="0" marL="0">
              <a:buNone/>
            </a:pPr>
            <a:r>
              <a:rPr lang="en-US" sz="2400" dirty="0">
                <a:solidFill>
                  <a:srgbClr val="E5E9EC"/>
                </a:solidFill>
                <a:latin typeface="Georgia" pitchFamily="34" charset="0"/>
                <a:ea typeface="Georgia" pitchFamily="34" charset="-122"/>
                <a:cs typeface="Georgia" pitchFamily="34" charset="-120"/>
              </a:rPr>
              <a:t>−12.3%</a:t>
            </a:r>
            <a:endParaRPr lang="en-US" sz="2400" dirty="0"/>
          </a:p>
        </p:txBody>
      </p:sp>
      <p:sp>
        <p:nvSpPr>
          <p:cNvPr id="96" name="text-94"/>
          <p:cNvSpPr txBox="1"/>
          <p:nvPr/>
        </p:nvSpPr>
        <p:spPr>
          <a:xfrm>
            <a:off x="4502810" y="6163056"/>
            <a:ext cx="3222650" cy="384048"/>
          </a:xfrm>
          <a:prstGeom prst="rect">
            <a:avLst/>
          </a:prstGeom>
          <a:noFill/>
          <a:ln/>
        </p:spPr>
        <p:txBody>
          <a:bodyPr wrap="square" lIns="0" tIns="0" rIns="0" bIns="0" rtlCol="0" anchor="t"/>
          <a:lstStyle/>
          <a:p>
            <a:pPr algn="l" indent="0" marL="0">
              <a:buNone/>
            </a:pPr>
            <a:r>
              <a:rPr lang="en-US" sz="950" dirty="0">
                <a:solidFill>
                  <a:srgbClr val="A1ABB4"/>
                </a:solidFill>
                <a:latin typeface="Arial" pitchFamily="34" charset="0"/>
                <a:ea typeface="Arial" pitchFamily="34" charset="-122"/>
                <a:cs typeface="Arial" pitchFamily="34" charset="-120"/>
              </a:rPr>
              <a:t>2,945 fewer: 54% from fewer decisions, 46% from the lower rate</a:t>
            </a:r>
            <a:endParaRPr lang="en-US" sz="950" dirty="0"/>
          </a:p>
        </p:txBody>
      </p:sp>
      <p:sp>
        <p:nvSpPr>
          <p:cNvPr id="97" name="rect-95"/>
          <p:cNvSpPr/>
          <p:nvPr/>
        </p:nvSpPr>
        <p:spPr>
          <a:xfrm>
            <a:off x="8054645" y="5376672"/>
            <a:ext cx="3588410" cy="1207008"/>
          </a:xfrm>
          <a:prstGeom prst="roundRect">
            <a:avLst>
              <a:gd name="adj" fmla="val 6061"/>
            </a:avLst>
          </a:prstGeom>
          <a:solidFill>
            <a:srgbClr val="181C20"/>
          </a:solidFill>
          <a:ln w="9525">
            <a:solidFill>
              <a:srgbClr val="2A3036"/>
            </a:solidFill>
            <a:prstDash val="solid"/>
          </a:ln>
        </p:spPr>
      </p:sp>
      <p:sp>
        <p:nvSpPr>
          <p:cNvPr id="98" name="text-96"/>
          <p:cNvSpPr txBox="1"/>
          <p:nvPr/>
        </p:nvSpPr>
        <p:spPr>
          <a:xfrm>
            <a:off x="8255813" y="5486400"/>
            <a:ext cx="3222650" cy="219456"/>
          </a:xfrm>
          <a:prstGeom prst="rect">
            <a:avLst/>
          </a:prstGeom>
          <a:noFill/>
          <a:ln/>
        </p:spPr>
        <p:txBody>
          <a:bodyPr wrap="square" lIns="0" tIns="0" rIns="0" bIns="0" rtlCol="0" anchor="t"/>
          <a:lstStyle/>
          <a:p>
            <a:pPr algn="l" indent="0" marL="0">
              <a:buNone/>
            </a:pPr>
            <a:r>
              <a:rPr lang="en-US" sz="1000" dirty="0">
                <a:solidFill>
                  <a:srgbClr val="A1ABB4"/>
                </a:solidFill>
                <a:latin typeface="Arial" pitchFamily="34" charset="0"/>
                <a:ea typeface="Arial" pitchFamily="34" charset="-122"/>
                <a:cs typeface="Arial" pitchFamily="34" charset="-120"/>
              </a:rPr>
              <a:t>Short incidents</a:t>
            </a:r>
            <a:endParaRPr lang="en-US" sz="1000" dirty="0"/>
          </a:p>
        </p:txBody>
      </p:sp>
      <p:sp>
        <p:nvSpPr>
          <p:cNvPr id="99" name="text-97"/>
          <p:cNvSpPr txBox="1"/>
          <p:nvPr/>
        </p:nvSpPr>
        <p:spPr>
          <a:xfrm>
            <a:off x="8255813" y="5705856"/>
            <a:ext cx="3222650" cy="457200"/>
          </a:xfrm>
          <a:prstGeom prst="rect">
            <a:avLst/>
          </a:prstGeom>
          <a:noFill/>
          <a:ln/>
        </p:spPr>
        <p:txBody>
          <a:bodyPr wrap="square" lIns="0" tIns="0" rIns="0" bIns="0" rtlCol="0" anchor="t"/>
          <a:lstStyle/>
          <a:p>
            <a:pPr algn="l" indent="0" marL="0">
              <a:buNone/>
            </a:pPr>
            <a:r>
              <a:rPr lang="en-US" sz="2400" dirty="0">
                <a:solidFill>
                  <a:srgbClr val="E5E9EC"/>
                </a:solidFill>
                <a:latin typeface="Georgia" pitchFamily="34" charset="0"/>
                <a:ea typeface="Georgia" pitchFamily="34" charset="-122"/>
                <a:cs typeface="Georgia" pitchFamily="34" charset="-120"/>
              </a:rPr>
              <a:t>≈1,057</a:t>
            </a:r>
            <a:endParaRPr lang="en-US" sz="2400" dirty="0"/>
          </a:p>
        </p:txBody>
      </p:sp>
      <p:sp>
        <p:nvSpPr>
          <p:cNvPr id="100" name="text-98"/>
          <p:cNvSpPr txBox="1"/>
          <p:nvPr/>
        </p:nvSpPr>
        <p:spPr>
          <a:xfrm>
            <a:off x="8255813" y="6163056"/>
            <a:ext cx="3222650" cy="384048"/>
          </a:xfrm>
          <a:prstGeom prst="rect">
            <a:avLst/>
          </a:prstGeom>
          <a:noFill/>
          <a:ln/>
        </p:spPr>
        <p:txBody>
          <a:bodyPr wrap="square" lIns="0" tIns="0" rIns="0" bIns="0" rtlCol="0" anchor="t"/>
          <a:lstStyle/>
          <a:p>
            <a:pPr algn="l" indent="0" marL="0">
              <a:buNone/>
            </a:pPr>
            <a:r>
              <a:rPr lang="en-US" sz="950" dirty="0">
                <a:solidFill>
                  <a:srgbClr val="A1ABB4"/>
                </a:solidFill>
                <a:latin typeface="Arial" pitchFamily="34" charset="0"/>
                <a:ea typeface="Arial" pitchFamily="34" charset="-122"/>
                <a:cs typeface="Arial" pitchFamily="34" charset="-120"/>
              </a:rPr>
              <a:t>failures above baseline in four date windows; causes not confirmed</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Where to find the work: the website, the code and this report</a:t>
            </a:r>
            <a:endParaRPr lang="en-US" sz="2600" dirty="0"/>
          </a:p>
        </p:txBody>
      </p:sp>
      <p:sp>
        <p:nvSpPr>
          <p:cNvPr id="3" name="rect-1"/>
          <p:cNvSpPr/>
          <p:nvPr/>
        </p:nvSpPr>
        <p:spPr>
          <a:xfrm>
            <a:off x="548640" y="1417320"/>
            <a:ext cx="3545738" cy="4343400"/>
          </a:xfrm>
          <a:prstGeom prst="roundRect">
            <a:avLst>
              <a:gd name="adj" fmla="val 2063"/>
            </a:avLst>
          </a:prstGeom>
          <a:solidFill>
            <a:srgbClr val="FFFFFF"/>
          </a:solidFill>
          <a:ln w="9525">
            <a:solidFill>
              <a:srgbClr val="DFE3E7"/>
            </a:solidFill>
            <a:prstDash val="solid"/>
          </a:ln>
        </p:spPr>
      </p:sp>
      <p:sp>
        <p:nvSpPr>
          <p:cNvPr id="4" name="text-2"/>
          <p:cNvSpPr txBox="1"/>
          <p:nvPr/>
        </p:nvSpPr>
        <p:spPr>
          <a:xfrm>
            <a:off x="822960" y="1673352"/>
            <a:ext cx="2997098"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WEBSITE</a:t>
            </a:r>
            <a:endParaRPr lang="en-US" sz="1000" dirty="0"/>
          </a:p>
        </p:txBody>
      </p:sp>
      <p:sp>
        <p:nvSpPr>
          <p:cNvPr id="5" name="text-3"/>
          <p:cNvSpPr txBox="1"/>
          <p:nvPr/>
        </p:nvSpPr>
        <p:spPr>
          <a:xfrm>
            <a:off x="822960" y="1947672"/>
            <a:ext cx="2997098" cy="411480"/>
          </a:xfrm>
          <a:prstGeom prst="rect">
            <a:avLst/>
          </a:prstGeom>
          <a:noFill/>
          <a:ln/>
        </p:spPr>
        <p:txBody>
          <a:bodyPr wrap="square" lIns="0" tIns="0" rIns="0" bIns="0" rtlCol="0" anchor="t"/>
          <a:lstStyle/>
          <a:p>
            <a:pPr algn="l" indent="0" marL="0">
              <a:buNone/>
            </a:pPr>
            <a:r>
              <a:rPr lang="en-US" sz="2200" dirty="0">
                <a:solidFill>
                  <a:srgbClr val="1C2126"/>
                </a:solidFill>
                <a:latin typeface="Georgia" pitchFamily="34" charset="0"/>
                <a:ea typeface="Georgia" pitchFamily="34" charset="-122"/>
                <a:cs typeface="Georgia" pitchFamily="34" charset="-120"/>
              </a:rPr>
              <a:t>Interactive version</a:t>
            </a:r>
            <a:endParaRPr lang="en-US" sz="2200" dirty="0"/>
          </a:p>
        </p:txBody>
      </p:sp>
      <p:sp>
        <p:nvSpPr>
          <p:cNvPr id="6" name="text-4"/>
          <p:cNvSpPr txBox="1"/>
          <p:nvPr/>
        </p:nvSpPr>
        <p:spPr>
          <a:xfrm>
            <a:off x="822960" y="2441448"/>
            <a:ext cx="2997098" cy="320040"/>
          </a:xfrm>
          <a:prstGeom prst="rect">
            <a:avLst/>
          </a:prstGeom>
          <a:noFill/>
          <a:ln/>
        </p:spPr>
        <p:txBody>
          <a:bodyPr wrap="square" lIns="0" tIns="0" rIns="0" bIns="0" rtlCol="0" anchor="t"/>
          <a:lstStyle/>
          <a:p>
            <a:pPr algn="l" indent="0" marL="0">
              <a:buNone/>
            </a:pPr>
            <a:r>
              <a:rPr lang="en-US" sz="1300" u="sng" dirty="0">
                <a:solidFill>
                  <a:srgbClr val="2F6DB3"/>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prosolkin.github.io/arq-kyc</a:t>
            </a:r>
            <a:endParaRPr lang="en-US" sz="1300" dirty="0"/>
          </a:p>
        </p:txBody>
      </p:sp>
      <p:sp>
        <p:nvSpPr>
          <p:cNvPr id="7" name="line-5"/>
          <p:cNvSpPr/>
          <p:nvPr/>
        </p:nvSpPr>
        <p:spPr>
          <a:xfrm>
            <a:off x="822960" y="2898648"/>
            <a:ext cx="2997098" cy="0"/>
          </a:xfrm>
          <a:prstGeom prst="line">
            <a:avLst/>
          </a:prstGeom>
          <a:noFill/>
          <a:ln w="9525">
            <a:solidFill>
              <a:srgbClr val="DFE3E7"/>
            </a:solidFill>
            <a:prstDash val="solid"/>
          </a:ln>
        </p:spPr>
      </p:sp>
      <p:sp>
        <p:nvSpPr>
          <p:cNvPr id="8" name="text-6"/>
          <p:cNvSpPr txBox="1"/>
          <p:nvPr/>
        </p:nvSpPr>
        <p:spPr>
          <a:xfrm>
            <a:off x="822960" y="3063240"/>
            <a:ext cx="2997098" cy="2514600"/>
          </a:xfrm>
          <a:prstGeom prst="rect">
            <a:avLst/>
          </a:prstGeom>
          <a:noFill/>
          <a:ln/>
        </p:spPr>
        <p:txBody>
          <a:bodyPr wrap="square" lIns="0" tIns="0" rIns="0" bIns="0" rtlCol="0" anchor="t"/>
          <a:lstStyle/>
          <a:p>
            <a:pPr algn="l" marL="152400" indent="-152400">
              <a:spcAft>
                <a:spcPts val="700"/>
              </a:spcAft>
              <a:buSzPct val="100000"/>
              <a:buChar char="•"/>
            </a:pPr>
            <a:r>
              <a:rPr lang="en-US" sz="1250" dirty="0">
                <a:solidFill>
                  <a:srgbClr val="1C2126"/>
                </a:solidFill>
                <a:latin typeface="Arial" pitchFamily="34" charset="0"/>
                <a:ea typeface="Arial" pitchFamily="34" charset="-122"/>
                <a:cs typeface="Arial" pitchFamily="34" charset="-120"/>
              </a:rPr>
              <a:t>The same analysis and figures as this report, on one website.</a:t>
            </a:r>
            <a:endParaRPr lang="en-US" sz="1250" dirty="0"/>
          </a:p>
          <a:p>
            <a:pPr algn="l" marL="152400" indent="-152400">
              <a:spcAft>
                <a:spcPts val="700"/>
              </a:spcAft>
              <a:buSzPct val="100000"/>
              <a:buChar char="•"/>
            </a:pPr>
            <a:r>
              <a:rPr lang="en-US" sz="1250" dirty="0">
                <a:solidFill>
                  <a:srgbClr val="1C2126"/>
                </a:solidFill>
                <a:latin typeface="Arial" pitchFamily="34" charset="0"/>
                <a:ea typeface="Arial" pitchFamily="34" charset="-122"/>
                <a:cs typeface="Arial" pitchFamily="34" charset="-120"/>
              </a:rPr>
              <a:t>Four main tabs: Quick review, Why it fell, What to do and What we gain. Eight detail pages sit under Details.</a:t>
            </a:r>
            <a:endParaRPr lang="en-US" sz="1250" dirty="0"/>
          </a:p>
          <a:p>
            <a:pPr algn="l" marL="152400" indent="-152400">
              <a:spcAft>
                <a:spcPts val="700"/>
              </a:spcAft>
              <a:buSzPct val="100000"/>
              <a:buChar char="•"/>
            </a:pPr>
            <a:r>
              <a:rPr lang="en-US" sz="1250" dirty="0">
                <a:solidFill>
                  <a:srgbClr val="1C2126"/>
                </a:solidFill>
                <a:latin typeface="Arial" pitchFamily="34" charset="0"/>
                <a:ea typeface="Arial" pitchFamily="34" charset="-122"/>
                <a:cs typeface="Arial" pitchFamily="34" charset="-120"/>
              </a:rPr>
              <a:t>A chat answers questions about the case from the case material only.</a:t>
            </a:r>
            <a:endParaRPr lang="en-US" sz="1250" dirty="0"/>
          </a:p>
          <a:p>
            <a:pPr algn="l" marL="152400" indent="-152400">
              <a:spcAft>
                <a:spcPts val="700"/>
              </a:spcAft>
              <a:buSzPct val="100000"/>
              <a:buChar char="•"/>
            </a:pPr>
            <a:r>
              <a:rPr lang="en-US" sz="1250" dirty="0">
                <a:solidFill>
                  <a:srgbClr val="1C2126"/>
                </a:solidFill>
                <a:latin typeface="Arial" pitchFamily="34" charset="0"/>
                <a:ea typeface="Arial" pitchFamily="34" charset="-122"/>
                <a:cs typeface="Arial" pitchFamily="34" charset="-120"/>
              </a:rPr>
              <a:t>The password is in the email.</a:t>
            </a:r>
            <a:endParaRPr lang="en-US" sz="1250" dirty="0"/>
          </a:p>
        </p:txBody>
      </p:sp>
      <p:sp>
        <p:nvSpPr>
          <p:cNvPr id="9" name="rect-7"/>
          <p:cNvSpPr/>
          <p:nvPr/>
        </p:nvSpPr>
        <p:spPr>
          <a:xfrm>
            <a:off x="4322978" y="1417320"/>
            <a:ext cx="3545738" cy="4343400"/>
          </a:xfrm>
          <a:prstGeom prst="roundRect">
            <a:avLst>
              <a:gd name="adj" fmla="val 2063"/>
            </a:avLst>
          </a:prstGeom>
          <a:solidFill>
            <a:srgbClr val="FFFFFF"/>
          </a:solidFill>
          <a:ln w="9525">
            <a:solidFill>
              <a:srgbClr val="DFE3E7"/>
            </a:solidFill>
            <a:prstDash val="solid"/>
          </a:ln>
        </p:spPr>
      </p:sp>
      <p:sp>
        <p:nvSpPr>
          <p:cNvPr id="10" name="text-8"/>
          <p:cNvSpPr txBox="1"/>
          <p:nvPr/>
        </p:nvSpPr>
        <p:spPr>
          <a:xfrm>
            <a:off x="4597298" y="1673352"/>
            <a:ext cx="2997098"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GITHUB</a:t>
            </a:r>
            <a:endParaRPr lang="en-US" sz="1000" dirty="0"/>
          </a:p>
        </p:txBody>
      </p:sp>
      <p:sp>
        <p:nvSpPr>
          <p:cNvPr id="11" name="text-9"/>
          <p:cNvSpPr txBox="1"/>
          <p:nvPr/>
        </p:nvSpPr>
        <p:spPr>
          <a:xfrm>
            <a:off x="4597298" y="1947672"/>
            <a:ext cx="2997098" cy="411480"/>
          </a:xfrm>
          <a:prstGeom prst="rect">
            <a:avLst/>
          </a:prstGeom>
          <a:noFill/>
          <a:ln/>
        </p:spPr>
        <p:txBody>
          <a:bodyPr wrap="square" lIns="0" tIns="0" rIns="0" bIns="0" rtlCol="0" anchor="t"/>
          <a:lstStyle/>
          <a:p>
            <a:pPr algn="l" indent="0" marL="0">
              <a:buNone/>
            </a:pPr>
            <a:r>
              <a:rPr lang="en-US" sz="2200" dirty="0">
                <a:solidFill>
                  <a:srgbClr val="1C2126"/>
                </a:solidFill>
                <a:latin typeface="Georgia" pitchFamily="34" charset="0"/>
                <a:ea typeface="Georgia" pitchFamily="34" charset="-122"/>
                <a:cs typeface="Georgia" pitchFamily="34" charset="-120"/>
              </a:rPr>
              <a:t>Code and data</a:t>
            </a:r>
            <a:endParaRPr lang="en-US" sz="2200" dirty="0"/>
          </a:p>
        </p:txBody>
      </p:sp>
      <p:sp>
        <p:nvSpPr>
          <p:cNvPr id="12" name="text-10"/>
          <p:cNvSpPr txBox="1"/>
          <p:nvPr/>
        </p:nvSpPr>
        <p:spPr>
          <a:xfrm>
            <a:off x="4597298" y="2441448"/>
            <a:ext cx="2997098" cy="320040"/>
          </a:xfrm>
          <a:prstGeom prst="rect">
            <a:avLst/>
          </a:prstGeom>
          <a:noFill/>
          <a:ln/>
        </p:spPr>
        <p:txBody>
          <a:bodyPr wrap="square" lIns="0" tIns="0" rIns="0" bIns="0" rtlCol="0" anchor="t"/>
          <a:lstStyle/>
          <a:p>
            <a:pPr algn="l" indent="0" marL="0">
              <a:buNone/>
            </a:pPr>
            <a:r>
              <a:rPr lang="en-US" sz="1300" u="sng" dirty="0">
                <a:solidFill>
                  <a:srgbClr val="2F6DB3"/>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github.com/prosolkin/arq-kyc</a:t>
            </a:r>
            <a:endParaRPr lang="en-US" sz="1300" dirty="0"/>
          </a:p>
        </p:txBody>
      </p:sp>
      <p:sp>
        <p:nvSpPr>
          <p:cNvPr id="13" name="line-11"/>
          <p:cNvSpPr/>
          <p:nvPr/>
        </p:nvSpPr>
        <p:spPr>
          <a:xfrm>
            <a:off x="4597298" y="2898648"/>
            <a:ext cx="2997098" cy="0"/>
          </a:xfrm>
          <a:prstGeom prst="line">
            <a:avLst/>
          </a:prstGeom>
          <a:noFill/>
          <a:ln w="9525">
            <a:solidFill>
              <a:srgbClr val="DFE3E7"/>
            </a:solidFill>
            <a:prstDash val="solid"/>
          </a:ln>
        </p:spPr>
      </p:sp>
      <p:sp>
        <p:nvSpPr>
          <p:cNvPr id="14" name="text-12"/>
          <p:cNvSpPr txBox="1"/>
          <p:nvPr/>
        </p:nvSpPr>
        <p:spPr>
          <a:xfrm>
            <a:off x="4597298" y="3063240"/>
            <a:ext cx="2997098" cy="2514600"/>
          </a:xfrm>
          <a:prstGeom prst="rect">
            <a:avLst/>
          </a:prstGeom>
          <a:noFill/>
          <a:ln/>
        </p:spPr>
        <p:txBody>
          <a:bodyPr wrap="square" lIns="0" tIns="0" rIns="0" bIns="0" rtlCol="0" anchor="t"/>
          <a:lstStyle/>
          <a:p>
            <a:pPr algn="l" marL="152400" indent="-152400">
              <a:spcAft>
                <a:spcPts val="700"/>
              </a:spcAft>
              <a:buSzPct val="100000"/>
              <a:buChar char="•"/>
            </a:pPr>
            <a:r>
              <a:rPr lang="en-US" sz="1250" dirty="0">
                <a:solidFill>
                  <a:srgbClr val="1C2126"/>
                </a:solidFill>
                <a:latin typeface="Arial" pitchFamily="34" charset="0"/>
                <a:ea typeface="Arial" pitchFamily="34" charset="-122"/>
                <a:cs typeface="Arial" pitchFamily="34" charset="-120"/>
              </a:rPr>
              <a:t>The scripts and the 43 aggregated tables behind every number.</a:t>
            </a:r>
            <a:endParaRPr lang="en-US" sz="1250" dirty="0"/>
          </a:p>
          <a:p>
            <a:pPr algn="l" marL="152400" indent="-152400">
              <a:spcAft>
                <a:spcPts val="700"/>
              </a:spcAft>
              <a:buSzPct val="100000"/>
              <a:buChar char="•"/>
            </a:pPr>
            <a:r>
              <a:rPr lang="en-US" sz="1250" dirty="0">
                <a:solidFill>
                  <a:srgbClr val="1C2126"/>
                </a:solidFill>
                <a:latin typeface="Arial" pitchFamily="34" charset="0"/>
                <a:ea typeface="Arial" pitchFamily="34" charset="-122"/>
                <a:cs typeface="Arial" pitchFamily="34" charset="-120"/>
              </a:rPr>
              <a:t>One build makes the website, this deck and the report from the two extracts.</a:t>
            </a:r>
            <a:endParaRPr lang="en-US" sz="1250" dirty="0"/>
          </a:p>
          <a:p>
            <a:pPr algn="l" marL="152400" indent="-152400">
              <a:spcAft>
                <a:spcPts val="700"/>
              </a:spcAft>
              <a:buSzPct val="100000"/>
              <a:buChar char="•"/>
            </a:pPr>
            <a:r>
              <a:rPr lang="en-US" sz="1250" dirty="0">
                <a:solidFill>
                  <a:srgbClr val="1C2126"/>
                </a:solidFill>
                <a:latin typeface="Arial" pitchFamily="34" charset="0"/>
                <a:ea typeface="Arial" pitchFamily="34" charset="-122"/>
                <a:cs typeface="Arial" pitchFamily="34" charset="-120"/>
              </a:rPr>
              <a:t>The raw extracts are not in the repository. It holds aggregates only, with no personal data.</a:t>
            </a:r>
            <a:endParaRPr lang="en-US" sz="1250" dirty="0"/>
          </a:p>
          <a:p>
            <a:pPr algn="l" marL="152400" indent="-152400">
              <a:spcAft>
                <a:spcPts val="700"/>
              </a:spcAft>
              <a:buSzPct val="100000"/>
              <a:buChar char="•"/>
            </a:pPr>
            <a:r>
              <a:rPr lang="en-US" sz="1250" dirty="0">
                <a:solidFill>
                  <a:srgbClr val="1C2126"/>
                </a:solidFill>
                <a:latin typeface="Arial" pitchFamily="34" charset="0"/>
                <a:ea typeface="Arial" pitchFamily="34" charset="-122"/>
                <a:cs typeface="Arial" pitchFamily="34" charset="-120"/>
              </a:rPr>
              <a:t>The README shows where to start.</a:t>
            </a:r>
            <a:endParaRPr lang="en-US" sz="1250" dirty="0"/>
          </a:p>
        </p:txBody>
      </p:sp>
      <p:sp>
        <p:nvSpPr>
          <p:cNvPr id="15" name="rect-13"/>
          <p:cNvSpPr/>
          <p:nvPr/>
        </p:nvSpPr>
        <p:spPr>
          <a:xfrm>
            <a:off x="8097317" y="1417320"/>
            <a:ext cx="3545738" cy="4343400"/>
          </a:xfrm>
          <a:prstGeom prst="roundRect">
            <a:avLst>
              <a:gd name="adj" fmla="val 2063"/>
            </a:avLst>
          </a:prstGeom>
          <a:solidFill>
            <a:srgbClr val="FFFFFF"/>
          </a:solidFill>
          <a:ln w="9525">
            <a:solidFill>
              <a:srgbClr val="DFE3E7"/>
            </a:solidFill>
            <a:prstDash val="solid"/>
          </a:ln>
        </p:spPr>
      </p:sp>
      <p:sp>
        <p:nvSpPr>
          <p:cNvPr id="16" name="text-14"/>
          <p:cNvSpPr txBox="1"/>
          <p:nvPr/>
        </p:nvSpPr>
        <p:spPr>
          <a:xfrm>
            <a:off x="8371637" y="1673352"/>
            <a:ext cx="2997098"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PDF</a:t>
            </a:r>
            <a:endParaRPr lang="en-US" sz="1000" dirty="0"/>
          </a:p>
        </p:txBody>
      </p:sp>
      <p:sp>
        <p:nvSpPr>
          <p:cNvPr id="17" name="text-15"/>
          <p:cNvSpPr txBox="1"/>
          <p:nvPr/>
        </p:nvSpPr>
        <p:spPr>
          <a:xfrm>
            <a:off x="8371637" y="1947672"/>
            <a:ext cx="2997098" cy="411480"/>
          </a:xfrm>
          <a:prstGeom prst="rect">
            <a:avLst/>
          </a:prstGeom>
          <a:noFill/>
          <a:ln/>
        </p:spPr>
        <p:txBody>
          <a:bodyPr wrap="square" lIns="0" tIns="0" rIns="0" bIns="0" rtlCol="0" anchor="t"/>
          <a:lstStyle/>
          <a:p>
            <a:pPr algn="l" indent="0" marL="0">
              <a:buNone/>
            </a:pPr>
            <a:r>
              <a:rPr lang="en-US" sz="2200" dirty="0">
                <a:solidFill>
                  <a:srgbClr val="1C2126"/>
                </a:solidFill>
                <a:latin typeface="Georgia" pitchFamily="34" charset="0"/>
                <a:ea typeface="Georgia" pitchFamily="34" charset="-122"/>
                <a:cs typeface="Georgia" pitchFamily="34" charset="-120"/>
              </a:rPr>
              <a:t>This report</a:t>
            </a:r>
            <a:endParaRPr lang="en-US" sz="2200" dirty="0"/>
          </a:p>
        </p:txBody>
      </p:sp>
      <p:sp>
        <p:nvSpPr>
          <p:cNvPr id="18" name="text-16"/>
          <p:cNvSpPr txBox="1"/>
          <p:nvPr/>
        </p:nvSpPr>
        <p:spPr>
          <a:xfrm>
            <a:off x="8371637" y="2441448"/>
            <a:ext cx="2997098" cy="320040"/>
          </a:xfrm>
          <a:prstGeom prst="rect">
            <a:avLst/>
          </a:prstGeom>
          <a:noFill/>
          <a:ln/>
        </p:spPr>
        <p:txBody>
          <a:bodyPr wrap="square" lIns="0" tIns="0" rIns="0" bIns="0" rtlCol="0" anchor="t"/>
          <a:lstStyle/>
          <a:p>
            <a:pPr algn="l" indent="0" marL="0">
              <a:buNone/>
            </a:pPr>
            <a:r>
              <a:rPr lang="en-US" sz="1300" dirty="0">
                <a:solidFill>
                  <a:srgbClr val="1C2126"/>
                </a:solidFill>
                <a:latin typeface="Arial" pitchFamily="34" charset="0"/>
                <a:ea typeface="Arial" pitchFamily="34" charset="-122"/>
                <a:cs typeface="Arial" pitchFamily="34" charset="-120"/>
              </a:rPr>
              <a:t>kyc-approval-report.pdf</a:t>
            </a:r>
            <a:endParaRPr lang="en-US" sz="1300" dirty="0"/>
          </a:p>
        </p:txBody>
      </p:sp>
      <p:sp>
        <p:nvSpPr>
          <p:cNvPr id="19" name="line-17"/>
          <p:cNvSpPr/>
          <p:nvPr/>
        </p:nvSpPr>
        <p:spPr>
          <a:xfrm>
            <a:off x="8371637" y="2898648"/>
            <a:ext cx="2997098" cy="0"/>
          </a:xfrm>
          <a:prstGeom prst="line">
            <a:avLst/>
          </a:prstGeom>
          <a:noFill/>
          <a:ln w="9525">
            <a:solidFill>
              <a:srgbClr val="DFE3E7"/>
            </a:solidFill>
            <a:prstDash val="solid"/>
          </a:ln>
        </p:spPr>
      </p:sp>
      <p:sp>
        <p:nvSpPr>
          <p:cNvPr id="20" name="text-18"/>
          <p:cNvSpPr txBox="1"/>
          <p:nvPr/>
        </p:nvSpPr>
        <p:spPr>
          <a:xfrm>
            <a:off x="8371637" y="3063240"/>
            <a:ext cx="2997098" cy="2514600"/>
          </a:xfrm>
          <a:prstGeom prst="rect">
            <a:avLst/>
          </a:prstGeom>
          <a:noFill/>
          <a:ln/>
        </p:spPr>
        <p:txBody>
          <a:bodyPr wrap="square" lIns="0" tIns="0" rIns="0" bIns="0" rtlCol="0" anchor="t"/>
          <a:lstStyle/>
          <a:p>
            <a:pPr algn="l" marL="152400" indent="-152400">
              <a:spcAft>
                <a:spcPts val="700"/>
              </a:spcAft>
              <a:buSzPct val="100000"/>
              <a:buChar char="•"/>
            </a:pPr>
            <a:r>
              <a:rPr lang="en-US" sz="1250" dirty="0">
                <a:solidFill>
                  <a:srgbClr val="1C2126"/>
                </a:solidFill>
                <a:latin typeface="Arial" pitchFamily="34" charset="0"/>
                <a:ea typeface="Arial" pitchFamily="34" charset="-122"/>
                <a:cs typeface="Arial" pitchFamily="34" charset="-120"/>
              </a:rPr>
              <a:t>The executive narrative: what changed, why, what to do and what we gain.</a:t>
            </a:r>
            <a:endParaRPr lang="en-US" sz="1250" dirty="0"/>
          </a:p>
          <a:p>
            <a:pPr algn="l" marL="152400" indent="-152400">
              <a:spcAft>
                <a:spcPts val="700"/>
              </a:spcAft>
              <a:buSzPct val="100000"/>
              <a:buChar char="•"/>
            </a:pPr>
            <a:r>
              <a:rPr lang="en-US" sz="1250" dirty="0">
                <a:solidFill>
                  <a:srgbClr val="1C2126"/>
                </a:solidFill>
                <a:latin typeface="Arial" pitchFamily="34" charset="0"/>
                <a:ea typeface="Arial" pitchFamily="34" charset="-122"/>
                <a:cs typeface="Arial" pitchFamily="34" charset="-120"/>
              </a:rPr>
              <a:t>The evidence appendix, A1 to A11.</a:t>
            </a:r>
            <a:endParaRPr lang="en-US" sz="1250" dirty="0"/>
          </a:p>
          <a:p>
            <a:pPr algn="l" marL="152400" indent="-152400">
              <a:spcAft>
                <a:spcPts val="700"/>
              </a:spcAft>
              <a:buSzPct val="100000"/>
              <a:buChar char="•"/>
            </a:pPr>
            <a:r>
              <a:rPr lang="en-US" sz="1250" dirty="0">
                <a:solidFill>
                  <a:srgbClr val="1C2126"/>
                </a:solidFill>
                <a:latin typeface="Arial" pitchFamily="34" charset="0"/>
                <a:ea typeface="Arial" pitchFamily="34" charset="-122"/>
                <a:cs typeface="Arial" pitchFamily="34" charset="-120"/>
              </a:rPr>
              <a:t>The methodology and validation note: definitions, data checks, methods and limits.</a:t>
            </a:r>
            <a:endParaRPr lang="en-US" sz="1250" dirty="0"/>
          </a:p>
        </p:txBody>
      </p:sp>
      <p:sp>
        <p:nvSpPr>
          <p:cNvPr id="21" name="text-19"/>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Every figure in the website, the deck and the report comes from the same aggregated tables.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The answer in seven points</a:t>
            </a:r>
            <a:endParaRPr lang="en-US" sz="2600" dirty="0"/>
          </a:p>
        </p:txBody>
      </p:sp>
      <p:sp>
        <p:nvSpPr>
          <p:cNvPr id="3" name="rect-1"/>
          <p:cNvSpPr/>
          <p:nvPr/>
        </p:nvSpPr>
        <p:spPr>
          <a:xfrm>
            <a:off x="548640" y="1362456"/>
            <a:ext cx="384048" cy="384048"/>
          </a:xfrm>
          <a:prstGeom prst="roundRect">
            <a:avLst>
              <a:gd name="adj" fmla="val 50000"/>
            </a:avLst>
          </a:prstGeom>
          <a:solidFill>
            <a:srgbClr val="1C2126"/>
          </a:solidFill>
          <a:ln/>
        </p:spPr>
      </p:sp>
      <p:sp>
        <p:nvSpPr>
          <p:cNvPr id="4" name="text-2"/>
          <p:cNvSpPr txBox="1"/>
          <p:nvPr/>
        </p:nvSpPr>
        <p:spPr>
          <a:xfrm>
            <a:off x="548640" y="1417320"/>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1</a:t>
            </a:r>
            <a:endParaRPr lang="en-US" sz="1300" dirty="0"/>
          </a:p>
        </p:txBody>
      </p:sp>
      <p:sp>
        <p:nvSpPr>
          <p:cNvPr id="5" name="text-3"/>
          <p:cNvSpPr txBox="1"/>
          <p:nvPr/>
        </p:nvSpPr>
        <p:spPr>
          <a:xfrm>
            <a:off x="1097280" y="1371600"/>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What is measurable</a:t>
            </a:r>
            <a:endParaRPr lang="en-US" sz="1400" dirty="0"/>
          </a:p>
        </p:txBody>
      </p:sp>
      <p:sp>
        <p:nvSpPr>
          <p:cNvPr id="6" name="text-4"/>
          <p:cNvSpPr txBox="1"/>
          <p:nvPr/>
        </p:nvSpPr>
        <p:spPr>
          <a:xfrm>
            <a:off x="3520440" y="1371600"/>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Approval among recorded decisions, by day, document country and failed check. Not measurable: starts, completion, abandonment, retries, review outcomes, time to completion.</a:t>
            </a:r>
            <a:endParaRPr lang="en-US" sz="1250" dirty="0"/>
          </a:p>
        </p:txBody>
      </p:sp>
      <p:sp>
        <p:nvSpPr>
          <p:cNvPr id="7" name="rect-5"/>
          <p:cNvSpPr/>
          <p:nvPr/>
        </p:nvSpPr>
        <p:spPr>
          <a:xfrm>
            <a:off x="548640" y="2029968"/>
            <a:ext cx="384048" cy="384048"/>
          </a:xfrm>
          <a:prstGeom prst="roundRect">
            <a:avLst>
              <a:gd name="adj" fmla="val 50000"/>
            </a:avLst>
          </a:prstGeom>
          <a:solidFill>
            <a:srgbClr val="1C2126"/>
          </a:solidFill>
          <a:ln/>
        </p:spPr>
      </p:sp>
      <p:sp>
        <p:nvSpPr>
          <p:cNvPr id="8" name="text-6"/>
          <p:cNvSpPr txBox="1"/>
          <p:nvPr/>
        </p:nvSpPr>
        <p:spPr>
          <a:xfrm>
            <a:off x="548640" y="2084832"/>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2</a:t>
            </a:r>
            <a:endParaRPr lang="en-US" sz="1300" dirty="0"/>
          </a:p>
        </p:txBody>
      </p:sp>
      <p:sp>
        <p:nvSpPr>
          <p:cNvPr id="9" name="text-7"/>
          <p:cNvSpPr txBox="1"/>
          <p:nvPr/>
        </p:nvSpPr>
        <p:spPr>
          <a:xfrm>
            <a:off x="1097280" y="2039112"/>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What changed</a:t>
            </a:r>
            <a:endParaRPr lang="en-US" sz="1400" dirty="0"/>
          </a:p>
        </p:txBody>
      </p:sp>
      <p:sp>
        <p:nvSpPr>
          <p:cNvPr id="10" name="text-8"/>
          <p:cNvSpPr txBox="1"/>
          <p:nvPr/>
        </p:nvSpPr>
        <p:spPr>
          <a:xfrm>
            <a:off x="3520440" y="2039112"/>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Pass rate 88.7% → 83.3% (−5.4 pp, 6.1% relative). Approvals 12.3% fewer (−2,945): 54% of that from fewer decisions, 46% from the lower rate.</a:t>
            </a:r>
            <a:endParaRPr lang="en-US" sz="1250" dirty="0"/>
          </a:p>
        </p:txBody>
      </p:sp>
      <p:sp>
        <p:nvSpPr>
          <p:cNvPr id="11" name="rect-9"/>
          <p:cNvSpPr/>
          <p:nvPr/>
        </p:nvSpPr>
        <p:spPr>
          <a:xfrm>
            <a:off x="548640" y="2697480"/>
            <a:ext cx="384048" cy="384048"/>
          </a:xfrm>
          <a:prstGeom prst="roundRect">
            <a:avLst>
              <a:gd name="adj" fmla="val 50000"/>
            </a:avLst>
          </a:prstGeom>
          <a:solidFill>
            <a:srgbClr val="1C2126"/>
          </a:solidFill>
          <a:ln/>
        </p:spPr>
      </p:sp>
      <p:sp>
        <p:nvSpPr>
          <p:cNvPr id="12" name="text-10"/>
          <p:cNvSpPr txBox="1"/>
          <p:nvPr/>
        </p:nvSpPr>
        <p:spPr>
          <a:xfrm>
            <a:off x="548640" y="2752344"/>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3</a:t>
            </a:r>
            <a:endParaRPr lang="en-US" sz="1300" dirty="0"/>
          </a:p>
        </p:txBody>
      </p:sp>
      <p:sp>
        <p:nvSpPr>
          <p:cNvPr id="13" name="text-11"/>
          <p:cNvSpPr txBox="1"/>
          <p:nvPr/>
        </p:nvSpPr>
        <p:spPr>
          <a:xfrm>
            <a:off x="1097280" y="2706624"/>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Arithmetic drivers</a:t>
            </a:r>
            <a:endParaRPr lang="en-US" sz="1400" dirty="0"/>
          </a:p>
        </p:txBody>
      </p:sp>
      <p:sp>
        <p:nvSpPr>
          <p:cNvPr id="14" name="text-12"/>
          <p:cNvSpPr txBox="1"/>
          <p:nvPr/>
        </p:nvSpPr>
        <p:spPr>
          <a:xfrm>
            <a:off x="3520440" y="2706624"/>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Fraud signals −2.05 pp, execution errors −1.62 pp, selfie / liveness −0.95 pp, no document type −0.60 pp. Face match improved (+0.36 pp).</a:t>
            </a:r>
            <a:endParaRPr lang="en-US" sz="1250" dirty="0"/>
          </a:p>
        </p:txBody>
      </p:sp>
      <p:sp>
        <p:nvSpPr>
          <p:cNvPr id="15" name="rect-13"/>
          <p:cNvSpPr/>
          <p:nvPr/>
        </p:nvSpPr>
        <p:spPr>
          <a:xfrm>
            <a:off x="548640" y="3364992"/>
            <a:ext cx="384048" cy="384048"/>
          </a:xfrm>
          <a:prstGeom prst="roundRect">
            <a:avLst>
              <a:gd name="adj" fmla="val 50000"/>
            </a:avLst>
          </a:prstGeom>
          <a:solidFill>
            <a:srgbClr val="1C2126"/>
          </a:solidFill>
          <a:ln/>
        </p:spPr>
      </p:sp>
      <p:sp>
        <p:nvSpPr>
          <p:cNvPr id="16" name="text-14"/>
          <p:cNvSpPr txBox="1"/>
          <p:nvPr/>
        </p:nvSpPr>
        <p:spPr>
          <a:xfrm>
            <a:off x="548640" y="3419856"/>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4</a:t>
            </a:r>
            <a:endParaRPr lang="en-US" sz="1300" dirty="0"/>
          </a:p>
        </p:txBody>
      </p:sp>
      <p:sp>
        <p:nvSpPr>
          <p:cNvPr id="17" name="text-15"/>
          <p:cNvSpPr txBox="1"/>
          <p:nvPr/>
        </p:nvSpPr>
        <p:spPr>
          <a:xfrm>
            <a:off x="1097280" y="3374136"/>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Still hypotheses</a:t>
            </a:r>
            <a:endParaRPr lang="en-US" sz="1400" dirty="0"/>
          </a:p>
        </p:txBody>
      </p:sp>
      <p:sp>
        <p:nvSpPr>
          <p:cNvPr id="18" name="text-16"/>
          <p:cNvSpPr txBox="1"/>
          <p:nvPr/>
        </p:nvSpPr>
        <p:spPr>
          <a:xfrm>
            <a:off x="3520440" y="3374136"/>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1,057 failures (range 1,055–1,130) sit above baseline in four date windows. Fraud signals are not adjudicated; the execution errors are unattributed; vendor incidents on Sep 1 and 6 are documented, but impact on ARQ is not.</a:t>
            </a:r>
            <a:endParaRPr lang="en-US" sz="1250" dirty="0"/>
          </a:p>
        </p:txBody>
      </p:sp>
      <p:sp>
        <p:nvSpPr>
          <p:cNvPr id="19" name="rect-17"/>
          <p:cNvSpPr/>
          <p:nvPr/>
        </p:nvSpPr>
        <p:spPr>
          <a:xfrm>
            <a:off x="548640" y="4032504"/>
            <a:ext cx="384048" cy="384048"/>
          </a:xfrm>
          <a:prstGeom prst="roundRect">
            <a:avLst>
              <a:gd name="adj" fmla="val 50000"/>
            </a:avLst>
          </a:prstGeom>
          <a:solidFill>
            <a:srgbClr val="1C2126"/>
          </a:solidFill>
          <a:ln/>
        </p:spPr>
      </p:sp>
      <p:sp>
        <p:nvSpPr>
          <p:cNvPr id="20" name="text-18"/>
          <p:cNvSpPr txBox="1"/>
          <p:nvPr/>
        </p:nvSpPr>
        <p:spPr>
          <a:xfrm>
            <a:off x="548640" y="4087368"/>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5</a:t>
            </a:r>
            <a:endParaRPr lang="en-US" sz="1300" dirty="0"/>
          </a:p>
        </p:txBody>
      </p:sp>
      <p:sp>
        <p:nvSpPr>
          <p:cNvPr id="21" name="text-19"/>
          <p:cNvSpPr txBox="1"/>
          <p:nvPr/>
        </p:nvSpPr>
        <p:spPr>
          <a:xfrm>
            <a:off x="1097280" y="4041648"/>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First (Phase 0, weeks 0–2)</a:t>
            </a:r>
            <a:endParaRPr lang="en-US" sz="1400" dirty="0"/>
          </a:p>
        </p:txBody>
      </p:sp>
      <p:sp>
        <p:nvSpPr>
          <p:cNvPr id="22" name="text-20"/>
          <p:cNvSpPr txBox="1"/>
          <p:nvPr/>
        </p:nvSpPr>
        <p:spPr>
          <a:xfrm>
            <a:off x="3520440" y="4041648"/>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Instrument the funnel and hold and retry execution errors. Alert per reason code. Reconcile control findings and adjudicate fraud samples. Diagnose Mexican "no document type" with the vendor.</a:t>
            </a:r>
            <a:endParaRPr lang="en-US" sz="1250" dirty="0"/>
          </a:p>
        </p:txBody>
      </p:sp>
      <p:sp>
        <p:nvSpPr>
          <p:cNvPr id="23" name="rect-21"/>
          <p:cNvSpPr/>
          <p:nvPr/>
        </p:nvSpPr>
        <p:spPr>
          <a:xfrm>
            <a:off x="548640" y="4700016"/>
            <a:ext cx="384048" cy="384048"/>
          </a:xfrm>
          <a:prstGeom prst="roundRect">
            <a:avLst>
              <a:gd name="adj" fmla="val 50000"/>
            </a:avLst>
          </a:prstGeom>
          <a:solidFill>
            <a:srgbClr val="1C2126"/>
          </a:solidFill>
          <a:ln/>
        </p:spPr>
      </p:sp>
      <p:sp>
        <p:nvSpPr>
          <p:cNvPr id="24" name="text-22"/>
          <p:cNvSpPr txBox="1"/>
          <p:nvPr/>
        </p:nvSpPr>
        <p:spPr>
          <a:xfrm>
            <a:off x="548640" y="4754880"/>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6</a:t>
            </a:r>
            <a:endParaRPr lang="en-US" sz="1300" dirty="0"/>
          </a:p>
        </p:txBody>
      </p:sp>
      <p:sp>
        <p:nvSpPr>
          <p:cNvPr id="25" name="text-23"/>
          <p:cNvSpPr txBox="1"/>
          <p:nvPr/>
        </p:nvSpPr>
        <p:spPr>
          <a:xfrm>
            <a:off x="1097280" y="4709160"/>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Needed</a:t>
            </a:r>
            <a:endParaRPr lang="en-US" sz="1400" dirty="0"/>
          </a:p>
        </p:txBody>
      </p:sp>
      <p:sp>
        <p:nvSpPr>
          <p:cNvPr id="26" name="text-24"/>
          <p:cNvSpPr txBox="1"/>
          <p:nvPr/>
        </p:nvSpPr>
        <p:spPr>
          <a:xfrm>
            <a:off x="3520440" y="4709160"/>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Event schema with privacy sign-off; vendor case access and incident reports; Risk and Compliance time; one medium and several small engineering items (sizes to confirm).</a:t>
            </a:r>
            <a:endParaRPr lang="en-US" sz="1250" dirty="0"/>
          </a:p>
        </p:txBody>
      </p:sp>
      <p:sp>
        <p:nvSpPr>
          <p:cNvPr id="27" name="rect-25"/>
          <p:cNvSpPr/>
          <p:nvPr/>
        </p:nvSpPr>
        <p:spPr>
          <a:xfrm>
            <a:off x="548640" y="5367528"/>
            <a:ext cx="384048" cy="384048"/>
          </a:xfrm>
          <a:prstGeom prst="roundRect">
            <a:avLst>
              <a:gd name="adj" fmla="val 50000"/>
            </a:avLst>
          </a:prstGeom>
          <a:solidFill>
            <a:srgbClr val="1C2126"/>
          </a:solidFill>
          <a:ln/>
        </p:spPr>
      </p:sp>
      <p:sp>
        <p:nvSpPr>
          <p:cNvPr id="28" name="text-26"/>
          <p:cNvSpPr txBox="1"/>
          <p:nvPr/>
        </p:nvSpPr>
        <p:spPr>
          <a:xfrm>
            <a:off x="548640" y="5422392"/>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7</a:t>
            </a:r>
            <a:endParaRPr lang="en-US" sz="1300" dirty="0"/>
          </a:p>
        </p:txBody>
      </p:sp>
      <p:sp>
        <p:nvSpPr>
          <p:cNvPr id="29" name="text-27"/>
          <p:cNvSpPr txBox="1"/>
          <p:nvPr/>
        </p:nvSpPr>
        <p:spPr>
          <a:xfrm>
            <a:off x="1097280" y="5376672"/>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Verification</a:t>
            </a:r>
            <a:endParaRPr lang="en-US" sz="1400" dirty="0"/>
          </a:p>
        </p:txBody>
      </p:sp>
      <p:sp>
        <p:nvSpPr>
          <p:cNvPr id="30" name="text-28"/>
          <p:cNvSpPr txBox="1"/>
          <p:nvPr/>
        </p:nvSpPr>
        <p:spPr>
          <a:xfrm>
            <a:off x="3520440" y="5376672"/>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Acceptance criteria per action; experiments on eventual approval per person within 7 days. Scenarios for repeated causes: +0.9 pp to +4.3 pp, not forecasts. Confirmed control gaps could cost up to 2.3 pp.</a:t>
            </a:r>
            <a:endParaRPr lang="en-US" sz="12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We can measure approval among recorded decisions, not the start-to-finish funnel</a:t>
            </a:r>
            <a:endParaRPr lang="en-US" sz="2600" dirty="0"/>
          </a:p>
        </p:txBody>
      </p:sp>
      <p:sp>
        <p:nvSpPr>
          <p:cNvPr id="3" name="rect-1"/>
          <p:cNvSpPr/>
          <p:nvPr/>
        </p:nvSpPr>
        <p:spPr>
          <a:xfrm>
            <a:off x="548640" y="1371600"/>
            <a:ext cx="3749040" cy="4434840"/>
          </a:xfrm>
          <a:prstGeom prst="roundRect">
            <a:avLst>
              <a:gd name="adj" fmla="val 1951"/>
            </a:avLst>
          </a:prstGeom>
          <a:solidFill>
            <a:srgbClr val="EEF3FA"/>
          </a:solidFill>
          <a:ln w="9525">
            <a:solidFill>
              <a:srgbClr val="D3E0F2"/>
            </a:solidFill>
            <a:prstDash val="solid"/>
          </a:ln>
        </p:spPr>
      </p:sp>
      <p:sp>
        <p:nvSpPr>
          <p:cNvPr id="4" name="text-2"/>
          <p:cNvSpPr txBox="1"/>
          <p:nvPr/>
        </p:nvSpPr>
        <p:spPr>
          <a:xfrm>
            <a:off x="777240" y="1536192"/>
            <a:ext cx="3291840" cy="4206240"/>
          </a:xfrm>
          <a:prstGeom prst="rect">
            <a:avLst/>
          </a:prstGeom>
          <a:noFill/>
          <a:ln/>
        </p:spPr>
        <p:txBody>
          <a:bodyPr wrap="square" lIns="0" tIns="0" rIns="0" bIns="0" rtlCol="0" anchor="t"/>
          <a:lstStyle/>
          <a:p>
            <a:pPr algn="l" indent="0" marL="0">
              <a:spcAft>
                <a:spcPts val="600"/>
              </a:spcAft>
              <a:buNone/>
            </a:pPr>
            <a:r>
              <a:rPr lang="en-US" sz="1400" b="1" dirty="0">
                <a:solidFill>
                  <a:srgbClr val="1C2126"/>
                </a:solidFill>
                <a:latin typeface="Arial" pitchFamily="34" charset="0"/>
                <a:ea typeface="Arial" pitchFamily="34" charset="-122"/>
                <a:cs typeface="Arial" pitchFamily="34" charset="-120"/>
              </a:rPr>
              <a:t>Headline metric</a:t>
            </a:r>
            <a:endParaRPr lang="en-US" sz="1400" dirty="0"/>
          </a:p>
          <a:p>
            <a:pPr algn="l" indent="0" marL="0">
              <a:spcAft>
                <a:spcPts val="1000"/>
              </a:spcAft>
              <a:buNone/>
            </a:pPr>
            <a:r>
              <a:rPr lang="en-US" sz="1400" dirty="0">
                <a:solidFill>
                  <a:srgbClr val="1C2126"/>
                </a:solidFill>
                <a:latin typeface="Arial" pitchFamily="34" charset="0"/>
                <a:ea typeface="Arial" pitchFamily="34" charset="-122"/>
                <a:cs typeface="Arial" pitchFamily="34" charset="-120"/>
              </a:rPr>
              <a:t>Approval rate = approved (PASSED or APPROVED) ÷ recorded decisions.</a:t>
            </a:r>
            <a:endParaRPr lang="en-US" sz="1400" dirty="0"/>
          </a:p>
          <a:p>
            <a:pPr algn="l" indent="0" marL="0">
              <a:spcAft>
                <a:spcPts val="1000"/>
              </a:spcAft>
              <a:buNone/>
            </a:pPr>
            <a:r>
              <a:rPr lang="en-US" sz="1400" dirty="0">
                <a:solidFill>
                  <a:srgbClr val="1C2126"/>
                </a:solidFill>
                <a:latin typeface="Arial" pitchFamily="34" charset="0"/>
                <a:ea typeface="Arial" pitchFamily="34" charset="-122"/>
                <a:cs typeface="Arial" pitchFamily="34" charset="-120"/>
              </a:rPr>
              <a:t>Prior period 88.7%, recent 83.3%.</a:t>
            </a:r>
            <a:endParaRPr lang="en-US" sz="1400" dirty="0"/>
          </a:p>
          <a:p>
            <a:pPr algn="l" indent="0" marL="0">
              <a:spcAft>
                <a:spcPts val="1000"/>
              </a:spcAft>
              <a:buNone/>
            </a:pPr>
            <a:r>
              <a:rPr lang="en-US" sz="1200" dirty="0">
                <a:solidFill>
                  <a:srgbClr val="59636D"/>
                </a:solidFill>
                <a:latin typeface="Arial" pitchFamily="34" charset="0"/>
                <a:ea typeface="Arial" pitchFamily="34" charset="-122"/>
                <a:cs typeface="Arial" pitchFamily="34" charset="-120"/>
              </a:rPr>
              <a:t>WARNING counts as not approved and not as a confirmed rejection. Its later review outcome is not in the data.</a:t>
            </a:r>
            <a:endParaRPr lang="en-US" sz="1400" dirty="0"/>
          </a:p>
          <a:p>
            <a:pPr algn="l" indent="0" marL="0">
              <a:buNone/>
            </a:pPr>
            <a:r>
              <a:rPr lang="en-US" sz="1200" dirty="0">
                <a:solidFill>
                  <a:srgbClr val="59636D"/>
                </a:solidFill>
                <a:latin typeface="Arial" pitchFamily="34" charset="0"/>
                <a:ea typeface="Arial" pitchFamily="34" charset="-122"/>
                <a:cs typeface="Arial" pitchFamily="34" charset="-120"/>
              </a:rPr>
              <a:t>Each record is one user; the extract does not say whether it is a first, latest or final attempt, nor what event its date marks.</a:t>
            </a:r>
            <a:endParaRPr lang="en-US" sz="1400" dirty="0"/>
          </a:p>
        </p:txBody>
      </p:sp>
      <p:graphicFrame>
        <p:nvGraphicFramePr>
          <p:cNvPr id="5" name="table-3"/>
          <p:cNvGraphicFramePr>
            <a:graphicFrameLocks noGrp="1"/>
          </p:cNvGraphicFramePr>
          <p:nvPr>
            <p:extLst>
              <p:ext uri="{D42A27DB-BD31-4B8C-83A1-F6EECF244321}">
                <p14:modId xmlns:p14="http://schemas.microsoft.com/office/powerpoint/2010/main" val="1579011935"/>
              </p:ext>
            </p:extLst>
          </p:nvPr>
        </p:nvGraphicFramePr>
        <p:xfrm>
          <a:off x="4572000" y="1371600"/>
          <a:ext cx="4206240" cy="914400"/>
        </p:xfrm>
        <a:graphic>
          <a:graphicData uri="http://schemas.openxmlformats.org/drawingml/2006/table">
            <a:tbl>
              <a:tblPr/>
              <a:tblGrid>
                <a:gridCol w="1920240"/>
                <a:gridCol w="914400"/>
                <a:gridCol w="685800"/>
                <a:gridCol w="685800"/>
              </a:tblGrid>
              <a:tr h="0">
                <a:tc>
                  <a:txBody>
                    <a:bodyPr/>
                    <a:lstStyle/>
                    <a:p>
                      <a:pPr indent="0" marL="0">
                        <a:buNone/>
                      </a:pPr>
                      <a:r>
                        <a:rPr lang="en-US" sz="1100" b="1" dirty="0">
                          <a:solidFill>
                            <a:srgbClr val="59636D"/>
                          </a:solidFill>
                          <a:latin typeface="Arial" pitchFamily="34" charset="0"/>
                          <a:ea typeface="Arial" pitchFamily="34" charset="-122"/>
                          <a:cs typeface="Arial" pitchFamily="34" charset="-120"/>
                        </a:rPr>
                        <a:t>Metric</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Status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Prior</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Recent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Approval rate among recorded decisions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1C2126"/>
                          </a:solidFill>
                          <a:latin typeface="Arial" pitchFamily="34" charset="0"/>
                          <a:ea typeface="Arial" pitchFamily="34" charset="-122"/>
                          <a:cs typeface="Arial" pitchFamily="34" charset="-120"/>
                        </a:rPr>
                        <a:t>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88.7%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83.3%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Unresolved warning rate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1C2126"/>
                          </a:solidFill>
                          <a:latin typeface="Arial" pitchFamily="34" charset="0"/>
                          <a:ea typeface="Arial" pitchFamily="34" charset="-122"/>
                          <a:cs typeface="Arial" pitchFamily="34" charset="-120"/>
                        </a:rPr>
                        <a:t>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0.7%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Completion rate (start to terminal state)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Eventual approval within 7 days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Abandonment rate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Retry rate and retry approval</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Manual-review outcomes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Time to completion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6" name="text-4"/>
          <p:cNvSpPr txBox="1"/>
          <p:nvPr/>
        </p:nvSpPr>
        <p:spPr>
          <a:xfrm>
            <a:off x="9052560" y="1371600"/>
            <a:ext cx="2606040" cy="4480560"/>
          </a:xfrm>
          <a:prstGeom prst="rect">
            <a:avLst/>
          </a:prstGeom>
          <a:noFill/>
          <a:ln/>
        </p:spPr>
        <p:txBody>
          <a:bodyPr wrap="square" lIns="0" tIns="0" rIns="0" bIns="0" rtlCol="0" anchor="t"/>
          <a:lstStyle/>
          <a:p>
            <a:pPr algn="l" indent="0" marL="0">
              <a:spcAft>
                <a:spcPts val="600"/>
              </a:spcAft>
              <a:buNone/>
            </a:pPr>
            <a:r>
              <a:rPr lang="en-US" sz="1300" b="1" dirty="0">
                <a:solidFill>
                  <a:srgbClr val="1C2126"/>
                </a:solidFill>
                <a:latin typeface="Arial" pitchFamily="34" charset="0"/>
                <a:ea typeface="Arial" pitchFamily="34" charset="-122"/>
                <a:cs typeface="Arial" pitchFamily="34" charset="-120"/>
              </a:rPr>
              <a:t>To measure the funnel, log</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kyc_started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document_selected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document_captured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selfie_captured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kyc_submitted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vendor_result</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kyc_decided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review_completed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account_enabled</a:t>
            </a:r>
            <a:endParaRPr lang="en-US" sz="1300" dirty="0"/>
          </a:p>
          <a:p>
            <a:pPr algn="l" indent="0" marL="0">
              <a:buNone/>
            </a:pPr>
            <a:r>
              <a:rPr lang="en-US" sz="1150" dirty="0">
                <a:solidFill>
                  <a:srgbClr val="59636D"/>
                </a:solidFill>
                <a:latin typeface="Arial" pitchFamily="34" charset="0"/>
                <a:ea typeface="Arial" pitchFamily="34" charset="-122"/>
                <a:cs typeface="Arial" pitchFamily="34" charset="-120"/>
              </a:rPr>
              <a:t>with person, session and attempt ids, timestamps and app/SDK version.</a:t>
            </a:r>
            <a:endParaRPr lang="en-US" sz="1300" dirty="0"/>
          </a:p>
        </p:txBody>
      </p:sp>
      <p:sp>
        <p:nvSpPr>
          <p:cNvPr id="7" name="text-5"/>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Do not read the approval rate as completion. People who never submit, and approvals after retry or review, are not visible here. Whether true completion is lower or higher cannot be determined from these extracts.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Nine assumptions, and what changes if each one is wrong</a:t>
            </a:r>
            <a:endParaRPr lang="en-US" sz="2600" dirty="0"/>
          </a:p>
        </p:txBody>
      </p:sp>
      <p:graphicFrame>
        <p:nvGraphicFramePr>
          <p:cNvPr id="6"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828800"/>
                <a:gridCol w="4480560"/>
                <a:gridCol w="4782312"/>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Area</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We assume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If it is wrong</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b="1" dirty="0">
                          <a:solidFill>
                            <a:srgbClr val="1C2126"/>
                          </a:solidFill>
                          <a:latin typeface="Arial" pitchFamily="34" charset="0"/>
                          <a:ea typeface="Arial" pitchFamily="34" charset="-122"/>
                          <a:cs typeface="Arial" pitchFamily="34" charset="-120"/>
                        </a:rPr>
                        <a:t>The metric</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The pass rate is approval among recorded decisions: PASSED or APPROVED, divided by all recorded decisions.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If the team means start-to-finish completion, the Phase 0 events must exist first. The true completion rate can be higher or lower.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C2126"/>
                          </a:solidFill>
                          <a:latin typeface="Arial" pitchFamily="34" charset="0"/>
                          <a:ea typeface="Arial" pitchFamily="34" charset="-122"/>
                          <a:cs typeface="Arial" pitchFamily="34" charset="-120"/>
                        </a:rPr>
                        <a:t>Records and dates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Each record is one person's final decision, on the date in the extract. Country is the country that issued the document.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If records are first attempts, retries can approve some people later, so eventual approval is higher. Recent cases can still change.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C2126"/>
                          </a:solidFill>
                          <a:latin typeface="Arial" pitchFamily="34" charset="0"/>
                          <a:ea typeface="Arial" pitchFamily="34" charset="-122"/>
                          <a:cs typeface="Arial" pitchFamily="34" charset="-120"/>
                        </a:rPr>
                        <a:t>Warnings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WARNING counts as not approved. It is not a confirmed rejection, because the review outcome is not in the data.</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If reviewers approve every warning, both rates increase (0.72 and 1.12 points) and the fall is 0.40 points smaller.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C2126"/>
                          </a:solidFill>
                          <a:latin typeface="Arial" pitchFamily="34" charset="0"/>
                          <a:ea typeface="Arial" pitchFamily="34" charset="-122"/>
                          <a:cs typeface="Arial" pitchFamily="34" charset="-120"/>
                        </a:rPr>
                        <a:t>One primary reason</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Each unsuccessful decision has one primary reason, in check order. TECHNICAL_ERROR comes first.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A fix for the primary reason does not always give an approval: 298 recent decisions failed two or more checks.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C2126"/>
                          </a:solidFill>
                          <a:latin typeface="Arial" pitchFamily="34" charset="0"/>
                          <a:ea typeface="Arial" pitchFamily="34" charset="-122"/>
                          <a:cs typeface="Arial" pitchFamily="34" charset="-120"/>
                        </a:rPr>
                        <a:t>The baseline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The prior period is the normal level. An incident window counts only the failures above the prior-period rate.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If the prior period was unusually good, the windows explain less. The sensitivity checks give 1,055–1,130 failures above baseline.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C2126"/>
                          </a:solidFill>
                          <a:latin typeface="Arial" pitchFamily="34" charset="0"/>
                          <a:ea typeface="Arial" pitchFamily="34" charset="-122"/>
                          <a:cs typeface="Arial" pitchFamily="34" charset="-120"/>
                        </a:rPr>
                        <a:t>Fraud and vendor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Fraud labels are signals, not confirmed fraud. The vendor incidents are documented, but their effect on ARQ is not confirmed.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If the signals are real fraud, those rejections are correct and the gain is smaller. If the vendor had no effect, the failures need another cause.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C2126"/>
                          </a:solidFill>
                          <a:latin typeface="Arial" pitchFamily="34" charset="0"/>
                          <a:ea typeface="Arial" pitchFamily="34" charset="-122"/>
                          <a:cs typeface="Arial" pitchFamily="34" charset="-120"/>
                        </a:rPr>
                        <a:t>Recovery scenarios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The populations are observed. The recovery factors (reach, return and remediation) are assumptions.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The gain can be anywhere from +0.9 to +4.3 points, or outside that range. The experiments measure it.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C2126"/>
                          </a:solidFill>
                          <a:latin typeface="Arial" pitchFamily="34" charset="0"/>
                          <a:ea typeface="Arial" pitchFamily="34" charset="-122"/>
                          <a:cs typeface="Arial" pitchFamily="34" charset="-120"/>
                        </a:rPr>
                        <a:t>Money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Money values come from market benchmarks, not from ARQ's contracts or finance data.</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Replace them with ARQ's values before a decision. With the Cautious values, the actions do not pay back in the first year.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C2126"/>
                          </a:solidFill>
                          <a:latin typeface="Arial" pitchFamily="34" charset="0"/>
                          <a:ea typeface="Arial" pitchFamily="34" charset="-122"/>
                          <a:cs typeface="Arial" pitchFamily="34" charset="-120"/>
                        </a:rPr>
                        <a:t>Owners and effort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Owners are roles, not people. Effort sizes are estimates.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Confirm the owners and the sizes with the team in Phase 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The same list is in the methodology note (section 10) and on the website, on the Reference page under Details.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Approval fell from 88.7% to 83.3%: 2,945 fewer approvals</a:t>
            </a:r>
            <a:endParaRPr lang="en-US" sz="2600" dirty="0"/>
          </a:p>
        </p:txBody>
      </p:sp>
      <p:sp>
        <p:nvSpPr>
          <p:cNvPr id="3" name="rect-1"/>
          <p:cNvSpPr/>
          <p:nvPr/>
        </p:nvSpPr>
        <p:spPr>
          <a:xfrm>
            <a:off x="548640" y="1371600"/>
            <a:ext cx="3566160" cy="1234440"/>
          </a:xfrm>
          <a:prstGeom prst="roundRect">
            <a:avLst>
              <a:gd name="adj" fmla="val 5926"/>
            </a:avLst>
          </a:prstGeom>
          <a:solidFill>
            <a:srgbClr val="FFFFFF"/>
          </a:solidFill>
          <a:ln w="9525">
            <a:solidFill>
              <a:srgbClr val="DFE3E7"/>
            </a:solidFill>
            <a:prstDash val="solid"/>
          </a:ln>
        </p:spPr>
      </p:sp>
      <p:sp>
        <p:nvSpPr>
          <p:cNvPr id="4" name="text-2"/>
          <p:cNvSpPr txBox="1"/>
          <p:nvPr/>
        </p:nvSpPr>
        <p:spPr>
          <a:xfrm>
            <a:off x="731520" y="1499616"/>
            <a:ext cx="3200400" cy="566928"/>
          </a:xfrm>
          <a:prstGeom prst="rect">
            <a:avLst/>
          </a:prstGeom>
          <a:noFill/>
          <a:ln/>
        </p:spPr>
        <p:txBody>
          <a:bodyPr wrap="square" lIns="0" tIns="0" rIns="0" bIns="0" rtlCol="0" anchor="t"/>
          <a:lstStyle/>
          <a:p>
            <a:pPr algn="l" indent="0" marL="0">
              <a:buNone/>
            </a:pPr>
            <a:r>
              <a:rPr lang="en-US" sz="2800" dirty="0">
                <a:solidFill>
                  <a:srgbClr val="1C2126"/>
                </a:solidFill>
                <a:latin typeface="Georgia" pitchFamily="34" charset="0"/>
                <a:ea typeface="Georgia" pitchFamily="34" charset="-122"/>
                <a:cs typeface="Georgia" pitchFamily="34" charset="-120"/>
              </a:rPr>
              <a:t>88.7% → 83.3%</a:t>
            </a:r>
            <a:endParaRPr lang="en-US" sz="2800" dirty="0"/>
          </a:p>
        </p:txBody>
      </p:sp>
      <p:sp>
        <p:nvSpPr>
          <p:cNvPr id="5" name="text-3"/>
          <p:cNvSpPr txBox="1"/>
          <p:nvPr/>
        </p:nvSpPr>
        <p:spPr>
          <a:xfrm>
            <a:off x="731520" y="2103120"/>
            <a:ext cx="3200400"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Approval among recorded decisions, prior → recent period (−5.4 pp)</a:t>
            </a:r>
            <a:endParaRPr lang="en-US" sz="1150" dirty="0"/>
          </a:p>
        </p:txBody>
      </p:sp>
      <p:sp>
        <p:nvSpPr>
          <p:cNvPr id="6" name="rect-4"/>
          <p:cNvSpPr/>
          <p:nvPr/>
        </p:nvSpPr>
        <p:spPr>
          <a:xfrm>
            <a:off x="548640" y="2743200"/>
            <a:ext cx="3566160" cy="1234440"/>
          </a:xfrm>
          <a:prstGeom prst="roundRect">
            <a:avLst>
              <a:gd name="adj" fmla="val 5926"/>
            </a:avLst>
          </a:prstGeom>
          <a:solidFill>
            <a:srgbClr val="FFFFFF"/>
          </a:solidFill>
          <a:ln w="9525">
            <a:solidFill>
              <a:srgbClr val="DFE3E7"/>
            </a:solidFill>
            <a:prstDash val="solid"/>
          </a:ln>
        </p:spPr>
      </p:sp>
      <p:sp>
        <p:nvSpPr>
          <p:cNvPr id="7" name="text-5"/>
          <p:cNvSpPr txBox="1"/>
          <p:nvPr/>
        </p:nvSpPr>
        <p:spPr>
          <a:xfrm>
            <a:off x="731520" y="2871216"/>
            <a:ext cx="3200400" cy="566928"/>
          </a:xfrm>
          <a:prstGeom prst="rect">
            <a:avLst/>
          </a:prstGeom>
          <a:noFill/>
          <a:ln/>
        </p:spPr>
        <p:txBody>
          <a:bodyPr wrap="square" lIns="0" tIns="0" rIns="0" bIns="0" rtlCol="0" anchor="t"/>
          <a:lstStyle/>
          <a:p>
            <a:pPr algn="l" indent="0" marL="0">
              <a:buNone/>
            </a:pPr>
            <a:r>
              <a:rPr lang="en-US" sz="2800" dirty="0">
                <a:solidFill>
                  <a:srgbClr val="1C2126"/>
                </a:solidFill>
                <a:latin typeface="Georgia" pitchFamily="34" charset="0"/>
                <a:ea typeface="Georgia" pitchFamily="34" charset="-122"/>
                <a:cs typeface="Georgia" pitchFamily="34" charset="-120"/>
              </a:rPr>
              <a:t>−2,945</a:t>
            </a:r>
            <a:endParaRPr lang="en-US" sz="2800" dirty="0"/>
          </a:p>
        </p:txBody>
      </p:sp>
      <p:sp>
        <p:nvSpPr>
          <p:cNvPr id="8" name="text-6"/>
          <p:cNvSpPr txBox="1"/>
          <p:nvPr/>
        </p:nvSpPr>
        <p:spPr>
          <a:xfrm>
            <a:off x="731520" y="3474720"/>
            <a:ext cx="3200400"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Approvals: −1,587 from fewer decisions at the prior rate, −1,358 from the lower rate</a:t>
            </a:r>
            <a:endParaRPr lang="en-US" sz="1150" dirty="0"/>
          </a:p>
        </p:txBody>
      </p:sp>
      <p:sp>
        <p:nvSpPr>
          <p:cNvPr id="9" name="rect-7"/>
          <p:cNvSpPr/>
          <p:nvPr/>
        </p:nvSpPr>
        <p:spPr>
          <a:xfrm>
            <a:off x="548640" y="4114800"/>
            <a:ext cx="1719072" cy="1234440"/>
          </a:xfrm>
          <a:prstGeom prst="roundRect">
            <a:avLst>
              <a:gd name="adj" fmla="val 5926"/>
            </a:avLst>
          </a:prstGeom>
          <a:solidFill>
            <a:srgbClr val="FFFFFF"/>
          </a:solidFill>
          <a:ln w="9525">
            <a:solidFill>
              <a:srgbClr val="DFE3E7"/>
            </a:solidFill>
            <a:prstDash val="solid"/>
          </a:ln>
        </p:spPr>
      </p:sp>
      <p:sp>
        <p:nvSpPr>
          <p:cNvPr id="10" name="text-8"/>
          <p:cNvSpPr txBox="1"/>
          <p:nvPr/>
        </p:nvSpPr>
        <p:spPr>
          <a:xfrm>
            <a:off x="731520" y="4242816"/>
            <a:ext cx="1353312" cy="566928"/>
          </a:xfrm>
          <a:prstGeom prst="rect">
            <a:avLst/>
          </a:prstGeom>
          <a:noFill/>
          <a:ln/>
        </p:spPr>
        <p:txBody>
          <a:bodyPr wrap="square" lIns="0" tIns="0" rIns="0" bIns="0" rtlCol="0" anchor="t"/>
          <a:lstStyle/>
          <a:p>
            <a:pPr algn="l" indent="0" marL="0">
              <a:buNone/>
            </a:pPr>
            <a:r>
              <a:rPr lang="en-US" sz="2400" dirty="0">
                <a:solidFill>
                  <a:srgbClr val="1C2126"/>
                </a:solidFill>
                <a:latin typeface="Georgia" pitchFamily="34" charset="0"/>
                <a:ea typeface="Georgia" pitchFamily="34" charset="-122"/>
                <a:cs typeface="Georgia" pitchFamily="34" charset="-120"/>
              </a:rPr>
              <a:t>78.8%</a:t>
            </a:r>
            <a:endParaRPr lang="en-US" sz="2400" dirty="0"/>
          </a:p>
        </p:txBody>
      </p:sp>
      <p:sp>
        <p:nvSpPr>
          <p:cNvPr id="11" name="text-9"/>
          <p:cNvSpPr txBox="1"/>
          <p:nvPr/>
        </p:nvSpPr>
        <p:spPr>
          <a:xfrm>
            <a:off x="731520" y="4846320"/>
            <a:ext cx="1353312"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Mexican documents (was 84.1%)</a:t>
            </a:r>
            <a:endParaRPr lang="en-US" sz="1150" dirty="0"/>
          </a:p>
        </p:txBody>
      </p:sp>
      <p:sp>
        <p:nvSpPr>
          <p:cNvPr id="12" name="rect-10"/>
          <p:cNvSpPr/>
          <p:nvPr/>
        </p:nvSpPr>
        <p:spPr>
          <a:xfrm>
            <a:off x="2395728" y="4114800"/>
            <a:ext cx="1719072" cy="1234440"/>
          </a:xfrm>
          <a:prstGeom prst="roundRect">
            <a:avLst>
              <a:gd name="adj" fmla="val 5926"/>
            </a:avLst>
          </a:prstGeom>
          <a:solidFill>
            <a:srgbClr val="FFFFFF"/>
          </a:solidFill>
          <a:ln w="9525">
            <a:solidFill>
              <a:srgbClr val="DFE3E7"/>
            </a:solidFill>
            <a:prstDash val="solid"/>
          </a:ln>
        </p:spPr>
      </p:sp>
      <p:sp>
        <p:nvSpPr>
          <p:cNvPr id="13" name="text-11"/>
          <p:cNvSpPr txBox="1"/>
          <p:nvPr/>
        </p:nvSpPr>
        <p:spPr>
          <a:xfrm>
            <a:off x="2578608" y="4242816"/>
            <a:ext cx="1353312" cy="566928"/>
          </a:xfrm>
          <a:prstGeom prst="rect">
            <a:avLst/>
          </a:prstGeom>
          <a:noFill/>
          <a:ln/>
        </p:spPr>
        <p:txBody>
          <a:bodyPr wrap="square" lIns="0" tIns="0" rIns="0" bIns="0" rtlCol="0" anchor="t"/>
          <a:lstStyle/>
          <a:p>
            <a:pPr algn="l" indent="0" marL="0">
              <a:buNone/>
            </a:pPr>
            <a:r>
              <a:rPr lang="en-US" sz="2400" dirty="0">
                <a:solidFill>
                  <a:srgbClr val="1C2126"/>
                </a:solidFill>
                <a:latin typeface="Georgia" pitchFamily="34" charset="0"/>
                <a:ea typeface="Georgia" pitchFamily="34" charset="-122"/>
                <a:cs typeface="Georgia" pitchFamily="34" charset="-120"/>
              </a:rPr>
              <a:t>89.1%</a:t>
            </a:r>
            <a:endParaRPr lang="en-US" sz="2400" dirty="0"/>
          </a:p>
        </p:txBody>
      </p:sp>
      <p:sp>
        <p:nvSpPr>
          <p:cNvPr id="14" name="text-12"/>
          <p:cNvSpPr txBox="1"/>
          <p:nvPr/>
        </p:nvSpPr>
        <p:spPr>
          <a:xfrm>
            <a:off x="2578608" y="4846320"/>
            <a:ext cx="1353312"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Argentine documents (was 94.9%)</a:t>
            </a:r>
            <a:endParaRPr lang="en-US" sz="1150" dirty="0"/>
          </a:p>
        </p:txBody>
      </p:sp>
      <p:sp>
        <p:nvSpPr>
          <p:cNvPr id="15" name="text-13"/>
          <p:cNvSpPr txBox="1"/>
          <p:nvPr/>
        </p:nvSpPr>
        <p:spPr>
          <a:xfrm>
            <a:off x="4480560" y="1371600"/>
            <a:ext cx="7162495" cy="27432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Daily approval rate, all documents (red = incident window days)</a:t>
            </a:r>
            <a:endParaRPr lang="en-US" sz="1150" dirty="0"/>
          </a:p>
        </p:txBody>
      </p:sp>
      <p:sp>
        <p:nvSpPr>
          <p:cNvPr id="16" name="line-14"/>
          <p:cNvSpPr/>
          <p:nvPr/>
        </p:nvSpPr>
        <p:spPr>
          <a:xfrm>
            <a:off x="4892040" y="5257800"/>
            <a:ext cx="6751015" cy="0"/>
          </a:xfrm>
          <a:prstGeom prst="line">
            <a:avLst/>
          </a:prstGeom>
          <a:noFill/>
          <a:ln w="9525">
            <a:solidFill>
              <a:srgbClr val="DFE3E7"/>
            </a:solidFill>
            <a:prstDash val="solid"/>
          </a:ln>
        </p:spPr>
      </p:sp>
      <p:sp>
        <p:nvSpPr>
          <p:cNvPr id="17" name="text-15"/>
          <p:cNvSpPr txBox="1"/>
          <p:nvPr/>
        </p:nvSpPr>
        <p:spPr>
          <a:xfrm>
            <a:off x="4480560" y="516636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40%</a:t>
            </a:r>
            <a:endParaRPr lang="en-US" sz="950" dirty="0"/>
          </a:p>
        </p:txBody>
      </p:sp>
      <p:sp>
        <p:nvSpPr>
          <p:cNvPr id="18" name="line-16"/>
          <p:cNvSpPr/>
          <p:nvPr/>
        </p:nvSpPr>
        <p:spPr>
          <a:xfrm>
            <a:off x="4892040" y="4206240"/>
            <a:ext cx="6751015" cy="0"/>
          </a:xfrm>
          <a:prstGeom prst="line">
            <a:avLst/>
          </a:prstGeom>
          <a:noFill/>
          <a:ln w="9525">
            <a:solidFill>
              <a:srgbClr val="DFE3E7"/>
            </a:solidFill>
            <a:prstDash val="solid"/>
          </a:ln>
        </p:spPr>
      </p:sp>
      <p:sp>
        <p:nvSpPr>
          <p:cNvPr id="19" name="text-17"/>
          <p:cNvSpPr txBox="1"/>
          <p:nvPr/>
        </p:nvSpPr>
        <p:spPr>
          <a:xfrm>
            <a:off x="4480560" y="411480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60%</a:t>
            </a:r>
            <a:endParaRPr lang="en-US" sz="950" dirty="0"/>
          </a:p>
        </p:txBody>
      </p:sp>
      <p:sp>
        <p:nvSpPr>
          <p:cNvPr id="20" name="line-18"/>
          <p:cNvSpPr/>
          <p:nvPr/>
        </p:nvSpPr>
        <p:spPr>
          <a:xfrm>
            <a:off x="4892040" y="3154680"/>
            <a:ext cx="6751015" cy="0"/>
          </a:xfrm>
          <a:prstGeom prst="line">
            <a:avLst/>
          </a:prstGeom>
          <a:noFill/>
          <a:ln w="9525">
            <a:solidFill>
              <a:srgbClr val="DFE3E7"/>
            </a:solidFill>
            <a:prstDash val="solid"/>
          </a:ln>
        </p:spPr>
      </p:sp>
      <p:sp>
        <p:nvSpPr>
          <p:cNvPr id="21" name="text-19"/>
          <p:cNvSpPr txBox="1"/>
          <p:nvPr/>
        </p:nvSpPr>
        <p:spPr>
          <a:xfrm>
            <a:off x="4480560" y="306324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80%</a:t>
            </a:r>
            <a:endParaRPr lang="en-US" sz="950" dirty="0"/>
          </a:p>
        </p:txBody>
      </p:sp>
      <p:sp>
        <p:nvSpPr>
          <p:cNvPr id="22" name="line-20"/>
          <p:cNvSpPr/>
          <p:nvPr/>
        </p:nvSpPr>
        <p:spPr>
          <a:xfrm>
            <a:off x="4892040" y="2103120"/>
            <a:ext cx="6751015" cy="0"/>
          </a:xfrm>
          <a:prstGeom prst="line">
            <a:avLst/>
          </a:prstGeom>
          <a:noFill/>
          <a:ln w="9525">
            <a:solidFill>
              <a:srgbClr val="DFE3E7"/>
            </a:solidFill>
            <a:prstDash val="solid"/>
          </a:ln>
        </p:spPr>
      </p:sp>
      <p:sp>
        <p:nvSpPr>
          <p:cNvPr id="23" name="text-21"/>
          <p:cNvSpPr txBox="1"/>
          <p:nvPr/>
        </p:nvSpPr>
        <p:spPr>
          <a:xfrm>
            <a:off x="4480560" y="201168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100%</a:t>
            </a:r>
            <a:endParaRPr lang="en-US" sz="950" dirty="0"/>
          </a:p>
        </p:txBody>
      </p:sp>
      <p:sp>
        <p:nvSpPr>
          <p:cNvPr id="24" name="rect-22"/>
          <p:cNvSpPr/>
          <p:nvPr/>
        </p:nvSpPr>
        <p:spPr>
          <a:xfrm>
            <a:off x="4937760" y="2687262"/>
            <a:ext cx="80464" cy="2570538"/>
          </a:xfrm>
          <a:prstGeom prst="rect">
            <a:avLst/>
          </a:prstGeom>
          <a:solidFill>
            <a:srgbClr val="2F6DB3"/>
          </a:solidFill>
          <a:ln/>
        </p:spPr>
      </p:sp>
      <p:sp>
        <p:nvSpPr>
          <p:cNvPr id="25" name="rect-23"/>
          <p:cNvSpPr/>
          <p:nvPr/>
        </p:nvSpPr>
        <p:spPr>
          <a:xfrm>
            <a:off x="5049515" y="2568961"/>
            <a:ext cx="80464" cy="2688839"/>
          </a:xfrm>
          <a:prstGeom prst="rect">
            <a:avLst/>
          </a:prstGeom>
          <a:solidFill>
            <a:srgbClr val="2F6DB3"/>
          </a:solidFill>
          <a:ln/>
        </p:spPr>
      </p:sp>
      <p:sp>
        <p:nvSpPr>
          <p:cNvPr id="26" name="rect-24"/>
          <p:cNvSpPr/>
          <p:nvPr/>
        </p:nvSpPr>
        <p:spPr>
          <a:xfrm>
            <a:off x="5161270" y="2629952"/>
            <a:ext cx="80464" cy="2627848"/>
          </a:xfrm>
          <a:prstGeom prst="rect">
            <a:avLst/>
          </a:prstGeom>
          <a:solidFill>
            <a:srgbClr val="2F6DB3"/>
          </a:solidFill>
          <a:ln/>
        </p:spPr>
      </p:sp>
      <p:sp>
        <p:nvSpPr>
          <p:cNvPr id="27" name="rect-25"/>
          <p:cNvSpPr/>
          <p:nvPr/>
        </p:nvSpPr>
        <p:spPr>
          <a:xfrm>
            <a:off x="5273025" y="2888110"/>
            <a:ext cx="80464" cy="2369690"/>
          </a:xfrm>
          <a:prstGeom prst="rect">
            <a:avLst/>
          </a:prstGeom>
          <a:solidFill>
            <a:srgbClr val="2F6DB3"/>
          </a:solidFill>
          <a:ln/>
        </p:spPr>
      </p:sp>
      <p:sp>
        <p:nvSpPr>
          <p:cNvPr id="28" name="rect-26"/>
          <p:cNvSpPr/>
          <p:nvPr/>
        </p:nvSpPr>
        <p:spPr>
          <a:xfrm>
            <a:off x="5384780" y="2805036"/>
            <a:ext cx="80464" cy="2452764"/>
          </a:xfrm>
          <a:prstGeom prst="rect">
            <a:avLst/>
          </a:prstGeom>
          <a:solidFill>
            <a:srgbClr val="2F6DB3"/>
          </a:solidFill>
          <a:ln/>
        </p:spPr>
      </p:sp>
      <p:sp>
        <p:nvSpPr>
          <p:cNvPr id="29" name="rect-27"/>
          <p:cNvSpPr/>
          <p:nvPr/>
        </p:nvSpPr>
        <p:spPr>
          <a:xfrm>
            <a:off x="5496535" y="2715654"/>
            <a:ext cx="80464" cy="2542146"/>
          </a:xfrm>
          <a:prstGeom prst="rect">
            <a:avLst/>
          </a:prstGeom>
          <a:solidFill>
            <a:srgbClr val="2F6DB3"/>
          </a:solidFill>
          <a:ln/>
        </p:spPr>
      </p:sp>
      <p:sp>
        <p:nvSpPr>
          <p:cNvPr id="30" name="rect-28"/>
          <p:cNvSpPr/>
          <p:nvPr/>
        </p:nvSpPr>
        <p:spPr>
          <a:xfrm>
            <a:off x="5608290" y="2708293"/>
            <a:ext cx="80464" cy="2549507"/>
          </a:xfrm>
          <a:prstGeom prst="rect">
            <a:avLst/>
          </a:prstGeom>
          <a:solidFill>
            <a:srgbClr val="2F6DB3"/>
          </a:solidFill>
          <a:ln/>
        </p:spPr>
      </p:sp>
      <p:sp>
        <p:nvSpPr>
          <p:cNvPr id="31" name="rect-29"/>
          <p:cNvSpPr/>
          <p:nvPr/>
        </p:nvSpPr>
        <p:spPr>
          <a:xfrm>
            <a:off x="5720044" y="2576848"/>
            <a:ext cx="80464" cy="2680952"/>
          </a:xfrm>
          <a:prstGeom prst="rect">
            <a:avLst/>
          </a:prstGeom>
          <a:solidFill>
            <a:srgbClr val="2F6DB3"/>
          </a:solidFill>
          <a:ln/>
        </p:spPr>
      </p:sp>
      <p:sp>
        <p:nvSpPr>
          <p:cNvPr id="32" name="rect-30"/>
          <p:cNvSpPr/>
          <p:nvPr/>
        </p:nvSpPr>
        <p:spPr>
          <a:xfrm>
            <a:off x="5831799" y="2737211"/>
            <a:ext cx="80464" cy="2520589"/>
          </a:xfrm>
          <a:prstGeom prst="rect">
            <a:avLst/>
          </a:prstGeom>
          <a:solidFill>
            <a:srgbClr val="2F6DB3"/>
          </a:solidFill>
          <a:ln/>
        </p:spPr>
      </p:sp>
      <p:sp>
        <p:nvSpPr>
          <p:cNvPr id="33" name="rect-31"/>
          <p:cNvSpPr/>
          <p:nvPr/>
        </p:nvSpPr>
        <p:spPr>
          <a:xfrm>
            <a:off x="5943554" y="2740365"/>
            <a:ext cx="80464" cy="2517435"/>
          </a:xfrm>
          <a:prstGeom prst="rect">
            <a:avLst/>
          </a:prstGeom>
          <a:solidFill>
            <a:srgbClr val="2F6DB3"/>
          </a:solidFill>
          <a:ln/>
        </p:spPr>
      </p:sp>
      <p:sp>
        <p:nvSpPr>
          <p:cNvPr id="34" name="rect-32"/>
          <p:cNvSpPr/>
          <p:nvPr/>
        </p:nvSpPr>
        <p:spPr>
          <a:xfrm>
            <a:off x="6055309" y="2815026"/>
            <a:ext cx="80464" cy="2442774"/>
          </a:xfrm>
          <a:prstGeom prst="rect">
            <a:avLst/>
          </a:prstGeom>
          <a:solidFill>
            <a:srgbClr val="2F6DB3"/>
          </a:solidFill>
          <a:ln/>
        </p:spPr>
      </p:sp>
      <p:sp>
        <p:nvSpPr>
          <p:cNvPr id="35" name="rect-33"/>
          <p:cNvSpPr/>
          <p:nvPr/>
        </p:nvSpPr>
        <p:spPr>
          <a:xfrm>
            <a:off x="6167064" y="2602611"/>
            <a:ext cx="80464" cy="2655189"/>
          </a:xfrm>
          <a:prstGeom prst="rect">
            <a:avLst/>
          </a:prstGeom>
          <a:solidFill>
            <a:srgbClr val="2F6DB3"/>
          </a:solidFill>
          <a:ln/>
        </p:spPr>
      </p:sp>
      <p:sp>
        <p:nvSpPr>
          <p:cNvPr id="36" name="rect-34"/>
          <p:cNvSpPr/>
          <p:nvPr/>
        </p:nvSpPr>
        <p:spPr>
          <a:xfrm>
            <a:off x="6278819" y="2621013"/>
            <a:ext cx="80464" cy="2636787"/>
          </a:xfrm>
          <a:prstGeom prst="rect">
            <a:avLst/>
          </a:prstGeom>
          <a:solidFill>
            <a:srgbClr val="2F6DB3"/>
          </a:solidFill>
          <a:ln/>
        </p:spPr>
      </p:sp>
      <p:sp>
        <p:nvSpPr>
          <p:cNvPr id="37" name="rect-35"/>
          <p:cNvSpPr/>
          <p:nvPr/>
        </p:nvSpPr>
        <p:spPr>
          <a:xfrm>
            <a:off x="6390574" y="2664127"/>
            <a:ext cx="80464" cy="2593673"/>
          </a:xfrm>
          <a:prstGeom prst="rect">
            <a:avLst/>
          </a:prstGeom>
          <a:solidFill>
            <a:srgbClr val="2F6DB3"/>
          </a:solidFill>
          <a:ln/>
        </p:spPr>
      </p:sp>
      <p:sp>
        <p:nvSpPr>
          <p:cNvPr id="38" name="rect-36"/>
          <p:cNvSpPr/>
          <p:nvPr/>
        </p:nvSpPr>
        <p:spPr>
          <a:xfrm>
            <a:off x="6502329" y="2725118"/>
            <a:ext cx="80464" cy="2532682"/>
          </a:xfrm>
          <a:prstGeom prst="rect">
            <a:avLst/>
          </a:prstGeom>
          <a:solidFill>
            <a:srgbClr val="2F6DB3"/>
          </a:solidFill>
          <a:ln/>
        </p:spPr>
      </p:sp>
      <p:sp>
        <p:nvSpPr>
          <p:cNvPr id="39" name="rect-37"/>
          <p:cNvSpPr/>
          <p:nvPr/>
        </p:nvSpPr>
        <p:spPr>
          <a:xfrm>
            <a:off x="6614084" y="2701458"/>
            <a:ext cx="80464" cy="2556342"/>
          </a:xfrm>
          <a:prstGeom prst="rect">
            <a:avLst/>
          </a:prstGeom>
          <a:solidFill>
            <a:srgbClr val="2F6DB3"/>
          </a:solidFill>
          <a:ln/>
        </p:spPr>
      </p:sp>
      <p:sp>
        <p:nvSpPr>
          <p:cNvPr id="40" name="rect-38"/>
          <p:cNvSpPr/>
          <p:nvPr/>
        </p:nvSpPr>
        <p:spPr>
          <a:xfrm>
            <a:off x="6725839" y="2697777"/>
            <a:ext cx="80464" cy="2560023"/>
          </a:xfrm>
          <a:prstGeom prst="rect">
            <a:avLst/>
          </a:prstGeom>
          <a:solidFill>
            <a:srgbClr val="2F6DB3"/>
          </a:solidFill>
          <a:ln/>
        </p:spPr>
      </p:sp>
      <p:sp>
        <p:nvSpPr>
          <p:cNvPr id="41" name="rect-39"/>
          <p:cNvSpPr/>
          <p:nvPr/>
        </p:nvSpPr>
        <p:spPr>
          <a:xfrm>
            <a:off x="6837594" y="2727221"/>
            <a:ext cx="80464" cy="2530579"/>
          </a:xfrm>
          <a:prstGeom prst="rect">
            <a:avLst/>
          </a:prstGeom>
          <a:solidFill>
            <a:srgbClr val="2F6DB3"/>
          </a:solidFill>
          <a:ln/>
        </p:spPr>
      </p:sp>
      <p:sp>
        <p:nvSpPr>
          <p:cNvPr id="42" name="rect-40"/>
          <p:cNvSpPr/>
          <p:nvPr/>
        </p:nvSpPr>
        <p:spPr>
          <a:xfrm>
            <a:off x="6949349" y="2681478"/>
            <a:ext cx="80464" cy="2576322"/>
          </a:xfrm>
          <a:prstGeom prst="rect">
            <a:avLst/>
          </a:prstGeom>
          <a:solidFill>
            <a:srgbClr val="2F6DB3"/>
          </a:solidFill>
          <a:ln/>
        </p:spPr>
      </p:sp>
      <p:sp>
        <p:nvSpPr>
          <p:cNvPr id="43" name="rect-41"/>
          <p:cNvSpPr/>
          <p:nvPr/>
        </p:nvSpPr>
        <p:spPr>
          <a:xfrm>
            <a:off x="7061103" y="2767180"/>
            <a:ext cx="80464" cy="2490620"/>
          </a:xfrm>
          <a:prstGeom prst="rect">
            <a:avLst/>
          </a:prstGeom>
          <a:solidFill>
            <a:srgbClr val="2F6DB3"/>
          </a:solidFill>
          <a:ln/>
        </p:spPr>
      </p:sp>
      <p:sp>
        <p:nvSpPr>
          <p:cNvPr id="44" name="rect-42"/>
          <p:cNvSpPr/>
          <p:nvPr/>
        </p:nvSpPr>
        <p:spPr>
          <a:xfrm>
            <a:off x="7172858" y="2589466"/>
            <a:ext cx="80464" cy="2668334"/>
          </a:xfrm>
          <a:prstGeom prst="rect">
            <a:avLst/>
          </a:prstGeom>
          <a:solidFill>
            <a:srgbClr val="2F6DB3"/>
          </a:solidFill>
          <a:ln/>
        </p:spPr>
      </p:sp>
      <p:sp>
        <p:nvSpPr>
          <p:cNvPr id="45" name="rect-43"/>
          <p:cNvSpPr/>
          <p:nvPr/>
        </p:nvSpPr>
        <p:spPr>
          <a:xfrm>
            <a:off x="7284613" y="2633632"/>
            <a:ext cx="80464" cy="2624168"/>
          </a:xfrm>
          <a:prstGeom prst="rect">
            <a:avLst/>
          </a:prstGeom>
          <a:solidFill>
            <a:srgbClr val="2F6DB3"/>
          </a:solidFill>
          <a:ln/>
        </p:spPr>
      </p:sp>
      <p:sp>
        <p:nvSpPr>
          <p:cNvPr id="46" name="rect-44"/>
          <p:cNvSpPr/>
          <p:nvPr/>
        </p:nvSpPr>
        <p:spPr>
          <a:xfrm>
            <a:off x="7396368" y="2640467"/>
            <a:ext cx="80464" cy="2617333"/>
          </a:xfrm>
          <a:prstGeom prst="rect">
            <a:avLst/>
          </a:prstGeom>
          <a:solidFill>
            <a:srgbClr val="2F6DB3"/>
          </a:solidFill>
          <a:ln/>
        </p:spPr>
      </p:sp>
      <p:sp>
        <p:nvSpPr>
          <p:cNvPr id="47" name="rect-45"/>
          <p:cNvSpPr/>
          <p:nvPr/>
        </p:nvSpPr>
        <p:spPr>
          <a:xfrm>
            <a:off x="7508123" y="2756665"/>
            <a:ext cx="80464" cy="2501135"/>
          </a:xfrm>
          <a:prstGeom prst="rect">
            <a:avLst/>
          </a:prstGeom>
          <a:solidFill>
            <a:srgbClr val="2F6DB3"/>
          </a:solidFill>
          <a:ln/>
        </p:spPr>
      </p:sp>
      <p:sp>
        <p:nvSpPr>
          <p:cNvPr id="48" name="rect-46"/>
          <p:cNvSpPr/>
          <p:nvPr/>
        </p:nvSpPr>
        <p:spPr>
          <a:xfrm>
            <a:off x="7619878" y="2674643"/>
            <a:ext cx="80464" cy="2583157"/>
          </a:xfrm>
          <a:prstGeom prst="rect">
            <a:avLst/>
          </a:prstGeom>
          <a:solidFill>
            <a:srgbClr val="2F6DB3"/>
          </a:solidFill>
          <a:ln/>
        </p:spPr>
      </p:sp>
      <p:sp>
        <p:nvSpPr>
          <p:cNvPr id="49" name="rect-47"/>
          <p:cNvSpPr/>
          <p:nvPr/>
        </p:nvSpPr>
        <p:spPr>
          <a:xfrm>
            <a:off x="7731633" y="2791366"/>
            <a:ext cx="80464" cy="2466434"/>
          </a:xfrm>
          <a:prstGeom prst="rect">
            <a:avLst/>
          </a:prstGeom>
          <a:solidFill>
            <a:srgbClr val="2F6DB3"/>
          </a:solidFill>
          <a:ln/>
        </p:spPr>
      </p:sp>
      <p:sp>
        <p:nvSpPr>
          <p:cNvPr id="50" name="rect-48"/>
          <p:cNvSpPr/>
          <p:nvPr/>
        </p:nvSpPr>
        <p:spPr>
          <a:xfrm>
            <a:off x="7843388" y="2880223"/>
            <a:ext cx="80464" cy="2377577"/>
          </a:xfrm>
          <a:prstGeom prst="rect">
            <a:avLst/>
          </a:prstGeom>
          <a:solidFill>
            <a:srgbClr val="2F6DB3"/>
          </a:solidFill>
          <a:ln/>
        </p:spPr>
      </p:sp>
      <p:sp>
        <p:nvSpPr>
          <p:cNvPr id="51" name="rect-49"/>
          <p:cNvSpPr/>
          <p:nvPr/>
        </p:nvSpPr>
        <p:spPr>
          <a:xfrm>
            <a:off x="7955143" y="2581580"/>
            <a:ext cx="80464" cy="2676220"/>
          </a:xfrm>
          <a:prstGeom prst="rect">
            <a:avLst/>
          </a:prstGeom>
          <a:solidFill>
            <a:srgbClr val="2F6DB3"/>
          </a:solidFill>
          <a:ln/>
        </p:spPr>
      </p:sp>
      <p:sp>
        <p:nvSpPr>
          <p:cNvPr id="52" name="rect-50"/>
          <p:cNvSpPr/>
          <p:nvPr/>
        </p:nvSpPr>
        <p:spPr>
          <a:xfrm>
            <a:off x="8066898" y="2775593"/>
            <a:ext cx="80464" cy="2482207"/>
          </a:xfrm>
          <a:prstGeom prst="rect">
            <a:avLst/>
          </a:prstGeom>
          <a:solidFill>
            <a:srgbClr val="2F6DB3"/>
          </a:solidFill>
          <a:ln/>
        </p:spPr>
      </p:sp>
      <p:sp>
        <p:nvSpPr>
          <p:cNvPr id="53" name="rect-51"/>
          <p:cNvSpPr/>
          <p:nvPr/>
        </p:nvSpPr>
        <p:spPr>
          <a:xfrm>
            <a:off x="8178653" y="2638890"/>
            <a:ext cx="80464" cy="2618910"/>
          </a:xfrm>
          <a:prstGeom prst="rect">
            <a:avLst/>
          </a:prstGeom>
          <a:solidFill>
            <a:srgbClr val="2F6DB3"/>
          </a:solidFill>
          <a:ln/>
        </p:spPr>
      </p:sp>
      <p:sp>
        <p:nvSpPr>
          <p:cNvPr id="54" name="rect-52"/>
          <p:cNvSpPr/>
          <p:nvPr/>
        </p:nvSpPr>
        <p:spPr>
          <a:xfrm>
            <a:off x="8290408" y="4310870"/>
            <a:ext cx="80464" cy="946930"/>
          </a:xfrm>
          <a:prstGeom prst="rect">
            <a:avLst/>
          </a:prstGeom>
          <a:solidFill>
            <a:srgbClr val="C63F2B"/>
          </a:solidFill>
          <a:ln/>
        </p:spPr>
      </p:sp>
      <p:sp>
        <p:nvSpPr>
          <p:cNvPr id="55" name="rect-53"/>
          <p:cNvSpPr/>
          <p:nvPr/>
        </p:nvSpPr>
        <p:spPr>
          <a:xfrm>
            <a:off x="8402163" y="2628374"/>
            <a:ext cx="80464" cy="2629426"/>
          </a:xfrm>
          <a:prstGeom prst="rect">
            <a:avLst/>
          </a:prstGeom>
          <a:solidFill>
            <a:srgbClr val="2F6DB3"/>
          </a:solidFill>
          <a:ln/>
        </p:spPr>
      </p:sp>
      <p:sp>
        <p:nvSpPr>
          <p:cNvPr id="56" name="rect-54"/>
          <p:cNvSpPr/>
          <p:nvPr/>
        </p:nvSpPr>
        <p:spPr>
          <a:xfrm>
            <a:off x="8513917" y="2642570"/>
            <a:ext cx="80464" cy="2615230"/>
          </a:xfrm>
          <a:prstGeom prst="rect">
            <a:avLst/>
          </a:prstGeom>
          <a:solidFill>
            <a:srgbClr val="2F6DB3"/>
          </a:solidFill>
          <a:ln/>
        </p:spPr>
      </p:sp>
      <p:sp>
        <p:nvSpPr>
          <p:cNvPr id="57" name="rect-55"/>
          <p:cNvSpPr/>
          <p:nvPr/>
        </p:nvSpPr>
        <p:spPr>
          <a:xfrm>
            <a:off x="8625672" y="2788211"/>
            <a:ext cx="80464" cy="2469589"/>
          </a:xfrm>
          <a:prstGeom prst="rect">
            <a:avLst/>
          </a:prstGeom>
          <a:solidFill>
            <a:srgbClr val="2F6DB3"/>
          </a:solidFill>
          <a:ln/>
        </p:spPr>
      </p:sp>
      <p:sp>
        <p:nvSpPr>
          <p:cNvPr id="58" name="rect-56"/>
          <p:cNvSpPr/>
          <p:nvPr/>
        </p:nvSpPr>
        <p:spPr>
          <a:xfrm>
            <a:off x="8737427" y="2725644"/>
            <a:ext cx="80464" cy="2532156"/>
          </a:xfrm>
          <a:prstGeom prst="rect">
            <a:avLst/>
          </a:prstGeom>
          <a:solidFill>
            <a:srgbClr val="2F6DB3"/>
          </a:solidFill>
          <a:ln/>
        </p:spPr>
      </p:sp>
      <p:sp>
        <p:nvSpPr>
          <p:cNvPr id="59" name="rect-57"/>
          <p:cNvSpPr/>
          <p:nvPr/>
        </p:nvSpPr>
        <p:spPr>
          <a:xfrm>
            <a:off x="8849182" y="2838160"/>
            <a:ext cx="80464" cy="2419640"/>
          </a:xfrm>
          <a:prstGeom prst="rect">
            <a:avLst/>
          </a:prstGeom>
          <a:solidFill>
            <a:srgbClr val="2F6DB3"/>
          </a:solidFill>
          <a:ln/>
        </p:spPr>
      </p:sp>
      <p:sp>
        <p:nvSpPr>
          <p:cNvPr id="60" name="rect-58"/>
          <p:cNvSpPr/>
          <p:nvPr/>
        </p:nvSpPr>
        <p:spPr>
          <a:xfrm>
            <a:off x="8960937" y="2704612"/>
            <a:ext cx="80464" cy="2553188"/>
          </a:xfrm>
          <a:prstGeom prst="rect">
            <a:avLst/>
          </a:prstGeom>
          <a:solidFill>
            <a:srgbClr val="2F6DB3"/>
          </a:solidFill>
          <a:ln/>
        </p:spPr>
      </p:sp>
      <p:sp>
        <p:nvSpPr>
          <p:cNvPr id="61" name="rect-59"/>
          <p:cNvSpPr/>
          <p:nvPr/>
        </p:nvSpPr>
        <p:spPr>
          <a:xfrm>
            <a:off x="9072692" y="2668334"/>
            <a:ext cx="80464" cy="2589467"/>
          </a:xfrm>
          <a:prstGeom prst="rect">
            <a:avLst/>
          </a:prstGeom>
          <a:solidFill>
            <a:srgbClr val="2F6DB3"/>
          </a:solidFill>
          <a:ln/>
        </p:spPr>
      </p:sp>
      <p:sp>
        <p:nvSpPr>
          <p:cNvPr id="62" name="rect-60"/>
          <p:cNvSpPr/>
          <p:nvPr/>
        </p:nvSpPr>
        <p:spPr>
          <a:xfrm>
            <a:off x="9184447" y="3670996"/>
            <a:ext cx="80464" cy="1586804"/>
          </a:xfrm>
          <a:prstGeom prst="rect">
            <a:avLst/>
          </a:prstGeom>
          <a:solidFill>
            <a:srgbClr val="C63F2B"/>
          </a:solidFill>
          <a:ln/>
        </p:spPr>
      </p:sp>
      <p:sp>
        <p:nvSpPr>
          <p:cNvPr id="63" name="rect-61"/>
          <p:cNvSpPr/>
          <p:nvPr/>
        </p:nvSpPr>
        <p:spPr>
          <a:xfrm>
            <a:off x="9296202" y="4601101"/>
            <a:ext cx="80464" cy="656699"/>
          </a:xfrm>
          <a:prstGeom prst="rect">
            <a:avLst/>
          </a:prstGeom>
          <a:solidFill>
            <a:srgbClr val="C63F2B"/>
          </a:solidFill>
          <a:ln/>
        </p:spPr>
      </p:sp>
      <p:sp>
        <p:nvSpPr>
          <p:cNvPr id="64" name="rect-62"/>
          <p:cNvSpPr/>
          <p:nvPr/>
        </p:nvSpPr>
        <p:spPr>
          <a:xfrm>
            <a:off x="9407957" y="2893367"/>
            <a:ext cx="80464" cy="2364433"/>
          </a:xfrm>
          <a:prstGeom prst="rect">
            <a:avLst/>
          </a:prstGeom>
          <a:solidFill>
            <a:srgbClr val="2F6DB3"/>
          </a:solidFill>
          <a:ln/>
        </p:spPr>
      </p:sp>
      <p:sp>
        <p:nvSpPr>
          <p:cNvPr id="65" name="rect-63"/>
          <p:cNvSpPr/>
          <p:nvPr/>
        </p:nvSpPr>
        <p:spPr>
          <a:xfrm>
            <a:off x="9519712" y="2707767"/>
            <a:ext cx="80464" cy="2550033"/>
          </a:xfrm>
          <a:prstGeom prst="rect">
            <a:avLst/>
          </a:prstGeom>
          <a:solidFill>
            <a:srgbClr val="2F6DB3"/>
          </a:solidFill>
          <a:ln/>
        </p:spPr>
      </p:sp>
      <p:sp>
        <p:nvSpPr>
          <p:cNvPr id="66" name="rect-64"/>
          <p:cNvSpPr/>
          <p:nvPr/>
        </p:nvSpPr>
        <p:spPr>
          <a:xfrm>
            <a:off x="9631467" y="2706715"/>
            <a:ext cx="80464" cy="2551085"/>
          </a:xfrm>
          <a:prstGeom prst="rect">
            <a:avLst/>
          </a:prstGeom>
          <a:solidFill>
            <a:srgbClr val="2F6DB3"/>
          </a:solidFill>
          <a:ln/>
        </p:spPr>
      </p:sp>
      <p:sp>
        <p:nvSpPr>
          <p:cNvPr id="67" name="rect-65"/>
          <p:cNvSpPr/>
          <p:nvPr/>
        </p:nvSpPr>
        <p:spPr>
          <a:xfrm>
            <a:off x="9743222" y="3066875"/>
            <a:ext cx="80464" cy="2190925"/>
          </a:xfrm>
          <a:prstGeom prst="rect">
            <a:avLst/>
          </a:prstGeom>
          <a:solidFill>
            <a:srgbClr val="C63F2B"/>
          </a:solidFill>
          <a:ln/>
        </p:spPr>
      </p:sp>
      <p:sp>
        <p:nvSpPr>
          <p:cNvPr id="68" name="rect-66"/>
          <p:cNvSpPr/>
          <p:nvPr/>
        </p:nvSpPr>
        <p:spPr>
          <a:xfrm>
            <a:off x="9854976" y="2797150"/>
            <a:ext cx="80464" cy="2460650"/>
          </a:xfrm>
          <a:prstGeom prst="rect">
            <a:avLst/>
          </a:prstGeom>
          <a:solidFill>
            <a:srgbClr val="2F6DB3"/>
          </a:solidFill>
          <a:ln/>
        </p:spPr>
      </p:sp>
      <p:sp>
        <p:nvSpPr>
          <p:cNvPr id="69" name="rect-67"/>
          <p:cNvSpPr/>
          <p:nvPr/>
        </p:nvSpPr>
        <p:spPr>
          <a:xfrm>
            <a:off x="9966731" y="2673591"/>
            <a:ext cx="80464" cy="2584209"/>
          </a:xfrm>
          <a:prstGeom prst="rect">
            <a:avLst/>
          </a:prstGeom>
          <a:solidFill>
            <a:srgbClr val="2F6DB3"/>
          </a:solidFill>
          <a:ln/>
        </p:spPr>
      </p:sp>
      <p:sp>
        <p:nvSpPr>
          <p:cNvPr id="70" name="rect-68"/>
          <p:cNvSpPr/>
          <p:nvPr/>
        </p:nvSpPr>
        <p:spPr>
          <a:xfrm>
            <a:off x="10078486" y="2667282"/>
            <a:ext cx="80464" cy="2590518"/>
          </a:xfrm>
          <a:prstGeom prst="rect">
            <a:avLst/>
          </a:prstGeom>
          <a:solidFill>
            <a:srgbClr val="2F6DB3"/>
          </a:solidFill>
          <a:ln/>
        </p:spPr>
      </p:sp>
      <p:sp>
        <p:nvSpPr>
          <p:cNvPr id="71" name="rect-69"/>
          <p:cNvSpPr/>
          <p:nvPr/>
        </p:nvSpPr>
        <p:spPr>
          <a:xfrm>
            <a:off x="10190241" y="2645725"/>
            <a:ext cx="80464" cy="2612075"/>
          </a:xfrm>
          <a:prstGeom prst="rect">
            <a:avLst/>
          </a:prstGeom>
          <a:solidFill>
            <a:srgbClr val="2F6DB3"/>
          </a:solidFill>
          <a:ln/>
        </p:spPr>
      </p:sp>
      <p:sp>
        <p:nvSpPr>
          <p:cNvPr id="72" name="rect-70"/>
          <p:cNvSpPr/>
          <p:nvPr/>
        </p:nvSpPr>
        <p:spPr>
          <a:xfrm>
            <a:off x="10301996" y="2711973"/>
            <a:ext cx="80464" cy="2545827"/>
          </a:xfrm>
          <a:prstGeom prst="rect">
            <a:avLst/>
          </a:prstGeom>
          <a:solidFill>
            <a:srgbClr val="2F6DB3"/>
          </a:solidFill>
          <a:ln/>
        </p:spPr>
      </p:sp>
      <p:sp>
        <p:nvSpPr>
          <p:cNvPr id="73" name="rect-71"/>
          <p:cNvSpPr/>
          <p:nvPr/>
        </p:nvSpPr>
        <p:spPr>
          <a:xfrm>
            <a:off x="10413751" y="2880749"/>
            <a:ext cx="80464" cy="2377051"/>
          </a:xfrm>
          <a:prstGeom prst="rect">
            <a:avLst/>
          </a:prstGeom>
          <a:solidFill>
            <a:srgbClr val="2F6DB3"/>
          </a:solidFill>
          <a:ln/>
        </p:spPr>
      </p:sp>
      <p:sp>
        <p:nvSpPr>
          <p:cNvPr id="74" name="rect-72"/>
          <p:cNvSpPr/>
          <p:nvPr/>
        </p:nvSpPr>
        <p:spPr>
          <a:xfrm>
            <a:off x="10525506" y="3067926"/>
            <a:ext cx="80464" cy="2189874"/>
          </a:xfrm>
          <a:prstGeom prst="rect">
            <a:avLst/>
          </a:prstGeom>
          <a:solidFill>
            <a:srgbClr val="2F6DB3"/>
          </a:solidFill>
          <a:ln/>
        </p:spPr>
      </p:sp>
      <p:sp>
        <p:nvSpPr>
          <p:cNvPr id="75" name="rect-73"/>
          <p:cNvSpPr/>
          <p:nvPr/>
        </p:nvSpPr>
        <p:spPr>
          <a:xfrm>
            <a:off x="10637261" y="2942791"/>
            <a:ext cx="80464" cy="2315009"/>
          </a:xfrm>
          <a:prstGeom prst="rect">
            <a:avLst/>
          </a:prstGeom>
          <a:solidFill>
            <a:srgbClr val="C63F2B"/>
          </a:solidFill>
          <a:ln/>
        </p:spPr>
      </p:sp>
      <p:sp>
        <p:nvSpPr>
          <p:cNvPr id="76" name="rect-74"/>
          <p:cNvSpPr/>
          <p:nvPr/>
        </p:nvSpPr>
        <p:spPr>
          <a:xfrm>
            <a:off x="10749016" y="2845521"/>
            <a:ext cx="80464" cy="2412279"/>
          </a:xfrm>
          <a:prstGeom prst="rect">
            <a:avLst/>
          </a:prstGeom>
          <a:solidFill>
            <a:srgbClr val="C63F2B"/>
          </a:solidFill>
          <a:ln/>
        </p:spPr>
      </p:sp>
      <p:sp>
        <p:nvSpPr>
          <p:cNvPr id="77" name="rect-75"/>
          <p:cNvSpPr/>
          <p:nvPr/>
        </p:nvSpPr>
        <p:spPr>
          <a:xfrm>
            <a:off x="10860771" y="2789789"/>
            <a:ext cx="80464" cy="2468011"/>
          </a:xfrm>
          <a:prstGeom prst="rect">
            <a:avLst/>
          </a:prstGeom>
          <a:solidFill>
            <a:srgbClr val="C63F2B"/>
          </a:solidFill>
          <a:ln/>
        </p:spPr>
      </p:sp>
      <p:sp>
        <p:nvSpPr>
          <p:cNvPr id="78" name="rect-76"/>
          <p:cNvSpPr/>
          <p:nvPr/>
        </p:nvSpPr>
        <p:spPr>
          <a:xfrm>
            <a:off x="10972526" y="2919656"/>
            <a:ext cx="80464" cy="2338144"/>
          </a:xfrm>
          <a:prstGeom prst="rect">
            <a:avLst/>
          </a:prstGeom>
          <a:solidFill>
            <a:srgbClr val="C63F2B"/>
          </a:solidFill>
          <a:ln/>
        </p:spPr>
      </p:sp>
      <p:sp>
        <p:nvSpPr>
          <p:cNvPr id="79" name="rect-77"/>
          <p:cNvSpPr/>
          <p:nvPr/>
        </p:nvSpPr>
        <p:spPr>
          <a:xfrm>
            <a:off x="11084281" y="2842367"/>
            <a:ext cx="80464" cy="2415433"/>
          </a:xfrm>
          <a:prstGeom prst="rect">
            <a:avLst/>
          </a:prstGeom>
          <a:solidFill>
            <a:srgbClr val="C63F2B"/>
          </a:solidFill>
          <a:ln/>
        </p:spPr>
      </p:sp>
      <p:sp>
        <p:nvSpPr>
          <p:cNvPr id="80" name="rect-78"/>
          <p:cNvSpPr/>
          <p:nvPr/>
        </p:nvSpPr>
        <p:spPr>
          <a:xfrm>
            <a:off x="11196036" y="2938584"/>
            <a:ext cx="80464" cy="2319216"/>
          </a:xfrm>
          <a:prstGeom prst="rect">
            <a:avLst/>
          </a:prstGeom>
          <a:solidFill>
            <a:srgbClr val="C63F2B"/>
          </a:solidFill>
          <a:ln/>
        </p:spPr>
      </p:sp>
      <p:sp>
        <p:nvSpPr>
          <p:cNvPr id="81" name="rect-79"/>
          <p:cNvSpPr/>
          <p:nvPr/>
        </p:nvSpPr>
        <p:spPr>
          <a:xfrm>
            <a:off x="11307790" y="2779799"/>
            <a:ext cx="80464" cy="2478001"/>
          </a:xfrm>
          <a:prstGeom prst="rect">
            <a:avLst/>
          </a:prstGeom>
          <a:solidFill>
            <a:srgbClr val="2F6DB3"/>
          </a:solidFill>
          <a:ln/>
        </p:spPr>
      </p:sp>
      <p:sp>
        <p:nvSpPr>
          <p:cNvPr id="82" name="rect-80"/>
          <p:cNvSpPr/>
          <p:nvPr/>
        </p:nvSpPr>
        <p:spPr>
          <a:xfrm>
            <a:off x="11419545" y="3109463"/>
            <a:ext cx="80464" cy="2148337"/>
          </a:xfrm>
          <a:prstGeom prst="rect">
            <a:avLst/>
          </a:prstGeom>
          <a:solidFill>
            <a:srgbClr val="2F6DB3"/>
          </a:solidFill>
          <a:ln/>
        </p:spPr>
      </p:sp>
      <p:sp>
        <p:nvSpPr>
          <p:cNvPr id="83" name="rect-81"/>
          <p:cNvSpPr/>
          <p:nvPr/>
        </p:nvSpPr>
        <p:spPr>
          <a:xfrm>
            <a:off x="11531300" y="2797150"/>
            <a:ext cx="80464" cy="2460650"/>
          </a:xfrm>
          <a:prstGeom prst="rect">
            <a:avLst/>
          </a:prstGeom>
          <a:solidFill>
            <a:srgbClr val="2F6DB3"/>
          </a:solidFill>
          <a:ln/>
        </p:spPr>
      </p:sp>
      <p:sp>
        <p:nvSpPr>
          <p:cNvPr id="84" name="line-82"/>
          <p:cNvSpPr/>
          <p:nvPr/>
        </p:nvSpPr>
        <p:spPr>
          <a:xfrm>
            <a:off x="8274762" y="2057400"/>
            <a:ext cx="0" cy="3200400"/>
          </a:xfrm>
          <a:prstGeom prst="line">
            <a:avLst/>
          </a:prstGeom>
          <a:noFill/>
          <a:ln w="12700">
            <a:solidFill>
              <a:srgbClr val="1C2126"/>
            </a:solidFill>
            <a:prstDash val="dash"/>
          </a:ln>
        </p:spPr>
      </p:sp>
      <p:sp>
        <p:nvSpPr>
          <p:cNvPr id="85" name="text-83"/>
          <p:cNvSpPr txBox="1"/>
          <p:nvPr/>
        </p:nvSpPr>
        <p:spPr>
          <a:xfrm>
            <a:off x="8290408" y="1828800"/>
            <a:ext cx="1828800" cy="228600"/>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Recent period →</a:t>
            </a:r>
            <a:endParaRPr lang="en-US" sz="1000" dirty="0"/>
          </a:p>
        </p:txBody>
      </p:sp>
      <p:sp>
        <p:nvSpPr>
          <p:cNvPr id="86" name="text-84"/>
          <p:cNvSpPr txBox="1"/>
          <p:nvPr/>
        </p:nvSpPr>
        <p:spPr>
          <a:xfrm>
            <a:off x="4892040" y="5312664"/>
            <a:ext cx="1097280" cy="201168"/>
          </a:xfrm>
          <a:prstGeom prst="rect">
            <a:avLst/>
          </a:prstGeom>
          <a:noFill/>
          <a:ln/>
        </p:spPr>
        <p:txBody>
          <a:bodyPr wrap="square" lIns="0" tIns="0" rIns="0" bIns="0" rtlCol="0" anchor="t"/>
          <a:lstStyle/>
          <a:p>
            <a:pPr algn="l" indent="0" marL="0">
              <a:buNone/>
            </a:pPr>
            <a:r>
              <a:rPr lang="en-US" sz="950" dirty="0">
                <a:solidFill>
                  <a:srgbClr val="8B949C"/>
                </a:solidFill>
                <a:latin typeface="Arial" pitchFamily="34" charset="0"/>
                <a:ea typeface="Arial" pitchFamily="34" charset="-122"/>
                <a:cs typeface="Arial" pitchFamily="34" charset="-120"/>
              </a:rPr>
              <a:t>Jul 25</a:t>
            </a:r>
            <a:endParaRPr lang="en-US" sz="950" dirty="0"/>
          </a:p>
        </p:txBody>
      </p:sp>
      <p:sp>
        <p:nvSpPr>
          <p:cNvPr id="87" name="text-85"/>
          <p:cNvSpPr txBox="1"/>
          <p:nvPr/>
        </p:nvSpPr>
        <p:spPr>
          <a:xfrm>
            <a:off x="10545775" y="5312664"/>
            <a:ext cx="1097280" cy="201168"/>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Sep 22</a:t>
            </a:r>
            <a:endParaRPr lang="en-US" sz="950" dirty="0"/>
          </a:p>
        </p:txBody>
      </p:sp>
      <p:sp>
        <p:nvSpPr>
          <p:cNvPr id="88" name="text-86"/>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Without the 10 incident days (red), the recent rate is 87.2%: −1.45 pp. Those days hold 38% of recent decisions, so they stay in. Mexican documents were 57.3% of decisions, then 56.8%. Columns start at 40%.</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Four reasons explain most of the change; face match improved but remains a large loss</a:t>
            </a:r>
            <a:endParaRPr lang="en-US" sz="2600" dirty="0"/>
          </a:p>
        </p:txBody>
      </p:sp>
      <p:sp>
        <p:nvSpPr>
          <p:cNvPr id="3" name="text-1"/>
          <p:cNvSpPr txBox="1"/>
          <p:nvPr/>
        </p:nvSpPr>
        <p:spPr>
          <a:xfrm>
            <a:off x="548640" y="15453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Fraud signal</a:t>
            </a:r>
            <a:endParaRPr lang="en-US" sz="1200" dirty="0"/>
          </a:p>
        </p:txBody>
      </p:sp>
      <p:sp>
        <p:nvSpPr>
          <p:cNvPr id="4" name="rect-2"/>
          <p:cNvSpPr/>
          <p:nvPr/>
        </p:nvSpPr>
        <p:spPr>
          <a:xfrm>
            <a:off x="4587013" y="1508760"/>
            <a:ext cx="2281906" cy="292608"/>
          </a:xfrm>
          <a:prstGeom prst="rect">
            <a:avLst/>
          </a:prstGeom>
          <a:solidFill>
            <a:srgbClr val="B4361F"/>
          </a:solidFill>
          <a:ln/>
        </p:spPr>
      </p:sp>
      <p:sp>
        <p:nvSpPr>
          <p:cNvPr id="5" name="rect-3"/>
          <p:cNvSpPr/>
          <p:nvPr/>
        </p:nvSpPr>
        <p:spPr>
          <a:xfrm>
            <a:off x="4406862" y="1508760"/>
            <a:ext cx="180150" cy="292608"/>
          </a:xfrm>
          <a:prstGeom prst="rect">
            <a:avLst/>
          </a:prstGeom>
          <a:solidFill>
            <a:srgbClr val="2F6DB3"/>
          </a:solidFill>
          <a:ln/>
        </p:spPr>
      </p:sp>
      <p:sp>
        <p:nvSpPr>
          <p:cNvPr id="6" name="text-4"/>
          <p:cNvSpPr txBox="1"/>
          <p:nvPr/>
        </p:nvSpPr>
        <p:spPr>
          <a:xfrm>
            <a:off x="3629622" y="15453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−2.05 pp</a:t>
            </a:r>
            <a:endParaRPr lang="en-US" sz="1150" dirty="0"/>
          </a:p>
        </p:txBody>
      </p:sp>
      <p:sp>
        <p:nvSpPr>
          <p:cNvPr id="7" name="text-5"/>
          <p:cNvSpPr txBox="1"/>
          <p:nvPr/>
        </p:nvSpPr>
        <p:spPr>
          <a:xfrm>
            <a:off x="548640" y="20025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Execution error</a:t>
            </a:r>
            <a:endParaRPr lang="en-US" sz="1200" dirty="0"/>
          </a:p>
        </p:txBody>
      </p:sp>
      <p:sp>
        <p:nvSpPr>
          <p:cNvPr id="8" name="rect-6"/>
          <p:cNvSpPr/>
          <p:nvPr/>
        </p:nvSpPr>
        <p:spPr>
          <a:xfrm>
            <a:off x="4923293" y="1965960"/>
            <a:ext cx="1945625" cy="292608"/>
          </a:xfrm>
          <a:prstGeom prst="rect">
            <a:avLst/>
          </a:prstGeom>
          <a:solidFill>
            <a:srgbClr val="B4361F"/>
          </a:solidFill>
          <a:ln/>
        </p:spPr>
      </p:sp>
      <p:sp>
        <p:nvSpPr>
          <p:cNvPr id="9" name="text-7"/>
          <p:cNvSpPr txBox="1"/>
          <p:nvPr/>
        </p:nvSpPr>
        <p:spPr>
          <a:xfrm>
            <a:off x="4146053" y="20025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−1.62 pp</a:t>
            </a:r>
            <a:endParaRPr lang="en-US" sz="1150" dirty="0"/>
          </a:p>
        </p:txBody>
      </p:sp>
      <p:sp>
        <p:nvSpPr>
          <p:cNvPr id="10" name="text-8"/>
          <p:cNvSpPr txBox="1"/>
          <p:nvPr/>
        </p:nvSpPr>
        <p:spPr>
          <a:xfrm>
            <a:off x="548640" y="24597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Selfie / liveness</a:t>
            </a:r>
            <a:endParaRPr lang="en-US" sz="1200" dirty="0"/>
          </a:p>
        </p:txBody>
      </p:sp>
      <p:sp>
        <p:nvSpPr>
          <p:cNvPr id="11" name="rect-9"/>
          <p:cNvSpPr/>
          <p:nvPr/>
        </p:nvSpPr>
        <p:spPr>
          <a:xfrm>
            <a:off x="6040226" y="2423160"/>
            <a:ext cx="828692" cy="292608"/>
          </a:xfrm>
          <a:prstGeom prst="rect">
            <a:avLst/>
          </a:prstGeom>
          <a:solidFill>
            <a:srgbClr val="B4361F"/>
          </a:solidFill>
          <a:ln/>
        </p:spPr>
      </p:sp>
      <p:sp>
        <p:nvSpPr>
          <p:cNvPr id="12" name="rect-10"/>
          <p:cNvSpPr/>
          <p:nvPr/>
        </p:nvSpPr>
        <p:spPr>
          <a:xfrm>
            <a:off x="5727965" y="2423160"/>
            <a:ext cx="312261" cy="292608"/>
          </a:xfrm>
          <a:prstGeom prst="rect">
            <a:avLst/>
          </a:prstGeom>
          <a:solidFill>
            <a:srgbClr val="2F6DB3"/>
          </a:solidFill>
          <a:ln/>
        </p:spPr>
      </p:sp>
      <p:sp>
        <p:nvSpPr>
          <p:cNvPr id="13" name="text-11"/>
          <p:cNvSpPr txBox="1"/>
          <p:nvPr/>
        </p:nvSpPr>
        <p:spPr>
          <a:xfrm>
            <a:off x="4950725" y="24597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−0.95 pp</a:t>
            </a:r>
            <a:endParaRPr lang="en-US" sz="1150" dirty="0"/>
          </a:p>
        </p:txBody>
      </p:sp>
      <p:sp>
        <p:nvSpPr>
          <p:cNvPr id="14" name="text-12"/>
          <p:cNvSpPr txBox="1"/>
          <p:nvPr/>
        </p:nvSpPr>
        <p:spPr>
          <a:xfrm>
            <a:off x="548640" y="29169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No document type, no reason code</a:t>
            </a:r>
            <a:endParaRPr lang="en-US" sz="1200" dirty="0"/>
          </a:p>
        </p:txBody>
      </p:sp>
      <p:sp>
        <p:nvSpPr>
          <p:cNvPr id="15" name="rect-13"/>
          <p:cNvSpPr/>
          <p:nvPr/>
        </p:nvSpPr>
        <p:spPr>
          <a:xfrm>
            <a:off x="6148316" y="2880360"/>
            <a:ext cx="720602" cy="292608"/>
          </a:xfrm>
          <a:prstGeom prst="rect">
            <a:avLst/>
          </a:prstGeom>
          <a:solidFill>
            <a:srgbClr val="2F6DB3"/>
          </a:solidFill>
          <a:ln/>
        </p:spPr>
      </p:sp>
      <p:sp>
        <p:nvSpPr>
          <p:cNvPr id="16" name="text-14"/>
          <p:cNvSpPr txBox="1"/>
          <p:nvPr/>
        </p:nvSpPr>
        <p:spPr>
          <a:xfrm>
            <a:off x="5371076" y="29169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−0.60 pp</a:t>
            </a:r>
            <a:endParaRPr lang="en-US" sz="1150" dirty="0"/>
          </a:p>
        </p:txBody>
      </p:sp>
      <p:sp>
        <p:nvSpPr>
          <p:cNvPr id="17" name="text-15"/>
          <p:cNvSpPr txBox="1"/>
          <p:nvPr/>
        </p:nvSpPr>
        <p:spPr>
          <a:xfrm>
            <a:off x="548640" y="33741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Screen or paper copy</a:t>
            </a:r>
            <a:endParaRPr lang="en-US" sz="1200" dirty="0"/>
          </a:p>
        </p:txBody>
      </p:sp>
      <p:sp>
        <p:nvSpPr>
          <p:cNvPr id="18" name="rect-16"/>
          <p:cNvSpPr/>
          <p:nvPr/>
        </p:nvSpPr>
        <p:spPr>
          <a:xfrm>
            <a:off x="6460577" y="3337560"/>
            <a:ext cx="408341" cy="292608"/>
          </a:xfrm>
          <a:prstGeom prst="rect">
            <a:avLst/>
          </a:prstGeom>
          <a:solidFill>
            <a:srgbClr val="2F6DB3"/>
          </a:solidFill>
          <a:ln/>
        </p:spPr>
      </p:sp>
      <p:sp>
        <p:nvSpPr>
          <p:cNvPr id="19" name="text-17"/>
          <p:cNvSpPr txBox="1"/>
          <p:nvPr/>
        </p:nvSpPr>
        <p:spPr>
          <a:xfrm>
            <a:off x="5683337" y="33741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−0.34 pp</a:t>
            </a:r>
            <a:endParaRPr lang="en-US" sz="1150" dirty="0"/>
          </a:p>
        </p:txBody>
      </p:sp>
      <p:sp>
        <p:nvSpPr>
          <p:cNvPr id="20" name="text-18"/>
          <p:cNvSpPr txBox="1"/>
          <p:nvPr/>
        </p:nvSpPr>
        <p:spPr>
          <a:xfrm>
            <a:off x="548640" y="38313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Unsupported or incomplete document</a:t>
            </a:r>
            <a:endParaRPr lang="en-US" sz="1200" dirty="0"/>
          </a:p>
        </p:txBody>
      </p:sp>
      <p:sp>
        <p:nvSpPr>
          <p:cNvPr id="21" name="rect-19"/>
          <p:cNvSpPr/>
          <p:nvPr/>
        </p:nvSpPr>
        <p:spPr>
          <a:xfrm>
            <a:off x="6664748" y="3794760"/>
            <a:ext cx="204171" cy="292608"/>
          </a:xfrm>
          <a:prstGeom prst="rect">
            <a:avLst/>
          </a:prstGeom>
          <a:solidFill>
            <a:srgbClr val="2F6DB3"/>
          </a:solidFill>
          <a:ln/>
        </p:spPr>
      </p:sp>
      <p:sp>
        <p:nvSpPr>
          <p:cNvPr id="22" name="text-20"/>
          <p:cNvSpPr txBox="1"/>
          <p:nvPr/>
        </p:nvSpPr>
        <p:spPr>
          <a:xfrm>
            <a:off x="5887508" y="38313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−0.17 pp</a:t>
            </a:r>
            <a:endParaRPr lang="en-US" sz="1150" dirty="0"/>
          </a:p>
        </p:txBody>
      </p:sp>
      <p:sp>
        <p:nvSpPr>
          <p:cNvPr id="23" name="text-21"/>
          <p:cNvSpPr txBox="1"/>
          <p:nvPr/>
        </p:nvSpPr>
        <p:spPr>
          <a:xfrm>
            <a:off x="548640" y="42885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Other</a:t>
            </a:r>
            <a:endParaRPr lang="en-US" sz="1200" dirty="0"/>
          </a:p>
        </p:txBody>
      </p:sp>
      <p:sp>
        <p:nvSpPr>
          <p:cNvPr id="24" name="rect-22"/>
          <p:cNvSpPr/>
          <p:nvPr/>
        </p:nvSpPr>
        <p:spPr>
          <a:xfrm>
            <a:off x="6832888" y="4251960"/>
            <a:ext cx="36030" cy="292608"/>
          </a:xfrm>
          <a:prstGeom prst="rect">
            <a:avLst/>
          </a:prstGeom>
          <a:solidFill>
            <a:srgbClr val="2F6DB3"/>
          </a:solidFill>
          <a:ln/>
        </p:spPr>
      </p:sp>
      <p:sp>
        <p:nvSpPr>
          <p:cNvPr id="25" name="text-23"/>
          <p:cNvSpPr txBox="1"/>
          <p:nvPr/>
        </p:nvSpPr>
        <p:spPr>
          <a:xfrm>
            <a:off x="6055648" y="42885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−0.03 pp</a:t>
            </a:r>
            <a:endParaRPr lang="en-US" sz="1150" dirty="0"/>
          </a:p>
        </p:txBody>
      </p:sp>
      <p:sp>
        <p:nvSpPr>
          <p:cNvPr id="26" name="text-24"/>
          <p:cNvSpPr txBox="1"/>
          <p:nvPr/>
        </p:nvSpPr>
        <p:spPr>
          <a:xfrm>
            <a:off x="548640" y="47457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Image quality</a:t>
            </a:r>
            <a:endParaRPr lang="en-US" sz="1200" dirty="0"/>
          </a:p>
        </p:txBody>
      </p:sp>
      <p:sp>
        <p:nvSpPr>
          <p:cNvPr id="27" name="rect-25"/>
          <p:cNvSpPr/>
          <p:nvPr/>
        </p:nvSpPr>
        <p:spPr>
          <a:xfrm>
            <a:off x="6856908" y="4709160"/>
            <a:ext cx="12010" cy="292608"/>
          </a:xfrm>
          <a:prstGeom prst="rect">
            <a:avLst/>
          </a:prstGeom>
          <a:solidFill>
            <a:srgbClr val="2F6DB3"/>
          </a:solidFill>
          <a:ln/>
        </p:spPr>
      </p:sp>
      <p:sp>
        <p:nvSpPr>
          <p:cNvPr id="28" name="text-26"/>
          <p:cNvSpPr txBox="1"/>
          <p:nvPr/>
        </p:nvSpPr>
        <p:spPr>
          <a:xfrm>
            <a:off x="6079668" y="47457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−0.01 pp</a:t>
            </a:r>
            <a:endParaRPr lang="en-US" sz="1150" dirty="0"/>
          </a:p>
        </p:txBody>
      </p:sp>
      <p:sp>
        <p:nvSpPr>
          <p:cNvPr id="29" name="text-27"/>
          <p:cNvSpPr txBox="1"/>
          <p:nvPr/>
        </p:nvSpPr>
        <p:spPr>
          <a:xfrm>
            <a:off x="548640" y="52029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Face match</a:t>
            </a:r>
            <a:endParaRPr lang="en-US" sz="1200" dirty="0"/>
          </a:p>
        </p:txBody>
      </p:sp>
      <p:sp>
        <p:nvSpPr>
          <p:cNvPr id="30" name="rect-28"/>
          <p:cNvSpPr/>
          <p:nvPr/>
        </p:nvSpPr>
        <p:spPr>
          <a:xfrm>
            <a:off x="6868918" y="5166360"/>
            <a:ext cx="432361" cy="292608"/>
          </a:xfrm>
          <a:prstGeom prst="rect">
            <a:avLst/>
          </a:prstGeom>
          <a:solidFill>
            <a:srgbClr val="2F6DB3"/>
          </a:solidFill>
          <a:ln/>
        </p:spPr>
      </p:sp>
      <p:sp>
        <p:nvSpPr>
          <p:cNvPr id="31" name="text-29"/>
          <p:cNvSpPr txBox="1"/>
          <p:nvPr/>
        </p:nvSpPr>
        <p:spPr>
          <a:xfrm>
            <a:off x="7374431" y="5202936"/>
            <a:ext cx="731520" cy="274320"/>
          </a:xfrm>
          <a:prstGeom prst="rect">
            <a:avLst/>
          </a:prstGeom>
          <a:noFill/>
          <a:ln/>
        </p:spPr>
        <p:txBody>
          <a:bodyPr wrap="square" lIns="0" tIns="0" rIns="0" bIns="0" rtlCol="0" anchor="t"/>
          <a:lstStyle/>
          <a:p>
            <a:pPr algn="l" indent="0" marL="0">
              <a:buNone/>
            </a:pPr>
            <a:r>
              <a:rPr lang="en-US" sz="1150" b="1" dirty="0">
                <a:solidFill>
                  <a:srgbClr val="1C2126"/>
                </a:solidFill>
                <a:latin typeface="Arial" pitchFamily="34" charset="0"/>
                <a:ea typeface="Arial" pitchFamily="34" charset="-122"/>
                <a:cs typeface="Arial" pitchFamily="34" charset="-120"/>
              </a:rPr>
              <a:t>+0.36 pp</a:t>
            </a:r>
            <a:endParaRPr lang="en-US" sz="1150" dirty="0"/>
          </a:p>
        </p:txBody>
      </p:sp>
      <p:sp>
        <p:nvSpPr>
          <p:cNvPr id="32" name="line-30"/>
          <p:cNvSpPr/>
          <p:nvPr/>
        </p:nvSpPr>
        <p:spPr>
          <a:xfrm>
            <a:off x="6868918" y="1417320"/>
            <a:ext cx="0" cy="4206240"/>
          </a:xfrm>
          <a:prstGeom prst="line">
            <a:avLst/>
          </a:prstGeom>
          <a:noFill/>
          <a:ln w="12700">
            <a:solidFill>
              <a:srgbClr val="1C2126"/>
            </a:solidFill>
            <a:prstDash val="solid"/>
          </a:ln>
        </p:spPr>
      </p:sp>
      <p:sp>
        <p:nvSpPr>
          <p:cNvPr id="33" name="rect-31"/>
          <p:cNvSpPr/>
          <p:nvPr/>
        </p:nvSpPr>
        <p:spPr>
          <a:xfrm>
            <a:off x="3566160" y="5715000"/>
            <a:ext cx="201168" cy="164592"/>
          </a:xfrm>
          <a:prstGeom prst="rect">
            <a:avLst/>
          </a:prstGeom>
          <a:solidFill>
            <a:srgbClr val="B4361F"/>
          </a:solidFill>
          <a:ln/>
        </p:spPr>
      </p:sp>
      <p:sp>
        <p:nvSpPr>
          <p:cNvPr id="34" name="text-32"/>
          <p:cNvSpPr txBox="1"/>
          <p:nvPr/>
        </p:nvSpPr>
        <p:spPr>
          <a:xfrm>
            <a:off x="3840480" y="5687568"/>
            <a:ext cx="2743200" cy="228600"/>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Above baseline in incident windows</a:t>
            </a:r>
            <a:endParaRPr lang="en-US" sz="1050" dirty="0"/>
          </a:p>
        </p:txBody>
      </p:sp>
      <p:sp>
        <p:nvSpPr>
          <p:cNvPr id="35" name="rect-33"/>
          <p:cNvSpPr/>
          <p:nvPr/>
        </p:nvSpPr>
        <p:spPr>
          <a:xfrm>
            <a:off x="6583680" y="5715000"/>
            <a:ext cx="201168" cy="164592"/>
          </a:xfrm>
          <a:prstGeom prst="rect">
            <a:avLst/>
          </a:prstGeom>
          <a:solidFill>
            <a:srgbClr val="2F6DB3"/>
          </a:solidFill>
          <a:ln/>
        </p:spPr>
      </p:sp>
      <p:sp>
        <p:nvSpPr>
          <p:cNvPr id="36" name="text-34"/>
          <p:cNvSpPr txBox="1"/>
          <p:nvPr/>
        </p:nvSpPr>
        <p:spPr>
          <a:xfrm>
            <a:off x="6858000" y="5687568"/>
            <a:ext cx="1828800" cy="228600"/>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Everything else</a:t>
            </a:r>
            <a:endParaRPr lang="en-US" sz="1050" dirty="0"/>
          </a:p>
        </p:txBody>
      </p:sp>
      <p:sp>
        <p:nvSpPr>
          <p:cNvPr id="37" name="rect-35"/>
          <p:cNvSpPr/>
          <p:nvPr/>
        </p:nvSpPr>
        <p:spPr>
          <a:xfrm>
            <a:off x="8138160" y="1417320"/>
            <a:ext cx="3504895" cy="4297680"/>
          </a:xfrm>
          <a:prstGeom prst="roundRect">
            <a:avLst>
              <a:gd name="adj" fmla="val 2087"/>
            </a:avLst>
          </a:prstGeom>
          <a:solidFill>
            <a:srgbClr val="FFFFFF"/>
          </a:solidFill>
          <a:ln w="9525">
            <a:solidFill>
              <a:srgbClr val="DFE3E7"/>
            </a:solidFill>
            <a:prstDash val="solid"/>
          </a:ln>
        </p:spPr>
      </p:sp>
      <p:sp>
        <p:nvSpPr>
          <p:cNvPr id="38" name="text-36"/>
          <p:cNvSpPr txBox="1"/>
          <p:nvPr/>
        </p:nvSpPr>
        <p:spPr>
          <a:xfrm>
            <a:off x="8321040" y="1572768"/>
            <a:ext cx="3139135" cy="4114800"/>
          </a:xfrm>
          <a:prstGeom prst="rect">
            <a:avLst/>
          </a:prstGeom>
          <a:noFill/>
          <a:ln/>
        </p:spPr>
        <p:txBody>
          <a:bodyPr wrap="square" lIns="0" tIns="0" rIns="0" bIns="0" rtlCol="0" anchor="t"/>
          <a:lstStyle/>
          <a:p>
            <a:pPr algn="l" indent="0" marL="0">
              <a:spcAft>
                <a:spcPts val="800"/>
              </a:spcAft>
              <a:buNone/>
            </a:pPr>
            <a:r>
              <a:rPr lang="en-US" sz="1250" b="1" dirty="0">
                <a:solidFill>
                  <a:srgbClr val="1C2126"/>
                </a:solidFill>
                <a:latin typeface="Arial" pitchFamily="34" charset="0"/>
                <a:ea typeface="Arial" pitchFamily="34" charset="-122"/>
                <a:cs typeface="Arial" pitchFamily="34" charset="-120"/>
              </a:rPr>
              <a:t>How to read the bars</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Fraud signals: −1.90 pp of −2.05 pp sits in two windows.</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Execution errors: almost all of −1.62 pp is on Sep 1–2.</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Selfie / liveness: −0.69 pp on Sep 1 and 6, −0.26 pp elsewhere.</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No document type, no reason code: −0.60 pp, all outside the windows, so it is a slower, continuous shift (mostly Mexican documents).</a:t>
            </a:r>
            <a:endParaRPr lang="en-US" sz="1250" dirty="0"/>
          </a:p>
          <a:p>
            <a:pPr algn="l" marL="152400" indent="-152400">
              <a:buSzPct val="100000"/>
              <a:buChar char="•"/>
            </a:pPr>
            <a:r>
              <a:rPr lang="en-US" sz="1250" dirty="0">
                <a:solidFill>
                  <a:srgbClr val="1C2126"/>
                </a:solidFill>
                <a:latin typeface="Arial" pitchFamily="34" charset="0"/>
                <a:ea typeface="Arial" pitchFamily="34" charset="-122"/>
                <a:cs typeface="Arial" pitchFamily="34" charset="-120"/>
              </a:rPr>
              <a:t>Face match: 2.77% → 2.41% of decisions. Not a cause of the drop, but a large loss from before the drop.</a:t>
            </a:r>
            <a:endParaRPr lang="en-US" sz="1250" dirty="0"/>
          </a:p>
        </p:txBody>
      </p:sp>
      <p:sp>
        <p:nvSpPr>
          <p:cNvPr id="39" name="text-37"/>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298 recent unsuccessful decisions had two or more failed checks. A primary reason prevents double counts. A fix for that reason does not by itself get the person approved.</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About 1,057 failures sit above baseline in four windows; causes are unconfirmed</a:t>
            </a:r>
            <a:endParaRPr lang="en-US" sz="2600" dirty="0"/>
          </a:p>
        </p:txBody>
      </p:sp>
      <p:graphicFrame>
        <p:nvGraphicFramePr>
          <p:cNvPr id="9" name="table-1"/>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291840"/>
                <a:gridCol w="2743200"/>
                <a:gridCol w="868680"/>
                <a:gridCol w="868680"/>
                <a:gridCol w="1097280"/>
                <a:gridCol w="1234440"/>
                <a:gridCol w="987552"/>
              </a:tblGrid>
              <a:tr h="0">
                <a:tc>
                  <a:txBody>
                    <a:bodyPr/>
                    <a:lstStyle/>
                    <a:p>
                      <a:pPr indent="0" marL="0">
                        <a:buNone/>
                      </a:pPr>
                      <a:r>
                        <a:rPr lang="en-US" sz="1150" b="1" dirty="0">
                          <a:solidFill>
                            <a:srgbClr val="59636D"/>
                          </a:solidFill>
                          <a:latin typeface="Arial" pitchFamily="34" charset="0"/>
                          <a:ea typeface="Arial" pitchFamily="34" charset="-122"/>
                          <a:cs typeface="Arial" pitchFamily="34" charset="-120"/>
                        </a:rPr>
                        <a:t>Window (2023)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Type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Observed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Expected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Above baseline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Of recent unsuccessful</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Approval pts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1. Argentina fraud-signal burst, Aug 24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Suspected additional attack traffic</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376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373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8.9%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−1.48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2. Execution errors at usability, Sep 1–2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Technical failure that affected applicants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407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407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9.7%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−1.62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3. Liveness quality spike, Sep 1 and Sep 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Technical failure that affected applicants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174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173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−0.69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4. Mexico INE fraud-signal cluster, Sep 14–19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Fraud-signal cluster without extra volume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111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7.0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104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−0.41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1C2126"/>
                          </a:solidFill>
                          <a:latin typeface="Arial" pitchFamily="34" charset="0"/>
                          <a:ea typeface="Arial" pitchFamily="34" charset="-122"/>
                          <a:cs typeface="Arial" pitchFamily="34" charset="-120"/>
                        </a:rPr>
                        <a:t>Total</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b="1" dirty="0">
                          <a:solidFill>
                            <a:srgbClr val="1C2126"/>
                          </a:solidFill>
                          <a:latin typeface="Arial" pitchFamily="34" charset="0"/>
                          <a:ea typeface="Arial" pitchFamily="34" charset="-122"/>
                          <a:cs typeface="Arial" pitchFamily="34" charset="-120"/>
                        </a:rPr>
                        <a:t>1,057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b="1" dirty="0">
                          <a:solidFill>
                            <a:srgbClr val="1C2126"/>
                          </a:solidFill>
                          <a:latin typeface="Arial" pitchFamily="34" charset="0"/>
                          <a:ea typeface="Arial" pitchFamily="34" charset="-122"/>
                          <a:cs typeface="Arial" pitchFamily="34" charset="-120"/>
                        </a:rPr>
                        <a:t>25.2%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b="1" dirty="0">
                          <a:solidFill>
                            <a:srgbClr val="1C2126"/>
                          </a:solidFill>
                          <a:latin typeface="Arial" pitchFamily="34" charset="0"/>
                          <a:ea typeface="Arial" pitchFamily="34" charset="-122"/>
                          <a:cs typeface="Arial" pitchFamily="34" charset="-120"/>
                        </a:rPr>
                        <a:t>−4.20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3886200"/>
            <a:ext cx="5394960" cy="2103120"/>
          </a:xfrm>
          <a:prstGeom prst="rect">
            <a:avLst/>
          </a:prstGeom>
          <a:noFill/>
          <a:ln/>
        </p:spPr>
        <p:txBody>
          <a:bodyPr wrap="square" lIns="0" tIns="0" rIns="0" bIns="0" rtlCol="0" anchor="t"/>
          <a:lstStyle/>
          <a:p>
            <a:pPr algn="l" indent="0" marL="0">
              <a:spcAft>
                <a:spcPts val="600"/>
              </a:spcAft>
              <a:buNone/>
            </a:pPr>
            <a:r>
              <a:rPr lang="en-US" sz="1300" b="1" dirty="0">
                <a:solidFill>
                  <a:srgbClr val="1C2126"/>
                </a:solidFill>
                <a:latin typeface="Arial" pitchFamily="34" charset="0"/>
                <a:ea typeface="Arial" pitchFamily="34" charset="-122"/>
                <a:cs typeface="Arial" pitchFamily="34" charset="-120"/>
              </a:rPr>
              <a:t>What we know and what we do not know</a:t>
            </a:r>
            <a:endParaRPr lang="en-US" sz="1300" dirty="0"/>
          </a:p>
          <a:p>
            <a:pPr algn="l" marL="152400" indent="-152400">
              <a:spcAft>
                <a:spcPts val="400"/>
              </a:spcAft>
              <a:buSzPct val="100000"/>
              <a:buChar char="•"/>
            </a:pPr>
            <a:r>
              <a:rPr lang="en-US" sz="1200" dirty="0">
                <a:solidFill>
                  <a:srgbClr val="1C2126"/>
                </a:solidFill>
                <a:latin typeface="Arial" pitchFamily="34" charset="0"/>
                <a:ea typeface="Arial" pitchFamily="34" charset="-122"/>
                <a:cs typeface="Arial" pitchFamily="34" charset="-120"/>
              </a:rPr>
              <a:t>Argentina, Aug 24: 660 decisions vs a typical 318; 373 of the flagged passed liveness. Suggests attack traffic; not adjudicated.</a:t>
            </a:r>
            <a:endParaRPr lang="en-US" sz="1300" dirty="0"/>
          </a:p>
          <a:p>
            <a:pPr algn="l" marL="152400" indent="-152400">
              <a:spcAft>
                <a:spcPts val="400"/>
              </a:spcAft>
              <a:buSzPct val="100000"/>
              <a:buChar char="•"/>
            </a:pPr>
            <a:r>
              <a:rPr lang="en-US" sz="1200" dirty="0">
                <a:solidFill>
                  <a:srgbClr val="1C2126"/>
                </a:solidFill>
                <a:latin typeface="Arial" pitchFamily="34" charset="0"/>
                <a:ea typeface="Arial" pitchFamily="34" charset="-122"/>
                <a:cs typeface="Arial" pitchFamily="34" charset="-120"/>
              </a:rPr>
              <a:t>Sep 1–2: usability TECHNICAL_ERROR, liveness passed in all 407, screening passed in 251. Vendor or ARQ integration: unknown.</a:t>
            </a:r>
            <a:endParaRPr lang="en-US" sz="1300" dirty="0"/>
          </a:p>
          <a:p>
            <a:pPr algn="l" marL="152400" indent="-152400">
              <a:buSzPct val="100000"/>
              <a:buChar char="•"/>
            </a:pPr>
            <a:r>
              <a:rPr lang="en-US" sz="1200" dirty="0">
                <a:solidFill>
                  <a:srgbClr val="1C2126"/>
                </a:solidFill>
                <a:latin typeface="Arial" pitchFamily="34" charset="0"/>
                <a:ea typeface="Arial" pitchFamily="34" charset="-122"/>
                <a:cs typeface="Arial" pitchFamily="34" charset="-120"/>
              </a:rPr>
              <a:t>Mexico, Sep 14–19: INE flags without extra volume: fraud, a rule change or a new card version.</a:t>
            </a:r>
            <a:endParaRPr lang="en-US" sz="1300" dirty="0"/>
          </a:p>
        </p:txBody>
      </p:sp>
      <p:sp>
        <p:nvSpPr>
          <p:cNvPr id="5" name="rect-3"/>
          <p:cNvSpPr/>
          <p:nvPr/>
        </p:nvSpPr>
        <p:spPr>
          <a:xfrm>
            <a:off x="6263640" y="3886200"/>
            <a:ext cx="5379415" cy="2057400"/>
          </a:xfrm>
          <a:prstGeom prst="roundRect">
            <a:avLst>
              <a:gd name="adj" fmla="val 3556"/>
            </a:avLst>
          </a:prstGeom>
          <a:solidFill>
            <a:srgbClr val="F8F1E6"/>
          </a:solidFill>
          <a:ln w="9525">
            <a:solidFill>
              <a:srgbClr val="EAD9BE"/>
            </a:solidFill>
            <a:prstDash val="solid"/>
          </a:ln>
        </p:spPr>
      </p:sp>
      <p:sp>
        <p:nvSpPr>
          <p:cNvPr id="6" name="text-4"/>
          <p:cNvSpPr txBox="1"/>
          <p:nvPr/>
        </p:nvSpPr>
        <p:spPr>
          <a:xfrm>
            <a:off x="6446520" y="4005072"/>
            <a:ext cx="5013655" cy="1920240"/>
          </a:xfrm>
          <a:prstGeom prst="rect">
            <a:avLst/>
          </a:prstGeom>
          <a:noFill/>
          <a:ln/>
        </p:spPr>
        <p:txBody>
          <a:bodyPr wrap="square" lIns="0" tIns="0" rIns="0" bIns="0" rtlCol="0" anchor="t"/>
          <a:lstStyle/>
          <a:p>
            <a:pPr algn="l" indent="0" marL="0">
              <a:spcAft>
                <a:spcPts val="600"/>
              </a:spcAft>
              <a:buNone/>
            </a:pPr>
            <a:r>
              <a:rPr lang="en-US" sz="1300" b="1" dirty="0">
                <a:solidFill>
                  <a:srgbClr val="8F5B00"/>
                </a:solidFill>
                <a:latin typeface="Arial" pitchFamily="34" charset="0"/>
                <a:ea typeface="Arial" pitchFamily="34" charset="-122"/>
                <a:cs typeface="Arial" pitchFamily="34" charset="-120"/>
              </a:rPr>
              <a:t>Vendor status page (read Oct 13, 2026)</a:t>
            </a:r>
            <a:endParaRPr lang="en-US" sz="1300" dirty="0"/>
          </a:p>
          <a:p>
            <a:pPr algn="l" indent="0" marL="0">
              <a:spcAft>
                <a:spcPts val="600"/>
              </a:spcAft>
              <a:buNone/>
            </a:pPr>
            <a:r>
              <a:rPr lang="en-US" sz="1200" dirty="0">
                <a:solidFill>
                  <a:srgbClr val="1C2126"/>
                </a:solidFill>
                <a:latin typeface="Arial" pitchFamily="34" charset="0"/>
                <a:ea typeface="Arial" pitchFamily="34" charset="-122"/>
                <a:cs typeface="Arial" pitchFamily="34" charset="-120"/>
              </a:rPr>
              <a:t>Liveness incidents on the vendor’s US data centre: Sep 1 (15:38–16:42 and 18:07–22:44 UTC) and Sep 6 (10:00–17:22 UTC). No entry for Sep 2 or for the fraud-signal dates.</a:t>
            </a:r>
            <a:endParaRPr lang="en-US" sz="1300" dirty="0"/>
          </a:p>
          <a:p>
            <a:pPr algn="l" indent="0" marL="0">
              <a:buNone/>
            </a:pPr>
            <a:r>
              <a:rPr lang="en-US" sz="1200" dirty="0">
                <a:solidFill>
                  <a:srgbClr val="59636D"/>
                </a:solidFill>
                <a:latin typeface="Arial" pitchFamily="34" charset="0"/>
                <a:ea typeface="Arial" pitchFamily="34" charset="-122"/>
                <a:cs typeface="Arial" pitchFamily="34" charset="-120"/>
              </a:rPr>
              <a:t>A documented vendor incident is not confirmation of impact on ARQ.</a:t>
            </a:r>
            <a:endParaRPr lang="en-US" sz="1300" dirty="0"/>
          </a:p>
        </p:txBody>
      </p:sp>
      <p:sp>
        <p:nvSpPr>
          <p:cNvPr id="7" name="text-5"/>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Without the 10 incident days the rate still fell −1.45 pp (88.7% → 87.2%); they hold 38% of recent decisions. Sensitivity range 1,055–1,130 across window, signature and baseline variants. Without the 1,068 failures that match the patterns, the rate is 86.99%. That is a descriptive rate, not performance without incidents.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Six hypotheses, each with the step that would settle it</a:t>
            </a:r>
            <a:endParaRPr lang="en-US" sz="2600" dirty="0"/>
          </a:p>
        </p:txBody>
      </p:sp>
      <p:graphicFrame>
        <p:nvGraphicFramePr>
          <p:cNvPr id="10" name="table-1"/>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502920"/>
                <a:gridCol w="3200400"/>
                <a:gridCol w="2606040"/>
                <a:gridCol w="2697480"/>
                <a:gridCol w="2084832"/>
              </a:tblGrid>
              <a:tr h="0">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Hypothesis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Strongest alternative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Next step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Decision it enables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Execution errors on Sep 1–2 became rejections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Vendor fault vs ARQ integration or network</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Pull ARQ logs and raw responses; vendor incident report</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Fault owner; SLA question; hold-and-retry either way</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Liveness failures on Sep 1 and 6 were a vendor fault</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ARQ app or SDK release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Release log; vendor list of affected transactions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Escalate; test a retake policy</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Aug 24 Argentina burst was coordinated fraud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Vendor false positives during a campaign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Adjudicate a sample; channel and device data</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Pre-vendor velocity controls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Sep 14–19 INE flags reflect a vendor rule change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Quieter fraud; new INE card version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Sample review with the vendor; registry check</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vs auto-decline for INE flags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Mexican "no document type" has several causes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Unsupported documents, capture, configuration, coverage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100 cases with the vendor; config history</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Picker vs configuration vs escalation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Face mismatches partly reflect old ID photos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Impostors; poor light on the selfie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Adjudicate NO_MATCH and NOT_POSSIBLE samples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queue or registry face check</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71500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Data behind each: H1 407 TECHNICAL_ERROR rejections. H2 174 liveness quality failures on two days. H3 376 signals with doubled volume. H4 111 INE signals at normal volume. H5 no document type 11.3% → 14.2% of Mexican decisions. H6 face match 2.41% of recent decisions.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The plan in four tracks: fix and measure, test, learn, build</a:t>
            </a:r>
            <a:endParaRPr lang="en-US" sz="2600" dirty="0"/>
          </a:p>
        </p:txBody>
      </p:sp>
      <p:sp>
        <p:nvSpPr>
          <p:cNvPr id="3" name="rect-1"/>
          <p:cNvSpPr/>
          <p:nvPr/>
        </p:nvSpPr>
        <p:spPr>
          <a:xfrm>
            <a:off x="548640" y="1325880"/>
            <a:ext cx="2103120" cy="347472"/>
          </a:xfrm>
          <a:prstGeom prst="roundRect">
            <a:avLst>
              <a:gd name="adj" fmla="val 13158"/>
            </a:avLst>
          </a:prstGeom>
          <a:solidFill>
            <a:srgbClr val="1C2126"/>
          </a:solidFill>
          <a:ln/>
        </p:spPr>
      </p:sp>
      <p:sp>
        <p:nvSpPr>
          <p:cNvPr id="4" name="text-2"/>
          <p:cNvSpPr txBox="1"/>
          <p:nvPr/>
        </p:nvSpPr>
        <p:spPr>
          <a:xfrm>
            <a:off x="658368" y="1389888"/>
            <a:ext cx="1883664" cy="237744"/>
          </a:xfrm>
          <a:prstGeom prst="rect">
            <a:avLst/>
          </a:prstGeom>
          <a:noFill/>
          <a:ln/>
        </p:spPr>
        <p:txBody>
          <a:bodyPr wrap="square" lIns="0" tIns="0" rIns="0" bIns="0" rtlCol="0" anchor="t"/>
          <a:lstStyle/>
          <a:p>
            <a:pPr algn="l" indent="0" marL="0">
              <a:buNone/>
            </a:pPr>
            <a:r>
              <a:rPr lang="en-US" sz="1050" dirty="0">
                <a:solidFill>
                  <a:srgbClr val="FFFFFF"/>
                </a:solidFill>
                <a:latin typeface="Arial" pitchFamily="34" charset="0"/>
                <a:ea typeface="Arial" pitchFamily="34" charset="-122"/>
                <a:cs typeface="Arial" pitchFamily="34" charset="-120"/>
              </a:rPr>
              <a:t>Track</a:t>
            </a:r>
            <a:endParaRPr lang="en-US" sz="1050" dirty="0"/>
          </a:p>
        </p:txBody>
      </p:sp>
      <p:sp>
        <p:nvSpPr>
          <p:cNvPr id="5" name="rect-3"/>
          <p:cNvSpPr/>
          <p:nvPr/>
        </p:nvSpPr>
        <p:spPr>
          <a:xfrm>
            <a:off x="2724912" y="1325880"/>
            <a:ext cx="2192960" cy="347472"/>
          </a:xfrm>
          <a:prstGeom prst="roundRect">
            <a:avLst>
              <a:gd name="adj" fmla="val 13158"/>
            </a:avLst>
          </a:prstGeom>
          <a:solidFill>
            <a:srgbClr val="EEF3FA"/>
          </a:solidFill>
          <a:ln w="9525">
            <a:solidFill>
              <a:srgbClr val="D3E0F2"/>
            </a:solidFill>
            <a:prstDash val="solid"/>
          </a:ln>
        </p:spPr>
      </p:sp>
      <p:sp>
        <p:nvSpPr>
          <p:cNvPr id="6" name="text-4"/>
          <p:cNvSpPr txBox="1"/>
          <p:nvPr/>
        </p:nvSpPr>
        <p:spPr>
          <a:xfrm>
            <a:off x="2816352" y="1389888"/>
            <a:ext cx="2010080" cy="237744"/>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P0 · Weeks 0–2 · Measure and stabilise</a:t>
            </a:r>
            <a:endParaRPr lang="en-US" sz="1000" dirty="0"/>
          </a:p>
        </p:txBody>
      </p:sp>
      <p:sp>
        <p:nvSpPr>
          <p:cNvPr id="7" name="rect-5"/>
          <p:cNvSpPr/>
          <p:nvPr/>
        </p:nvSpPr>
        <p:spPr>
          <a:xfrm>
            <a:off x="4991024" y="1325880"/>
            <a:ext cx="2192960" cy="347472"/>
          </a:xfrm>
          <a:prstGeom prst="roundRect">
            <a:avLst>
              <a:gd name="adj" fmla="val 13158"/>
            </a:avLst>
          </a:prstGeom>
          <a:solidFill>
            <a:srgbClr val="EEF3FA"/>
          </a:solidFill>
          <a:ln w="9525">
            <a:solidFill>
              <a:srgbClr val="D3E0F2"/>
            </a:solidFill>
            <a:prstDash val="solid"/>
          </a:ln>
        </p:spPr>
      </p:sp>
      <p:sp>
        <p:nvSpPr>
          <p:cNvPr id="8" name="text-6"/>
          <p:cNvSpPr txBox="1"/>
          <p:nvPr/>
        </p:nvSpPr>
        <p:spPr>
          <a:xfrm>
            <a:off x="5082464" y="1389888"/>
            <a:ext cx="2010080" cy="237744"/>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P1 · Weeks 2–6 · Test the main fixes</a:t>
            </a:r>
            <a:endParaRPr lang="en-US" sz="1000" dirty="0"/>
          </a:p>
        </p:txBody>
      </p:sp>
      <p:sp>
        <p:nvSpPr>
          <p:cNvPr id="9" name="rect-7"/>
          <p:cNvSpPr/>
          <p:nvPr/>
        </p:nvSpPr>
        <p:spPr>
          <a:xfrm>
            <a:off x="7257136" y="1325880"/>
            <a:ext cx="2192960" cy="347472"/>
          </a:xfrm>
          <a:prstGeom prst="roundRect">
            <a:avLst>
              <a:gd name="adj" fmla="val 13158"/>
            </a:avLst>
          </a:prstGeom>
          <a:solidFill>
            <a:srgbClr val="EEF3FA"/>
          </a:solidFill>
          <a:ln w="9525">
            <a:solidFill>
              <a:srgbClr val="D3E0F2"/>
            </a:solidFill>
            <a:prstDash val="solid"/>
          </a:ln>
        </p:spPr>
      </p:sp>
      <p:sp>
        <p:nvSpPr>
          <p:cNvPr id="10" name="text-8"/>
          <p:cNvSpPr txBox="1"/>
          <p:nvPr/>
        </p:nvSpPr>
        <p:spPr>
          <a:xfrm>
            <a:off x="7348576" y="1389888"/>
            <a:ext cx="2010080" cy="237744"/>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P2 · Weeks 6–13 · Scale what works</a:t>
            </a:r>
            <a:endParaRPr lang="en-US" sz="1000" dirty="0"/>
          </a:p>
        </p:txBody>
      </p:sp>
      <p:sp>
        <p:nvSpPr>
          <p:cNvPr id="11" name="rect-9"/>
          <p:cNvSpPr/>
          <p:nvPr/>
        </p:nvSpPr>
        <p:spPr>
          <a:xfrm>
            <a:off x="9523247" y="1325880"/>
            <a:ext cx="2192960" cy="347472"/>
          </a:xfrm>
          <a:prstGeom prst="roundRect">
            <a:avLst>
              <a:gd name="adj" fmla="val 13158"/>
            </a:avLst>
          </a:prstGeom>
          <a:solidFill>
            <a:srgbClr val="F8F1E6"/>
          </a:solidFill>
          <a:ln w="9525">
            <a:solidFill>
              <a:srgbClr val="EAD9BE"/>
            </a:solidFill>
            <a:prstDash val="solid"/>
          </a:ln>
        </p:spPr>
      </p:sp>
      <p:sp>
        <p:nvSpPr>
          <p:cNvPr id="12" name="text-10"/>
          <p:cNvSpPr txBox="1"/>
          <p:nvPr/>
        </p:nvSpPr>
        <p:spPr>
          <a:xfrm>
            <a:off x="9614687" y="1389888"/>
            <a:ext cx="2010080" cy="237744"/>
          </a:xfrm>
          <a:prstGeom prst="rect">
            <a:avLst/>
          </a:prstGeom>
          <a:noFill/>
          <a:ln/>
        </p:spPr>
        <p:txBody>
          <a:bodyPr wrap="square" lIns="0" tIns="0" rIns="0" bIns="0" rtlCol="0" anchor="t"/>
          <a:lstStyle/>
          <a:p>
            <a:pPr algn="l" indent="0" marL="0">
              <a:buNone/>
            </a:pPr>
            <a:r>
              <a:rPr lang="en-US" sz="1000" dirty="0">
                <a:solidFill>
                  <a:srgbClr val="8F5B00"/>
                </a:solidFill>
                <a:latin typeface="Arial" pitchFamily="34" charset="0"/>
                <a:ea typeface="Arial" pitchFamily="34" charset="-122"/>
                <a:cs typeface="Arial" pitchFamily="34" charset="-120"/>
              </a:rPr>
              <a:t>P3 · Next two quarters · Platform work (large)</a:t>
            </a:r>
            <a:endParaRPr lang="en-US" sz="1000" dirty="0"/>
          </a:p>
        </p:txBody>
      </p:sp>
      <p:sp>
        <p:nvSpPr>
          <p:cNvPr id="13" name="rect-11"/>
          <p:cNvSpPr/>
          <p:nvPr/>
        </p:nvSpPr>
        <p:spPr>
          <a:xfrm>
            <a:off x="548640" y="1746504"/>
            <a:ext cx="2103120" cy="1197864"/>
          </a:xfrm>
          <a:prstGeom prst="roundRect">
            <a:avLst>
              <a:gd name="adj" fmla="val 3817"/>
            </a:avLst>
          </a:prstGeom>
          <a:solidFill>
            <a:srgbClr val="FFFFFF"/>
          </a:solidFill>
          <a:ln w="9525">
            <a:solidFill>
              <a:srgbClr val="DFE3E7"/>
            </a:solidFill>
            <a:prstDash val="solid"/>
          </a:ln>
        </p:spPr>
      </p:sp>
      <p:sp>
        <p:nvSpPr>
          <p:cNvPr id="14" name="text-12"/>
          <p:cNvSpPr txBox="1"/>
          <p:nvPr/>
        </p:nvSpPr>
        <p:spPr>
          <a:xfrm>
            <a:off x="658368" y="1801368"/>
            <a:ext cx="1883664" cy="1106424"/>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Fix and measure</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Obvious fixes and the instruments to see them work. Cheap, start now.</a:t>
            </a:r>
            <a:endParaRPr lang="en-US" sz="1100" dirty="0"/>
          </a:p>
        </p:txBody>
      </p:sp>
      <p:sp>
        <p:nvSpPr>
          <p:cNvPr id="15" name="rect-13"/>
          <p:cNvSpPr/>
          <p:nvPr/>
        </p:nvSpPr>
        <p:spPr>
          <a:xfrm>
            <a:off x="2724912" y="1746504"/>
            <a:ext cx="2192960" cy="1197864"/>
          </a:xfrm>
          <a:prstGeom prst="roundRect">
            <a:avLst>
              <a:gd name="adj" fmla="val 3817"/>
            </a:avLst>
          </a:prstGeom>
          <a:solidFill>
            <a:srgbClr val="FFFFFF"/>
          </a:solidFill>
          <a:ln w="9525">
            <a:solidFill>
              <a:srgbClr val="DFE3E7"/>
            </a:solidFill>
            <a:prstDash val="solid"/>
          </a:ln>
        </p:spPr>
      </p:sp>
      <p:sp>
        <p:nvSpPr>
          <p:cNvPr id="16" name="text-14"/>
          <p:cNvSpPr txBox="1"/>
          <p:nvPr/>
        </p:nvSpPr>
        <p:spPr>
          <a:xfrm>
            <a:off x="2816352" y="1801368"/>
            <a:ext cx="2010080" cy="1106424"/>
          </a:xfrm>
          <a:prstGeom prst="rect">
            <a:avLst/>
          </a:prstGeom>
          <a:noFill/>
          <a:ln/>
        </p:spPr>
        <p:txBody>
          <a:bodyPr wrap="square" lIns="0" tIns="0" rIns="0" bIns="0" rtlCol="0" anchor="t"/>
          <a:lstStyle/>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Minimum funnel instrumentation</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Hold and retry on TECHNICAL_ERROR</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Daily, then hourly, alerts per reason code</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Reconcile the control findings</a:t>
            </a:r>
            <a:endParaRPr lang="en-US" sz="950" dirty="0"/>
          </a:p>
          <a:p>
            <a:pPr algn="l" indent="0" marL="0">
              <a:buNone/>
            </a:pPr>
            <a:r>
              <a:rPr lang="en-US" sz="950" dirty="0">
                <a:solidFill>
                  <a:srgbClr val="1C2126"/>
                </a:solidFill>
                <a:latin typeface="Arial" pitchFamily="34" charset="0"/>
                <a:ea typeface="Arial" pitchFamily="34" charset="-122"/>
                <a:cs typeface="Arial" pitchFamily="34" charset="-120"/>
              </a:rPr>
              <a:t>• Report the headline with its breakdown</a:t>
            </a:r>
            <a:endParaRPr lang="en-US" sz="950" dirty="0"/>
          </a:p>
        </p:txBody>
      </p:sp>
      <p:sp>
        <p:nvSpPr>
          <p:cNvPr id="17" name="rect-15"/>
          <p:cNvSpPr/>
          <p:nvPr/>
        </p:nvSpPr>
        <p:spPr>
          <a:xfrm>
            <a:off x="4991024" y="1746504"/>
            <a:ext cx="2192960" cy="1197864"/>
          </a:xfrm>
          <a:prstGeom prst="roundRect">
            <a:avLst>
              <a:gd name="adj" fmla="val 3817"/>
            </a:avLst>
          </a:prstGeom>
          <a:solidFill>
            <a:srgbClr val="FFFFFF"/>
          </a:solidFill>
          <a:ln w="9525">
            <a:solidFill>
              <a:srgbClr val="DFE3E7"/>
            </a:solidFill>
            <a:prstDash val="solid"/>
          </a:ln>
        </p:spPr>
      </p:sp>
      <p:sp>
        <p:nvSpPr>
          <p:cNvPr id="18" name="text-16"/>
          <p:cNvSpPr txBox="1"/>
          <p:nvPr/>
        </p:nvSpPr>
        <p:spPr>
          <a:xfrm>
            <a:off x="5082464" y="1801368"/>
            <a:ext cx="2010080" cy="1106424"/>
          </a:xfrm>
          <a:prstGeom prst="rect">
            <a:avLst/>
          </a:prstGeom>
          <a:noFill/>
          <a:ln/>
        </p:spPr>
        <p:txBody>
          <a:bodyPr wrap="square" lIns="0" tIns="0" rIns="0" bIns="0" rtlCol="0" anchor="t"/>
          <a:lstStyle/>
          <a:p>
            <a:pPr algn="l" indent="0" marL="0">
              <a:buNone/>
            </a:pPr>
            <a:r>
              <a:rPr lang="en-US" sz="950" dirty="0">
                <a:solidFill>
                  <a:srgbClr val="8F5B00"/>
                </a:solidFill>
                <a:latin typeface="Arial" pitchFamily="34" charset="0"/>
                <a:ea typeface="Arial" pitchFamily="34" charset="-122"/>
                <a:cs typeface="Arial" pitchFamily="34" charset="-120"/>
              </a:rPr>
              <a:t>◌ Velocity and device checks before the vendor call</a:t>
            </a:r>
            <a:endParaRPr lang="en-US" sz="950" dirty="0"/>
          </a:p>
        </p:txBody>
      </p:sp>
      <p:sp>
        <p:nvSpPr>
          <p:cNvPr id="19" name="rect-17"/>
          <p:cNvSpPr/>
          <p:nvPr/>
        </p:nvSpPr>
        <p:spPr>
          <a:xfrm>
            <a:off x="7257136" y="1746504"/>
            <a:ext cx="2192960" cy="1197864"/>
          </a:xfrm>
          <a:prstGeom prst="roundRect">
            <a:avLst>
              <a:gd name="adj" fmla="val 3817"/>
            </a:avLst>
          </a:prstGeom>
          <a:solidFill>
            <a:srgbClr val="FFFFFF"/>
          </a:solidFill>
          <a:ln w="9525">
            <a:solidFill>
              <a:srgbClr val="DFE3E7"/>
            </a:solidFill>
            <a:prstDash val="solid"/>
          </a:ln>
        </p:spPr>
      </p:sp>
      <p:sp>
        <p:nvSpPr>
          <p:cNvPr id="20" name="text-18"/>
          <p:cNvSpPr txBox="1"/>
          <p:nvPr/>
        </p:nvSpPr>
        <p:spPr>
          <a:xfrm>
            <a:off x="7348576" y="1801368"/>
            <a:ext cx="2010080" cy="1106424"/>
          </a:xfrm>
          <a:prstGeom prst="rect">
            <a:avLst/>
          </a:prstGeom>
          <a:noFill/>
          <a:ln/>
        </p:spPr>
        <p:txBody>
          <a:bodyPr wrap="square" lIns="0" tIns="0" rIns="0" bIns="0" rtlCol="0" anchor="t"/>
          <a:lstStyle/>
          <a:p>
            <a:pPr algn="l" indent="0" marL="0">
              <a:buNone/>
            </a:pPr>
            <a:r>
              <a:rPr lang="en-US" sz="950" dirty="0">
                <a:solidFill>
                  <a:srgbClr val="8F5B00"/>
                </a:solidFill>
                <a:latin typeface="Arial" pitchFamily="34" charset="0"/>
                <a:ea typeface="Arial" pitchFamily="34" charset="-122"/>
                <a:cs typeface="Arial" pitchFamily="34" charset="-120"/>
              </a:rPr>
              <a:t>◌ Invite recoverable applicants back</a:t>
            </a:r>
            <a:endParaRPr lang="en-US" sz="950" dirty="0"/>
          </a:p>
        </p:txBody>
      </p:sp>
      <p:sp>
        <p:nvSpPr>
          <p:cNvPr id="21" name="rect-19"/>
          <p:cNvSpPr/>
          <p:nvPr/>
        </p:nvSpPr>
        <p:spPr>
          <a:xfrm>
            <a:off x="9523247" y="1746504"/>
            <a:ext cx="2192960" cy="1197864"/>
          </a:xfrm>
          <a:prstGeom prst="roundRect">
            <a:avLst>
              <a:gd name="adj" fmla="val 3817"/>
            </a:avLst>
          </a:prstGeom>
          <a:solidFill>
            <a:srgbClr val="FFFFFF"/>
          </a:solidFill>
          <a:ln w="9525">
            <a:solidFill>
              <a:srgbClr val="DFE3E7"/>
            </a:solidFill>
            <a:prstDash val="solid"/>
          </a:ln>
        </p:spPr>
      </p:sp>
      <p:sp>
        <p:nvSpPr>
          <p:cNvPr id="22" name="rect-20"/>
          <p:cNvSpPr/>
          <p:nvPr/>
        </p:nvSpPr>
        <p:spPr>
          <a:xfrm>
            <a:off x="548640" y="3017520"/>
            <a:ext cx="2103120" cy="566928"/>
          </a:xfrm>
          <a:prstGeom prst="roundRect">
            <a:avLst>
              <a:gd name="adj" fmla="val 8065"/>
            </a:avLst>
          </a:prstGeom>
          <a:solidFill>
            <a:srgbClr val="FFFFFF"/>
          </a:solidFill>
          <a:ln w="9525">
            <a:solidFill>
              <a:srgbClr val="DFE3E7"/>
            </a:solidFill>
            <a:prstDash val="solid"/>
          </a:ln>
        </p:spPr>
      </p:sp>
      <p:sp>
        <p:nvSpPr>
          <p:cNvPr id="23" name="text-21"/>
          <p:cNvSpPr txBox="1"/>
          <p:nvPr/>
        </p:nvSpPr>
        <p:spPr>
          <a:xfrm>
            <a:off x="658368" y="3072384"/>
            <a:ext cx="1883664" cy="475488"/>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Test the fixes</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Hypotheses that are quick to try as experiments.</a:t>
            </a:r>
            <a:endParaRPr lang="en-US" sz="1100" dirty="0"/>
          </a:p>
        </p:txBody>
      </p:sp>
      <p:sp>
        <p:nvSpPr>
          <p:cNvPr id="24" name="rect-22"/>
          <p:cNvSpPr/>
          <p:nvPr/>
        </p:nvSpPr>
        <p:spPr>
          <a:xfrm>
            <a:off x="2724912" y="3017520"/>
            <a:ext cx="2192960" cy="566928"/>
          </a:xfrm>
          <a:prstGeom prst="roundRect">
            <a:avLst>
              <a:gd name="adj" fmla="val 8065"/>
            </a:avLst>
          </a:prstGeom>
          <a:solidFill>
            <a:srgbClr val="FFFFFF"/>
          </a:solidFill>
          <a:ln w="9525">
            <a:solidFill>
              <a:srgbClr val="DFE3E7"/>
            </a:solidFill>
            <a:prstDash val="solid"/>
          </a:ln>
        </p:spPr>
      </p:sp>
      <p:sp>
        <p:nvSpPr>
          <p:cNvPr id="25" name="rect-23"/>
          <p:cNvSpPr/>
          <p:nvPr/>
        </p:nvSpPr>
        <p:spPr>
          <a:xfrm>
            <a:off x="4991024" y="3017520"/>
            <a:ext cx="2192960" cy="566928"/>
          </a:xfrm>
          <a:prstGeom prst="roundRect">
            <a:avLst>
              <a:gd name="adj" fmla="val 8065"/>
            </a:avLst>
          </a:prstGeom>
          <a:solidFill>
            <a:srgbClr val="FFFFFF"/>
          </a:solidFill>
          <a:ln w="9525">
            <a:solidFill>
              <a:srgbClr val="DFE3E7"/>
            </a:solidFill>
            <a:prstDash val="solid"/>
          </a:ln>
        </p:spPr>
      </p:sp>
      <p:sp>
        <p:nvSpPr>
          <p:cNvPr id="26" name="text-24"/>
          <p:cNvSpPr txBox="1"/>
          <p:nvPr/>
        </p:nvSpPr>
        <p:spPr>
          <a:xfrm>
            <a:off x="5082464" y="3072384"/>
            <a:ext cx="2010080" cy="475488"/>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Test one guided retake on unclear selfies</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Test accepted-document guidance in Mexico</a:t>
            </a:r>
            <a:endParaRPr lang="en-US" sz="950" dirty="0"/>
          </a:p>
        </p:txBody>
      </p:sp>
      <p:sp>
        <p:nvSpPr>
          <p:cNvPr id="27" name="rect-25"/>
          <p:cNvSpPr/>
          <p:nvPr/>
        </p:nvSpPr>
        <p:spPr>
          <a:xfrm>
            <a:off x="7257136" y="3017520"/>
            <a:ext cx="2192960" cy="566928"/>
          </a:xfrm>
          <a:prstGeom prst="roundRect">
            <a:avLst>
              <a:gd name="adj" fmla="val 8065"/>
            </a:avLst>
          </a:prstGeom>
          <a:solidFill>
            <a:srgbClr val="FFFFFF"/>
          </a:solidFill>
          <a:ln w="9525">
            <a:solidFill>
              <a:srgbClr val="DFE3E7"/>
            </a:solidFill>
            <a:prstDash val="solid"/>
          </a:ln>
        </p:spPr>
      </p:sp>
      <p:sp>
        <p:nvSpPr>
          <p:cNvPr id="28" name="text-26"/>
          <p:cNvSpPr txBox="1"/>
          <p:nvPr/>
        </p:nvSpPr>
        <p:spPr>
          <a:xfrm>
            <a:off x="7348576" y="3072384"/>
            <a:ext cx="2010080" cy="475488"/>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On-device capture quality checks</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Pilot manual review of face-match warnings</a:t>
            </a:r>
            <a:endParaRPr lang="en-US" sz="950" dirty="0"/>
          </a:p>
        </p:txBody>
      </p:sp>
      <p:sp>
        <p:nvSpPr>
          <p:cNvPr id="29" name="rect-27"/>
          <p:cNvSpPr/>
          <p:nvPr/>
        </p:nvSpPr>
        <p:spPr>
          <a:xfrm>
            <a:off x="9523247" y="3017520"/>
            <a:ext cx="2192960" cy="566928"/>
          </a:xfrm>
          <a:prstGeom prst="roundRect">
            <a:avLst>
              <a:gd name="adj" fmla="val 8065"/>
            </a:avLst>
          </a:prstGeom>
          <a:solidFill>
            <a:srgbClr val="FFFFFF"/>
          </a:solidFill>
          <a:ln w="9525">
            <a:solidFill>
              <a:srgbClr val="DFE3E7"/>
            </a:solidFill>
            <a:prstDash val="solid"/>
          </a:ln>
        </p:spPr>
      </p:sp>
      <p:sp>
        <p:nvSpPr>
          <p:cNvPr id="30" name="rect-28"/>
          <p:cNvSpPr/>
          <p:nvPr/>
        </p:nvSpPr>
        <p:spPr>
          <a:xfrm>
            <a:off x="548640" y="3657600"/>
            <a:ext cx="2103120" cy="777240"/>
          </a:xfrm>
          <a:prstGeom prst="roundRect">
            <a:avLst>
              <a:gd name="adj" fmla="val 5882"/>
            </a:avLst>
          </a:prstGeom>
          <a:solidFill>
            <a:srgbClr val="FFFFFF"/>
          </a:solidFill>
          <a:ln w="9525">
            <a:solidFill>
              <a:srgbClr val="DFE3E7"/>
            </a:solidFill>
            <a:prstDash val="solid"/>
          </a:ln>
        </p:spPr>
      </p:sp>
      <p:sp>
        <p:nvSpPr>
          <p:cNvPr id="31" name="text-29"/>
          <p:cNvSpPr txBox="1"/>
          <p:nvPr/>
        </p:nvSpPr>
        <p:spPr>
          <a:xfrm>
            <a:off x="658368" y="3712464"/>
            <a:ext cx="1883664" cy="685800"/>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Learn why</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Investigations and research that run beside the fixes.</a:t>
            </a:r>
            <a:endParaRPr lang="en-US" sz="1100" dirty="0"/>
          </a:p>
        </p:txBody>
      </p:sp>
      <p:sp>
        <p:nvSpPr>
          <p:cNvPr id="32" name="rect-30"/>
          <p:cNvSpPr/>
          <p:nvPr/>
        </p:nvSpPr>
        <p:spPr>
          <a:xfrm>
            <a:off x="2724912" y="3657600"/>
            <a:ext cx="2192960" cy="777240"/>
          </a:xfrm>
          <a:prstGeom prst="roundRect">
            <a:avLst>
              <a:gd name="adj" fmla="val 5882"/>
            </a:avLst>
          </a:prstGeom>
          <a:solidFill>
            <a:srgbClr val="FFFFFF"/>
          </a:solidFill>
          <a:ln w="9525">
            <a:solidFill>
              <a:srgbClr val="DFE3E7"/>
            </a:solidFill>
            <a:prstDash val="solid"/>
          </a:ln>
        </p:spPr>
      </p:sp>
      <p:sp>
        <p:nvSpPr>
          <p:cNvPr id="33" name="text-31"/>
          <p:cNvSpPr txBox="1"/>
          <p:nvPr/>
        </p:nvSpPr>
        <p:spPr>
          <a:xfrm>
            <a:off x="2816352" y="3712464"/>
            <a:ext cx="2010080" cy="685800"/>
          </a:xfrm>
          <a:prstGeom prst="rect">
            <a:avLst/>
          </a:prstGeom>
          <a:noFill/>
          <a:ln/>
        </p:spPr>
        <p:txBody>
          <a:bodyPr wrap="square" lIns="0" tIns="0" rIns="0" bIns="0" rtlCol="0" anchor="t"/>
          <a:lstStyle/>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Adjudicate a sample of fraud signals</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Diagnose 'no document type' in Mexico</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Confirm vendor incident scope</a:t>
            </a:r>
            <a:endParaRPr lang="en-US" sz="950" dirty="0"/>
          </a:p>
        </p:txBody>
      </p:sp>
      <p:sp>
        <p:nvSpPr>
          <p:cNvPr id="34" name="rect-32"/>
          <p:cNvSpPr/>
          <p:nvPr/>
        </p:nvSpPr>
        <p:spPr>
          <a:xfrm>
            <a:off x="4991024" y="3657600"/>
            <a:ext cx="2192960" cy="777240"/>
          </a:xfrm>
          <a:prstGeom prst="roundRect">
            <a:avLst>
              <a:gd name="adj" fmla="val 5882"/>
            </a:avLst>
          </a:prstGeom>
          <a:solidFill>
            <a:srgbClr val="FFFFFF"/>
          </a:solidFill>
          <a:ln w="9525">
            <a:solidFill>
              <a:srgbClr val="DFE3E7"/>
            </a:solidFill>
            <a:prstDash val="solid"/>
          </a:ln>
        </p:spPr>
      </p:sp>
      <p:sp>
        <p:nvSpPr>
          <p:cNvPr id="35" name="text-33"/>
          <p:cNvSpPr txBox="1"/>
          <p:nvPr/>
        </p:nvSpPr>
        <p:spPr>
          <a:xfrm>
            <a:off x="5082464" y="3712464"/>
            <a:ext cx="2010080" cy="685800"/>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Watch and ask people who failed the capture</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Decide on the vendor: bake-off on a sample</a:t>
            </a:r>
            <a:endParaRPr lang="en-US" sz="950" dirty="0"/>
          </a:p>
        </p:txBody>
      </p:sp>
      <p:sp>
        <p:nvSpPr>
          <p:cNvPr id="36" name="rect-34"/>
          <p:cNvSpPr/>
          <p:nvPr/>
        </p:nvSpPr>
        <p:spPr>
          <a:xfrm>
            <a:off x="7257136" y="3657600"/>
            <a:ext cx="2192960" cy="777240"/>
          </a:xfrm>
          <a:prstGeom prst="roundRect">
            <a:avLst>
              <a:gd name="adj" fmla="val 5882"/>
            </a:avLst>
          </a:prstGeom>
          <a:solidFill>
            <a:srgbClr val="FFFFFF"/>
          </a:solidFill>
          <a:ln w="9525">
            <a:solidFill>
              <a:srgbClr val="DFE3E7"/>
            </a:solidFill>
            <a:prstDash val="solid"/>
          </a:ln>
        </p:spPr>
      </p:sp>
      <p:sp>
        <p:nvSpPr>
          <p:cNvPr id="37" name="rect-35"/>
          <p:cNvSpPr/>
          <p:nvPr/>
        </p:nvSpPr>
        <p:spPr>
          <a:xfrm>
            <a:off x="9523247" y="3657600"/>
            <a:ext cx="2192960" cy="777240"/>
          </a:xfrm>
          <a:prstGeom prst="roundRect">
            <a:avLst>
              <a:gd name="adj" fmla="val 5882"/>
            </a:avLst>
          </a:prstGeom>
          <a:solidFill>
            <a:srgbClr val="FFFFFF"/>
          </a:solidFill>
          <a:ln w="9525">
            <a:solidFill>
              <a:srgbClr val="DFE3E7"/>
            </a:solidFill>
            <a:prstDash val="solid"/>
          </a:ln>
        </p:spPr>
      </p:sp>
      <p:sp>
        <p:nvSpPr>
          <p:cNvPr id="38" name="rect-36"/>
          <p:cNvSpPr/>
          <p:nvPr/>
        </p:nvSpPr>
        <p:spPr>
          <a:xfrm>
            <a:off x="548640" y="4507992"/>
            <a:ext cx="2103120" cy="777240"/>
          </a:xfrm>
          <a:prstGeom prst="roundRect">
            <a:avLst>
              <a:gd name="adj" fmla="val 5882"/>
            </a:avLst>
          </a:prstGeom>
          <a:solidFill>
            <a:srgbClr val="FFFFFF"/>
          </a:solidFill>
          <a:ln w="9525">
            <a:solidFill>
              <a:srgbClr val="DFE3E7"/>
            </a:solidFill>
            <a:prstDash val="solid"/>
          </a:ln>
        </p:spPr>
      </p:sp>
      <p:sp>
        <p:nvSpPr>
          <p:cNvPr id="39" name="text-37"/>
          <p:cNvSpPr txBox="1"/>
          <p:nvPr/>
        </p:nvSpPr>
        <p:spPr>
          <a:xfrm>
            <a:off x="658368" y="4562856"/>
            <a:ext cx="1883664" cy="685800"/>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Build later</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Platform work that needs a quarter or more.</a:t>
            </a:r>
            <a:endParaRPr lang="en-US" sz="1100" dirty="0"/>
          </a:p>
        </p:txBody>
      </p:sp>
      <p:sp>
        <p:nvSpPr>
          <p:cNvPr id="40" name="rect-38"/>
          <p:cNvSpPr/>
          <p:nvPr/>
        </p:nvSpPr>
        <p:spPr>
          <a:xfrm>
            <a:off x="2724912" y="4507992"/>
            <a:ext cx="2192960" cy="777240"/>
          </a:xfrm>
          <a:prstGeom prst="roundRect">
            <a:avLst>
              <a:gd name="adj" fmla="val 5882"/>
            </a:avLst>
          </a:prstGeom>
          <a:solidFill>
            <a:srgbClr val="FFFFFF"/>
          </a:solidFill>
          <a:ln w="9525">
            <a:solidFill>
              <a:srgbClr val="DFE3E7"/>
            </a:solidFill>
            <a:prstDash val="solid"/>
          </a:ln>
        </p:spPr>
      </p:sp>
      <p:sp>
        <p:nvSpPr>
          <p:cNvPr id="41" name="rect-39"/>
          <p:cNvSpPr/>
          <p:nvPr/>
        </p:nvSpPr>
        <p:spPr>
          <a:xfrm>
            <a:off x="4991024" y="4507992"/>
            <a:ext cx="2192960" cy="777240"/>
          </a:xfrm>
          <a:prstGeom prst="roundRect">
            <a:avLst>
              <a:gd name="adj" fmla="val 5882"/>
            </a:avLst>
          </a:prstGeom>
          <a:solidFill>
            <a:srgbClr val="FFFFFF"/>
          </a:solidFill>
          <a:ln w="9525">
            <a:solidFill>
              <a:srgbClr val="DFE3E7"/>
            </a:solidFill>
            <a:prstDash val="solid"/>
          </a:ln>
        </p:spPr>
      </p:sp>
      <p:sp>
        <p:nvSpPr>
          <p:cNvPr id="42" name="rect-40"/>
          <p:cNvSpPr/>
          <p:nvPr/>
        </p:nvSpPr>
        <p:spPr>
          <a:xfrm>
            <a:off x="7257136" y="4507992"/>
            <a:ext cx="2192960" cy="777240"/>
          </a:xfrm>
          <a:prstGeom prst="roundRect">
            <a:avLst>
              <a:gd name="adj" fmla="val 5882"/>
            </a:avLst>
          </a:prstGeom>
          <a:solidFill>
            <a:srgbClr val="FFFFFF"/>
          </a:solidFill>
          <a:ln w="9525">
            <a:solidFill>
              <a:srgbClr val="DFE3E7"/>
            </a:solidFill>
            <a:prstDash val="solid"/>
          </a:ln>
        </p:spPr>
      </p:sp>
      <p:sp>
        <p:nvSpPr>
          <p:cNvPr id="43" name="rect-41"/>
          <p:cNvSpPr/>
          <p:nvPr/>
        </p:nvSpPr>
        <p:spPr>
          <a:xfrm>
            <a:off x="9523247" y="4507992"/>
            <a:ext cx="2192960" cy="777240"/>
          </a:xfrm>
          <a:prstGeom prst="roundRect">
            <a:avLst>
              <a:gd name="adj" fmla="val 5882"/>
            </a:avLst>
          </a:prstGeom>
          <a:solidFill>
            <a:srgbClr val="FFFFFF"/>
          </a:solidFill>
          <a:ln w="9525">
            <a:solidFill>
              <a:srgbClr val="DFE3E7"/>
            </a:solidFill>
            <a:prstDash val="solid"/>
          </a:ln>
        </p:spPr>
      </p:sp>
      <p:sp>
        <p:nvSpPr>
          <p:cNvPr id="44" name="text-42"/>
          <p:cNvSpPr txBox="1"/>
          <p:nvPr/>
        </p:nvSpPr>
        <p:spPr>
          <a:xfrm>
            <a:off x="9614687" y="4562856"/>
            <a:ext cx="2010080" cy="685800"/>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KYC orchestration and decision layer</a:t>
            </a:r>
            <a:endParaRPr lang="en-US" sz="950" dirty="0"/>
          </a:p>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Government registry checks (INE, RENAPER)</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Second verification vendor for failover</a:t>
            </a:r>
            <a:endParaRPr lang="en-US" sz="950" dirty="0"/>
          </a:p>
        </p:txBody>
      </p:sp>
      <p:sp>
        <p:nvSpPr>
          <p:cNvPr id="45" name="text-43"/>
          <p:cNvSpPr txBox="1"/>
          <p:nvPr/>
        </p:nvSpPr>
        <p:spPr>
          <a:xfrm>
            <a:off x="548640" y="598932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 = conditional on a Phase 0 finding. Owners, evidence, acceptance criteria and guardrails per action are in the dashboard (What to do). Effort sizes are assumptions.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Phase 0, weeks 0–2: measure and stabilise before we optimise</a:t>
            </a:r>
            <a:endParaRPr lang="en-US" sz="2600" dirty="0"/>
          </a:p>
        </p:txBody>
      </p:sp>
      <p:sp>
        <p:nvSpPr>
          <p:cNvPr id="3" name="rect-1"/>
          <p:cNvSpPr/>
          <p:nvPr/>
        </p:nvSpPr>
        <p:spPr>
          <a:xfrm>
            <a:off x="548640" y="1371600"/>
            <a:ext cx="2670048" cy="2103120"/>
          </a:xfrm>
          <a:prstGeom prst="roundRect">
            <a:avLst>
              <a:gd name="adj" fmla="val 3478"/>
            </a:avLst>
          </a:prstGeom>
          <a:solidFill>
            <a:srgbClr val="FFFFFF"/>
          </a:solidFill>
          <a:ln w="9525">
            <a:solidFill>
              <a:srgbClr val="DFE3E7"/>
            </a:solidFill>
            <a:prstDash val="solid"/>
          </a:ln>
        </p:spPr>
      </p:sp>
      <p:sp>
        <p:nvSpPr>
          <p:cNvPr id="4" name="text-2"/>
          <p:cNvSpPr txBox="1"/>
          <p:nvPr/>
        </p:nvSpPr>
        <p:spPr>
          <a:xfrm>
            <a:off x="704088"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Minimum funnel instrumentation</a:t>
            </a:r>
            <a:endParaRPr lang="en-US" sz="1250" dirty="0"/>
          </a:p>
        </p:txBody>
      </p:sp>
      <p:sp>
        <p:nvSpPr>
          <p:cNvPr id="5" name="text-3"/>
          <p:cNvSpPr txBox="1"/>
          <p:nvPr/>
        </p:nvSpPr>
        <p:spPr>
          <a:xfrm>
            <a:off x="704088"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Data &amp; Analytics · Measure · M</a:t>
            </a:r>
            <a:endParaRPr lang="en-US" sz="1000" dirty="0"/>
          </a:p>
        </p:txBody>
      </p:sp>
      <p:sp>
        <p:nvSpPr>
          <p:cNvPr id="6" name="text-4"/>
          <p:cNvSpPr txBox="1"/>
          <p:nvPr/>
        </p:nvSpPr>
        <p:spPr>
          <a:xfrm>
            <a:off x="704088"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Events for 99% of sessions in a daily reconciliation against vendor transactions; dashboards show first cohort.</a:t>
            </a:r>
            <a:endParaRPr lang="en-US" sz="1050" dirty="0"/>
          </a:p>
        </p:txBody>
      </p:sp>
      <p:sp>
        <p:nvSpPr>
          <p:cNvPr id="7" name="rect-5"/>
          <p:cNvSpPr/>
          <p:nvPr/>
        </p:nvSpPr>
        <p:spPr>
          <a:xfrm>
            <a:off x="3355848" y="1371600"/>
            <a:ext cx="2670048" cy="2103120"/>
          </a:xfrm>
          <a:prstGeom prst="roundRect">
            <a:avLst>
              <a:gd name="adj" fmla="val 3478"/>
            </a:avLst>
          </a:prstGeom>
          <a:solidFill>
            <a:srgbClr val="EEF3FA"/>
          </a:solidFill>
          <a:ln w="9525">
            <a:solidFill>
              <a:srgbClr val="D3E0F2"/>
            </a:solidFill>
            <a:prstDash val="solid"/>
          </a:ln>
        </p:spPr>
      </p:sp>
      <p:sp>
        <p:nvSpPr>
          <p:cNvPr id="8" name="text-6"/>
          <p:cNvSpPr txBox="1"/>
          <p:nvPr/>
        </p:nvSpPr>
        <p:spPr>
          <a:xfrm>
            <a:off x="3511296"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Hold and retry on TECHNICAL_ERROR</a:t>
            </a:r>
            <a:endParaRPr lang="en-US" sz="1250" dirty="0"/>
          </a:p>
        </p:txBody>
      </p:sp>
      <p:sp>
        <p:nvSpPr>
          <p:cNvPr id="9" name="text-7"/>
          <p:cNvSpPr txBox="1"/>
          <p:nvPr/>
        </p:nvSpPr>
        <p:spPr>
          <a:xfrm>
            <a:off x="3511296"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Engineering · Onboarding platform · Remediate · S</a:t>
            </a:r>
            <a:endParaRPr lang="en-US" sz="1000" dirty="0"/>
          </a:p>
        </p:txBody>
      </p:sp>
      <p:sp>
        <p:nvSpPr>
          <p:cNvPr id="10" name="text-8"/>
          <p:cNvSpPr txBox="1"/>
          <p:nvPr/>
        </p:nvSpPr>
        <p:spPr>
          <a:xfrm>
            <a:off x="3511296"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Zero final rejections with TECHNICAL_ERROR over 4 weeks; 95% of held cases resolved within 24 hours.</a:t>
            </a:r>
            <a:endParaRPr lang="en-US" sz="1050" dirty="0"/>
          </a:p>
        </p:txBody>
      </p:sp>
      <p:sp>
        <p:nvSpPr>
          <p:cNvPr id="11" name="rect-9"/>
          <p:cNvSpPr/>
          <p:nvPr/>
        </p:nvSpPr>
        <p:spPr>
          <a:xfrm>
            <a:off x="6163056" y="1371600"/>
            <a:ext cx="2670048" cy="2103120"/>
          </a:xfrm>
          <a:prstGeom prst="roundRect">
            <a:avLst>
              <a:gd name="adj" fmla="val 3478"/>
            </a:avLst>
          </a:prstGeom>
          <a:solidFill>
            <a:srgbClr val="FFFFFF"/>
          </a:solidFill>
          <a:ln w="9525">
            <a:solidFill>
              <a:srgbClr val="DFE3E7"/>
            </a:solidFill>
            <a:prstDash val="solid"/>
          </a:ln>
        </p:spPr>
      </p:sp>
      <p:sp>
        <p:nvSpPr>
          <p:cNvPr id="12" name="text-10"/>
          <p:cNvSpPr txBox="1"/>
          <p:nvPr/>
        </p:nvSpPr>
        <p:spPr>
          <a:xfrm>
            <a:off x="6318504"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Daily, then hourly, alerts per reason code</a:t>
            </a:r>
            <a:endParaRPr lang="en-US" sz="1250" dirty="0"/>
          </a:p>
        </p:txBody>
      </p:sp>
      <p:sp>
        <p:nvSpPr>
          <p:cNvPr id="13" name="text-11"/>
          <p:cNvSpPr txBox="1"/>
          <p:nvPr/>
        </p:nvSpPr>
        <p:spPr>
          <a:xfrm>
            <a:off x="6318504"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Data &amp; Analytics · Measure · S</a:t>
            </a:r>
            <a:endParaRPr lang="en-US" sz="1000" dirty="0"/>
          </a:p>
        </p:txBody>
      </p:sp>
      <p:sp>
        <p:nvSpPr>
          <p:cNvPr id="14" name="text-12"/>
          <p:cNvSpPr txBox="1"/>
          <p:nvPr/>
        </p:nvSpPr>
        <p:spPr>
          <a:xfrm>
            <a:off x="6318504"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On replay, alerts fire on the first day of every incident window. False alerts in the prior period stay under one a week.</a:t>
            </a:r>
            <a:endParaRPr lang="en-US" sz="1050" dirty="0"/>
          </a:p>
        </p:txBody>
      </p:sp>
      <p:sp>
        <p:nvSpPr>
          <p:cNvPr id="15" name="rect-13"/>
          <p:cNvSpPr/>
          <p:nvPr/>
        </p:nvSpPr>
        <p:spPr>
          <a:xfrm>
            <a:off x="8970264" y="1371600"/>
            <a:ext cx="2670048" cy="2103120"/>
          </a:xfrm>
          <a:prstGeom prst="roundRect">
            <a:avLst>
              <a:gd name="adj" fmla="val 3478"/>
            </a:avLst>
          </a:prstGeom>
          <a:solidFill>
            <a:srgbClr val="FFFFFF"/>
          </a:solidFill>
          <a:ln w="9525">
            <a:solidFill>
              <a:srgbClr val="DFE3E7"/>
            </a:solidFill>
            <a:prstDash val="solid"/>
          </a:ln>
        </p:spPr>
      </p:sp>
      <p:sp>
        <p:nvSpPr>
          <p:cNvPr id="16" name="text-14"/>
          <p:cNvSpPr txBox="1"/>
          <p:nvPr/>
        </p:nvSpPr>
        <p:spPr>
          <a:xfrm>
            <a:off x="9125712"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Reconcile the control findings</a:t>
            </a:r>
            <a:endParaRPr lang="en-US" sz="1250" dirty="0"/>
          </a:p>
        </p:txBody>
      </p:sp>
      <p:sp>
        <p:nvSpPr>
          <p:cNvPr id="17" name="text-15"/>
          <p:cNvSpPr txBox="1"/>
          <p:nvPr/>
        </p:nvSpPr>
        <p:spPr>
          <a:xfrm>
            <a:off x="9125712"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Compliance · Control · S</a:t>
            </a:r>
            <a:endParaRPr lang="en-US" sz="1000" dirty="0"/>
          </a:p>
        </p:txBody>
      </p:sp>
      <p:sp>
        <p:nvSpPr>
          <p:cNvPr id="18" name="text-16"/>
          <p:cNvSpPr txBox="1"/>
          <p:nvPr/>
        </p:nvSpPr>
        <p:spPr>
          <a:xfrm>
            <a:off x="9125712"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Every record classified (confirmed, explained, data error) with evidence.</a:t>
            </a:r>
            <a:endParaRPr lang="en-US" sz="1050" dirty="0"/>
          </a:p>
        </p:txBody>
      </p:sp>
      <p:sp>
        <p:nvSpPr>
          <p:cNvPr id="19" name="rect-17"/>
          <p:cNvSpPr/>
          <p:nvPr/>
        </p:nvSpPr>
        <p:spPr>
          <a:xfrm>
            <a:off x="548640" y="3611880"/>
            <a:ext cx="2670048" cy="2103120"/>
          </a:xfrm>
          <a:prstGeom prst="roundRect">
            <a:avLst>
              <a:gd name="adj" fmla="val 3478"/>
            </a:avLst>
          </a:prstGeom>
          <a:solidFill>
            <a:srgbClr val="FFFFFF"/>
          </a:solidFill>
          <a:ln w="9525">
            <a:solidFill>
              <a:srgbClr val="DFE3E7"/>
            </a:solidFill>
            <a:prstDash val="solid"/>
          </a:ln>
        </p:spPr>
      </p:sp>
      <p:sp>
        <p:nvSpPr>
          <p:cNvPr id="20" name="text-18"/>
          <p:cNvSpPr txBox="1"/>
          <p:nvPr/>
        </p:nvSpPr>
        <p:spPr>
          <a:xfrm>
            <a:off x="704088"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Adjudicate a sample of fraud signals</a:t>
            </a:r>
            <a:endParaRPr lang="en-US" sz="1250" dirty="0"/>
          </a:p>
        </p:txBody>
      </p:sp>
      <p:sp>
        <p:nvSpPr>
          <p:cNvPr id="21" name="text-19"/>
          <p:cNvSpPr txBox="1"/>
          <p:nvPr/>
        </p:nvSpPr>
        <p:spPr>
          <a:xfrm>
            <a:off x="704088"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Risk &amp; Fraud · Investigate · S</a:t>
            </a:r>
            <a:endParaRPr lang="en-US" sz="1000" dirty="0"/>
          </a:p>
        </p:txBody>
      </p:sp>
      <p:sp>
        <p:nvSpPr>
          <p:cNvPr id="22" name="text-20"/>
          <p:cNvSpPr txBox="1"/>
          <p:nvPr/>
        </p:nvSpPr>
        <p:spPr>
          <a:xfrm>
            <a:off x="704088"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At least 50 cases per cluster adjudicated with documented rationale.</a:t>
            </a:r>
            <a:endParaRPr lang="en-US" sz="1050" dirty="0"/>
          </a:p>
        </p:txBody>
      </p:sp>
      <p:sp>
        <p:nvSpPr>
          <p:cNvPr id="23" name="rect-21"/>
          <p:cNvSpPr/>
          <p:nvPr/>
        </p:nvSpPr>
        <p:spPr>
          <a:xfrm>
            <a:off x="3355848" y="3611880"/>
            <a:ext cx="2670048" cy="2103120"/>
          </a:xfrm>
          <a:prstGeom prst="roundRect">
            <a:avLst>
              <a:gd name="adj" fmla="val 3478"/>
            </a:avLst>
          </a:prstGeom>
          <a:solidFill>
            <a:srgbClr val="FFFFFF"/>
          </a:solidFill>
          <a:ln w="9525">
            <a:solidFill>
              <a:srgbClr val="DFE3E7"/>
            </a:solidFill>
            <a:prstDash val="solid"/>
          </a:ln>
        </p:spPr>
      </p:sp>
      <p:sp>
        <p:nvSpPr>
          <p:cNvPr id="24" name="text-22"/>
          <p:cNvSpPr txBox="1"/>
          <p:nvPr/>
        </p:nvSpPr>
        <p:spPr>
          <a:xfrm>
            <a:off x="3511296"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Diagnose 'no document type' in Mexico</a:t>
            </a:r>
            <a:endParaRPr lang="en-US" sz="1250" dirty="0"/>
          </a:p>
        </p:txBody>
      </p:sp>
      <p:sp>
        <p:nvSpPr>
          <p:cNvPr id="25" name="text-23"/>
          <p:cNvSpPr txBox="1"/>
          <p:nvPr/>
        </p:nvSpPr>
        <p:spPr>
          <a:xfrm>
            <a:off x="3511296"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Product · Onboarding · Investigate · S</a:t>
            </a:r>
            <a:endParaRPr lang="en-US" sz="1000" dirty="0"/>
          </a:p>
        </p:txBody>
      </p:sp>
      <p:sp>
        <p:nvSpPr>
          <p:cNvPr id="26" name="text-24"/>
          <p:cNvSpPr txBox="1"/>
          <p:nvPr/>
        </p:nvSpPr>
        <p:spPr>
          <a:xfrm>
            <a:off x="3511296"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Each sampled case assigned a cause with vendor agreement.</a:t>
            </a:r>
            <a:endParaRPr lang="en-US" sz="1050" dirty="0"/>
          </a:p>
        </p:txBody>
      </p:sp>
      <p:sp>
        <p:nvSpPr>
          <p:cNvPr id="27" name="rect-25"/>
          <p:cNvSpPr/>
          <p:nvPr/>
        </p:nvSpPr>
        <p:spPr>
          <a:xfrm>
            <a:off x="6163056" y="3611880"/>
            <a:ext cx="2670048" cy="2103120"/>
          </a:xfrm>
          <a:prstGeom prst="roundRect">
            <a:avLst>
              <a:gd name="adj" fmla="val 3478"/>
            </a:avLst>
          </a:prstGeom>
          <a:solidFill>
            <a:srgbClr val="FFFFFF"/>
          </a:solidFill>
          <a:ln w="9525">
            <a:solidFill>
              <a:srgbClr val="DFE3E7"/>
            </a:solidFill>
            <a:prstDash val="solid"/>
          </a:ln>
        </p:spPr>
      </p:sp>
      <p:sp>
        <p:nvSpPr>
          <p:cNvPr id="28" name="text-26"/>
          <p:cNvSpPr txBox="1"/>
          <p:nvPr/>
        </p:nvSpPr>
        <p:spPr>
          <a:xfrm>
            <a:off x="6318504"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Confirm vendor incident scope</a:t>
            </a:r>
            <a:endParaRPr lang="en-US" sz="1250" dirty="0"/>
          </a:p>
        </p:txBody>
      </p:sp>
      <p:sp>
        <p:nvSpPr>
          <p:cNvPr id="29" name="text-27"/>
          <p:cNvSpPr txBox="1"/>
          <p:nvPr/>
        </p:nvSpPr>
        <p:spPr>
          <a:xfrm>
            <a:off x="6318504"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Vendor management · Investigate · S</a:t>
            </a:r>
            <a:endParaRPr lang="en-US" sz="1000" dirty="0"/>
          </a:p>
        </p:txBody>
      </p:sp>
      <p:sp>
        <p:nvSpPr>
          <p:cNvPr id="30" name="text-28"/>
          <p:cNvSpPr txBox="1"/>
          <p:nvPr/>
        </p:nvSpPr>
        <p:spPr>
          <a:xfrm>
            <a:off x="6318504"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Written vendor confirmation or denial per date.</a:t>
            </a:r>
            <a:endParaRPr lang="en-US" sz="1050" dirty="0"/>
          </a:p>
        </p:txBody>
      </p:sp>
      <p:sp>
        <p:nvSpPr>
          <p:cNvPr id="31" name="rect-29"/>
          <p:cNvSpPr/>
          <p:nvPr/>
        </p:nvSpPr>
        <p:spPr>
          <a:xfrm>
            <a:off x="8970264" y="3611880"/>
            <a:ext cx="2670048" cy="2103120"/>
          </a:xfrm>
          <a:prstGeom prst="roundRect">
            <a:avLst>
              <a:gd name="adj" fmla="val 3478"/>
            </a:avLst>
          </a:prstGeom>
          <a:solidFill>
            <a:srgbClr val="FFFFFF"/>
          </a:solidFill>
          <a:ln w="9525">
            <a:solidFill>
              <a:srgbClr val="DFE3E7"/>
            </a:solidFill>
            <a:prstDash val="solid"/>
          </a:ln>
        </p:spPr>
      </p:sp>
      <p:sp>
        <p:nvSpPr>
          <p:cNvPr id="32" name="text-30"/>
          <p:cNvSpPr txBox="1"/>
          <p:nvPr/>
        </p:nvSpPr>
        <p:spPr>
          <a:xfrm>
            <a:off x="9125712"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Report the headline with its breakdown</a:t>
            </a:r>
            <a:endParaRPr lang="en-US" sz="1250" dirty="0"/>
          </a:p>
        </p:txBody>
      </p:sp>
      <p:sp>
        <p:nvSpPr>
          <p:cNvPr id="33" name="text-31"/>
          <p:cNvSpPr txBox="1"/>
          <p:nvPr/>
        </p:nvSpPr>
        <p:spPr>
          <a:xfrm>
            <a:off x="9125712"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Data &amp; Analytics · Measure · S</a:t>
            </a:r>
            <a:endParaRPr lang="en-US" sz="1000" dirty="0"/>
          </a:p>
        </p:txBody>
      </p:sp>
      <p:sp>
        <p:nvSpPr>
          <p:cNvPr id="34" name="text-32"/>
          <p:cNvSpPr txBox="1"/>
          <p:nvPr/>
        </p:nvSpPr>
        <p:spPr>
          <a:xfrm>
            <a:off x="9125712"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Weekly report adopted by the funnel review.</a:t>
            </a:r>
            <a:endParaRPr lang="en-US" sz="1050" dirty="0"/>
          </a:p>
        </p:txBody>
      </p:sp>
      <p:sp>
        <p:nvSpPr>
          <p:cNvPr id="35" name="text-33"/>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Effort sizes are assumptions (S ≤ 2 engineer-weeks, M = 2–6). Owners are role-based examples, not named people. Later phases: P1 weeks 2–6, P2 weeks 6–13, P3 the next two quarters.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Recovery scenarios: +0.9 pp to +4.3 pp on repeated causes, not a forecast</a:t>
            </a:r>
            <a:endParaRPr lang="en-US" sz="2600" dirty="0"/>
          </a:p>
        </p:txBody>
      </p:sp>
      <p:sp>
        <p:nvSpPr>
          <p:cNvPr id="3" name="rect-1"/>
          <p:cNvSpPr/>
          <p:nvPr/>
        </p:nvSpPr>
        <p:spPr>
          <a:xfrm>
            <a:off x="548640" y="1371600"/>
            <a:ext cx="2194560" cy="1645920"/>
          </a:xfrm>
          <a:prstGeom prst="roundRect">
            <a:avLst>
              <a:gd name="adj" fmla="val 4444"/>
            </a:avLst>
          </a:prstGeom>
          <a:solidFill>
            <a:srgbClr val="FFFFFF"/>
          </a:solidFill>
          <a:ln w="9525">
            <a:solidFill>
              <a:srgbClr val="DFE3E7"/>
            </a:solidFill>
            <a:prstDash val="solid"/>
          </a:ln>
        </p:spPr>
      </p:sp>
      <p:sp>
        <p:nvSpPr>
          <p:cNvPr id="4" name="text-2"/>
          <p:cNvSpPr txBox="1"/>
          <p:nvPr/>
        </p:nvSpPr>
        <p:spPr>
          <a:xfrm>
            <a:off x="731520" y="1499616"/>
            <a:ext cx="1828800" cy="566928"/>
          </a:xfrm>
          <a:prstGeom prst="rect">
            <a:avLst/>
          </a:prstGeom>
          <a:noFill/>
          <a:ln/>
        </p:spPr>
        <p:txBody>
          <a:bodyPr wrap="square" lIns="0" tIns="0" rIns="0" bIns="0" rtlCol="0" anchor="t"/>
          <a:lstStyle/>
          <a:p>
            <a:pPr algn="l" indent="0" marL="0">
              <a:buNone/>
            </a:pPr>
            <a:r>
              <a:rPr lang="en-US" sz="3000" dirty="0">
                <a:solidFill>
                  <a:srgbClr val="1C2126"/>
                </a:solidFill>
                <a:latin typeface="Georgia" pitchFamily="34" charset="0"/>
                <a:ea typeface="Georgia" pitchFamily="34" charset="-122"/>
                <a:cs typeface="Georgia" pitchFamily="34" charset="-120"/>
              </a:rPr>
              <a:t>+0.9 pp</a:t>
            </a:r>
            <a:endParaRPr lang="en-US" sz="3000" dirty="0"/>
          </a:p>
        </p:txBody>
      </p:sp>
      <p:sp>
        <p:nvSpPr>
          <p:cNvPr id="5" name="text-3"/>
          <p:cNvSpPr txBox="1"/>
          <p:nvPr/>
        </p:nvSpPr>
        <p:spPr>
          <a:xfrm>
            <a:off x="731520" y="2103120"/>
            <a:ext cx="182880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Conservative: 233 approvals per 30 days; recent rate would be 84.2%</a:t>
            </a:r>
            <a:endParaRPr lang="en-US" sz="1150" dirty="0"/>
          </a:p>
        </p:txBody>
      </p:sp>
      <p:sp>
        <p:nvSpPr>
          <p:cNvPr id="6" name="rect-4"/>
          <p:cNvSpPr/>
          <p:nvPr/>
        </p:nvSpPr>
        <p:spPr>
          <a:xfrm>
            <a:off x="2880360" y="1371600"/>
            <a:ext cx="2194560" cy="1645920"/>
          </a:xfrm>
          <a:prstGeom prst="roundRect">
            <a:avLst>
              <a:gd name="adj" fmla="val 4444"/>
            </a:avLst>
          </a:prstGeom>
          <a:solidFill>
            <a:srgbClr val="EEF3FA"/>
          </a:solidFill>
          <a:ln w="9525">
            <a:solidFill>
              <a:srgbClr val="D3E0F2"/>
            </a:solidFill>
            <a:prstDash val="solid"/>
          </a:ln>
        </p:spPr>
      </p:sp>
      <p:sp>
        <p:nvSpPr>
          <p:cNvPr id="7" name="text-5"/>
          <p:cNvSpPr txBox="1"/>
          <p:nvPr/>
        </p:nvSpPr>
        <p:spPr>
          <a:xfrm>
            <a:off x="3063240" y="1499616"/>
            <a:ext cx="1828800" cy="566928"/>
          </a:xfrm>
          <a:prstGeom prst="rect">
            <a:avLst/>
          </a:prstGeom>
          <a:noFill/>
          <a:ln/>
        </p:spPr>
        <p:txBody>
          <a:bodyPr wrap="square" lIns="0" tIns="0" rIns="0" bIns="0" rtlCol="0" anchor="t"/>
          <a:lstStyle/>
          <a:p>
            <a:pPr algn="l" indent="0" marL="0">
              <a:buNone/>
            </a:pPr>
            <a:r>
              <a:rPr lang="en-US" sz="3000" dirty="0">
                <a:solidFill>
                  <a:srgbClr val="1C2126"/>
                </a:solidFill>
                <a:latin typeface="Georgia" pitchFamily="34" charset="0"/>
                <a:ea typeface="Georgia" pitchFamily="34" charset="-122"/>
                <a:cs typeface="Georgia" pitchFamily="34" charset="-120"/>
              </a:rPr>
              <a:t>+2.5 pp</a:t>
            </a:r>
            <a:endParaRPr lang="en-US" sz="3000" dirty="0"/>
          </a:p>
        </p:txBody>
      </p:sp>
      <p:sp>
        <p:nvSpPr>
          <p:cNvPr id="8" name="text-6"/>
          <p:cNvSpPr txBox="1"/>
          <p:nvPr/>
        </p:nvSpPr>
        <p:spPr>
          <a:xfrm>
            <a:off x="3063240" y="2103120"/>
            <a:ext cx="182880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Central: 634 approvals per 30 days; recent rate would be 85.8%</a:t>
            </a:r>
            <a:endParaRPr lang="en-US" sz="1150" dirty="0"/>
          </a:p>
        </p:txBody>
      </p:sp>
      <p:sp>
        <p:nvSpPr>
          <p:cNvPr id="9" name="rect-7"/>
          <p:cNvSpPr/>
          <p:nvPr/>
        </p:nvSpPr>
        <p:spPr>
          <a:xfrm>
            <a:off x="5212080" y="1371600"/>
            <a:ext cx="2194560" cy="1645920"/>
          </a:xfrm>
          <a:prstGeom prst="roundRect">
            <a:avLst>
              <a:gd name="adj" fmla="val 4444"/>
            </a:avLst>
          </a:prstGeom>
          <a:solidFill>
            <a:srgbClr val="FFFFFF"/>
          </a:solidFill>
          <a:ln w="9525">
            <a:solidFill>
              <a:srgbClr val="DFE3E7"/>
            </a:solidFill>
            <a:prstDash val="solid"/>
          </a:ln>
        </p:spPr>
      </p:sp>
      <p:sp>
        <p:nvSpPr>
          <p:cNvPr id="10" name="text-8"/>
          <p:cNvSpPr txBox="1"/>
          <p:nvPr/>
        </p:nvSpPr>
        <p:spPr>
          <a:xfrm>
            <a:off x="5394960" y="1499616"/>
            <a:ext cx="1828800" cy="566928"/>
          </a:xfrm>
          <a:prstGeom prst="rect">
            <a:avLst/>
          </a:prstGeom>
          <a:noFill/>
          <a:ln/>
        </p:spPr>
        <p:txBody>
          <a:bodyPr wrap="square" lIns="0" tIns="0" rIns="0" bIns="0" rtlCol="0" anchor="t"/>
          <a:lstStyle/>
          <a:p>
            <a:pPr algn="l" indent="0" marL="0">
              <a:buNone/>
            </a:pPr>
            <a:r>
              <a:rPr lang="en-US" sz="3000" dirty="0">
                <a:solidFill>
                  <a:srgbClr val="1C2126"/>
                </a:solidFill>
                <a:latin typeface="Georgia" pitchFamily="34" charset="0"/>
                <a:ea typeface="Georgia" pitchFamily="34" charset="-122"/>
                <a:cs typeface="Georgia" pitchFamily="34" charset="-120"/>
              </a:rPr>
              <a:t>+4.3 pp</a:t>
            </a:r>
            <a:endParaRPr lang="en-US" sz="3000" dirty="0"/>
          </a:p>
        </p:txBody>
      </p:sp>
      <p:sp>
        <p:nvSpPr>
          <p:cNvPr id="11" name="text-9"/>
          <p:cNvSpPr txBox="1"/>
          <p:nvPr/>
        </p:nvSpPr>
        <p:spPr>
          <a:xfrm>
            <a:off x="5394960" y="2103120"/>
            <a:ext cx="182880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Optimistic: 1,093 approvals per 30 days; recent rate would be 87.6%</a:t>
            </a:r>
            <a:endParaRPr lang="en-US" sz="1150" dirty="0"/>
          </a:p>
        </p:txBody>
      </p:sp>
      <p:sp>
        <p:nvSpPr>
          <p:cNvPr id="12" name="rect-10"/>
          <p:cNvSpPr/>
          <p:nvPr/>
        </p:nvSpPr>
        <p:spPr>
          <a:xfrm>
            <a:off x="7635240" y="1371600"/>
            <a:ext cx="2057400" cy="1645920"/>
          </a:xfrm>
          <a:prstGeom prst="roundRect">
            <a:avLst>
              <a:gd name="adj" fmla="val 4444"/>
            </a:avLst>
          </a:prstGeom>
          <a:solidFill>
            <a:srgbClr val="FFFFFF"/>
          </a:solidFill>
          <a:ln w="9525">
            <a:solidFill>
              <a:srgbClr val="DFE3E7"/>
            </a:solidFill>
            <a:prstDash val="solid"/>
          </a:ln>
        </p:spPr>
      </p:sp>
      <p:sp>
        <p:nvSpPr>
          <p:cNvPr id="13" name="text-11"/>
          <p:cNvSpPr txBox="1"/>
          <p:nvPr/>
        </p:nvSpPr>
        <p:spPr>
          <a:xfrm>
            <a:off x="7818120" y="1499616"/>
            <a:ext cx="1691640" cy="566928"/>
          </a:xfrm>
          <a:prstGeom prst="rect">
            <a:avLst/>
          </a:prstGeom>
          <a:noFill/>
          <a:ln/>
        </p:spPr>
        <p:txBody>
          <a:bodyPr wrap="square" lIns="0" tIns="0" rIns="0" bIns="0" rtlCol="0" anchor="t"/>
          <a:lstStyle/>
          <a:p>
            <a:pPr algn="l" indent="0" marL="0">
              <a:buNone/>
            </a:pPr>
            <a:r>
              <a:rPr lang="en-US" sz="2800" dirty="0">
                <a:solidFill>
                  <a:srgbClr val="1C2126"/>
                </a:solidFill>
                <a:latin typeface="Georgia" pitchFamily="34" charset="0"/>
                <a:ea typeface="Georgia" pitchFamily="34" charset="-122"/>
                <a:cs typeface="Georgia" pitchFamily="34" charset="-120"/>
              </a:rPr>
              <a:t>295</a:t>
            </a:r>
            <a:endParaRPr lang="en-US" sz="2800" dirty="0"/>
          </a:p>
        </p:txBody>
      </p:sp>
      <p:sp>
        <p:nvSpPr>
          <p:cNvPr id="14" name="text-12"/>
          <p:cNvSpPr txBox="1"/>
          <p:nvPr/>
        </p:nvSpPr>
        <p:spPr>
          <a:xfrm>
            <a:off x="7818120" y="2103120"/>
            <a:ext cx="169164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Central: approvals protected per comparable incident (execution errors, liveness spikes)</a:t>
            </a:r>
            <a:endParaRPr lang="en-US" sz="1150" dirty="0"/>
          </a:p>
        </p:txBody>
      </p:sp>
      <p:sp>
        <p:nvSpPr>
          <p:cNvPr id="15" name="rect-13"/>
          <p:cNvSpPr/>
          <p:nvPr/>
        </p:nvSpPr>
        <p:spPr>
          <a:xfrm>
            <a:off x="9829800" y="1371600"/>
            <a:ext cx="1813255" cy="1645920"/>
          </a:xfrm>
          <a:prstGeom prst="roundRect">
            <a:avLst>
              <a:gd name="adj" fmla="val 4444"/>
            </a:avLst>
          </a:prstGeom>
          <a:solidFill>
            <a:srgbClr val="F9E8E4"/>
          </a:solidFill>
          <a:ln w="9525">
            <a:solidFill>
              <a:srgbClr val="EDCAC2"/>
            </a:solidFill>
            <a:prstDash val="solid"/>
          </a:ln>
        </p:spPr>
      </p:sp>
      <p:sp>
        <p:nvSpPr>
          <p:cNvPr id="16" name="text-14"/>
          <p:cNvSpPr txBox="1"/>
          <p:nvPr/>
        </p:nvSpPr>
        <p:spPr>
          <a:xfrm>
            <a:off x="10012680" y="1499616"/>
            <a:ext cx="1447495" cy="566928"/>
          </a:xfrm>
          <a:prstGeom prst="rect">
            <a:avLst/>
          </a:prstGeom>
          <a:noFill/>
          <a:ln/>
        </p:spPr>
        <p:txBody>
          <a:bodyPr wrap="square" lIns="0" tIns="0" rIns="0" bIns="0" rtlCol="0" anchor="t"/>
          <a:lstStyle/>
          <a:p>
            <a:pPr algn="l" indent="0" marL="0">
              <a:buNone/>
            </a:pPr>
            <a:r>
              <a:rPr lang="en-US" sz="2600" dirty="0">
                <a:solidFill>
                  <a:srgbClr val="B4361F"/>
                </a:solidFill>
                <a:latin typeface="Georgia" pitchFamily="34" charset="0"/>
                <a:ea typeface="Georgia" pitchFamily="34" charset="-122"/>
                <a:cs typeface="Georgia" pitchFamily="34" charset="-120"/>
              </a:rPr>
              <a:t>−580</a:t>
            </a:r>
            <a:endParaRPr lang="en-US" sz="2600" dirty="0"/>
          </a:p>
        </p:txBody>
      </p:sp>
      <p:sp>
        <p:nvSpPr>
          <p:cNvPr id="17" name="text-15"/>
          <p:cNvSpPr txBox="1"/>
          <p:nvPr/>
        </p:nvSpPr>
        <p:spPr>
          <a:xfrm>
            <a:off x="10012680" y="2103120"/>
            <a:ext cx="1447495"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If all control findings are confirmed: approvals per 30 days that we may need to reverse (−2.3 pp)</a:t>
            </a:r>
            <a:endParaRPr lang="en-US" sz="1150" dirty="0"/>
          </a:p>
        </p:txBody>
      </p:sp>
      <p:sp>
        <p:nvSpPr>
          <p:cNvPr id="18" name="text-16"/>
          <p:cNvSpPr txBox="1"/>
          <p:nvPr/>
        </p:nvSpPr>
        <p:spPr>
          <a:xfrm>
            <a:off x="548640" y="3200400"/>
            <a:ext cx="11094415" cy="365760"/>
          </a:xfrm>
          <a:prstGeom prst="rect">
            <a:avLst/>
          </a:prstGeom>
          <a:noFill/>
          <a:ln/>
        </p:spPr>
        <p:txBody>
          <a:bodyPr wrap="square" lIns="0" tIns="0" rIns="0" bIns="0" rtlCol="0" anchor="t"/>
          <a:lstStyle/>
          <a:p>
            <a:pPr algn="l" indent="0" marL="0">
              <a:buNone/>
            </a:pPr>
            <a:r>
              <a:rPr lang="en-US" sz="1300" b="1" dirty="0">
                <a:solidFill>
                  <a:srgbClr val="1C2126"/>
                </a:solidFill>
                <a:latin typeface="Arial" pitchFamily="34" charset="0"/>
                <a:ea typeface="Arial" pitchFamily="34" charset="-122"/>
                <a:cs typeface="Arial" pitchFamily="34" charset="-120"/>
              </a:rPr>
              <a:t>Recovered = observed population × eligibility × reach × return × remediation × subsequent approval</a:t>
            </a:r>
            <a:endParaRPr lang="en-US" sz="1300" dirty="0"/>
          </a:p>
        </p:txBody>
      </p:sp>
      <p:graphicFrame>
        <p:nvGraphicFramePr>
          <p:cNvPr id="13" name="table-17"/>
          <p:cNvGraphicFramePr>
            <a:graphicFrameLocks noGrp="1"/>
          </p:cNvGraphicFramePr>
          <p:nvPr>
            <p:extLst>
              <p:ext uri="{D42A27DB-BD31-4B8C-83A1-F6EECF244321}">
                <p14:modId xmlns:p14="http://schemas.microsoft.com/office/powerpoint/2010/main" val="1579011935"/>
              </p:ext>
            </p:extLst>
          </p:nvPr>
        </p:nvGraphicFramePr>
        <p:xfrm>
          <a:off x="548640" y="3611880"/>
          <a:ext cx="11094415" cy="914400"/>
        </p:xfrm>
        <a:graphic>
          <a:graphicData uri="http://schemas.openxmlformats.org/drawingml/2006/table">
            <a:tbl>
              <a:tblPr/>
              <a:tblGrid>
                <a:gridCol w="4160520"/>
                <a:gridCol w="960120"/>
                <a:gridCol w="3657600"/>
                <a:gridCol w="914400"/>
                <a:gridCol w="1399032"/>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Population (recent period)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Observed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Central factors (E × R × Ret × Fix × Then)</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Central</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Range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Execution errors (Sep 1–2) (per incident)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 × 1.0 × 0.75 × 0.9 × 0.88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242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116–351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Liveness quality failures on incident days (per incident)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0.75 × 1.0 × 0.6 × 0.75 × 0.9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23–84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Other selfie / liveness failures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486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0.66 × 1.0 × 0.6 × 0.45 × 0.9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28–138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Mexico: no document type or unsupported / incomplete document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1,570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0.7 × 1.0 × 1.0 × 0.35 × 0.84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323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107–561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Image quality and screen or paper copies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333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0.85 × 1.0 × 1.0 × 0.45 × 0.85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48–162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Face match: WARNING plus a share of NO_MATCH</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 × 1.0 × 1.0 × 0.45 × 1.0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50–232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0" name="text-18"/>
          <p:cNvSpPr txBox="1"/>
          <p:nvPr/>
        </p:nvSpPr>
        <p:spPr>
          <a:xfrm>
            <a:off x="548640" y="598932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A target set from these scenarios is a goal, not a prediction. "Eligible" for selfie populations is the observed share with no other failed check. "Then" is the prior-period approval rate for the same countries, except review, where a reviewer approval is final.</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What we need, and how we will know it worked</a:t>
            </a:r>
            <a:endParaRPr lang="en-US" sz="2600" dirty="0"/>
          </a:p>
        </p:txBody>
      </p:sp>
      <p:sp>
        <p:nvSpPr>
          <p:cNvPr id="3" name="rect-1"/>
          <p:cNvSpPr/>
          <p:nvPr/>
        </p:nvSpPr>
        <p:spPr>
          <a:xfrm>
            <a:off x="548640" y="1371600"/>
            <a:ext cx="5394960" cy="4480560"/>
          </a:xfrm>
          <a:prstGeom prst="roundRect">
            <a:avLst>
              <a:gd name="adj" fmla="val 1633"/>
            </a:avLst>
          </a:prstGeom>
          <a:solidFill>
            <a:srgbClr val="FFFFFF"/>
          </a:solidFill>
          <a:ln w="9525">
            <a:solidFill>
              <a:srgbClr val="DFE3E7"/>
            </a:solidFill>
            <a:prstDash val="solid"/>
          </a:ln>
        </p:spPr>
      </p:sp>
      <p:sp>
        <p:nvSpPr>
          <p:cNvPr id="4" name="text-2"/>
          <p:cNvSpPr txBox="1"/>
          <p:nvPr/>
        </p:nvSpPr>
        <p:spPr>
          <a:xfrm>
            <a:off x="777240" y="1536192"/>
            <a:ext cx="4937760" cy="4297680"/>
          </a:xfrm>
          <a:prstGeom prst="rect">
            <a:avLst/>
          </a:prstGeom>
          <a:noFill/>
          <a:ln/>
        </p:spPr>
        <p:txBody>
          <a:bodyPr wrap="square" lIns="0" tIns="0" rIns="0" bIns="0" rtlCol="0" anchor="t"/>
          <a:lstStyle/>
          <a:p>
            <a:pPr algn="l" indent="0" marL="0">
              <a:spcAft>
                <a:spcPts val="800"/>
              </a:spcAft>
              <a:buNone/>
            </a:pPr>
            <a:r>
              <a:rPr lang="en-US" sz="1300" b="1" dirty="0">
                <a:solidFill>
                  <a:srgbClr val="1C2126"/>
                </a:solidFill>
                <a:latin typeface="Arial" pitchFamily="34" charset="0"/>
                <a:ea typeface="Arial" pitchFamily="34" charset="-122"/>
                <a:cs typeface="Arial" pitchFamily="34" charset="-120"/>
              </a:rPr>
              <a:t>Decisions and resources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Approve Phase 0 and its owners.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Privacy review of the event schema (Legal &amp; Privacy).</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Vendor: case access, raw responses, incident reports for Sep 1, 2 and 6.</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Risk and Compliance time: fraud adjudication and control reconciliation.</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Engineering: instrumentation (M), hold-and-retry (S), alerts (S). Sizes to confirm.</a:t>
            </a:r>
            <a:endParaRPr lang="en-US" sz="1300" dirty="0"/>
          </a:p>
          <a:p>
            <a:pPr algn="l" marL="152400" indent="-152400">
              <a:buSzPct val="100000"/>
              <a:buChar char="•"/>
            </a:pPr>
            <a:r>
              <a:rPr lang="en-US" sz="1300" dirty="0">
                <a:solidFill>
                  <a:srgbClr val="1C2126"/>
                </a:solidFill>
                <a:latin typeface="Arial" pitchFamily="34" charset="0"/>
                <a:ea typeface="Arial" pitchFamily="34" charset="-122"/>
                <a:cs typeface="Arial" pitchFamily="34" charset="-120"/>
              </a:rPr>
              <a:t>Finance: replace the value model’s market-based presets with ARQ unit economics.</a:t>
            </a:r>
            <a:endParaRPr lang="en-US" sz="1300" dirty="0"/>
          </a:p>
        </p:txBody>
      </p:sp>
      <p:sp>
        <p:nvSpPr>
          <p:cNvPr id="5" name="rect-3"/>
          <p:cNvSpPr/>
          <p:nvPr/>
        </p:nvSpPr>
        <p:spPr>
          <a:xfrm>
            <a:off x="6172200" y="1371600"/>
            <a:ext cx="5470855" cy="4480560"/>
          </a:xfrm>
          <a:prstGeom prst="roundRect">
            <a:avLst>
              <a:gd name="adj" fmla="val 1633"/>
            </a:avLst>
          </a:prstGeom>
          <a:solidFill>
            <a:srgbClr val="EEF3FA"/>
          </a:solidFill>
          <a:ln w="9525">
            <a:solidFill>
              <a:srgbClr val="D3E0F2"/>
            </a:solidFill>
            <a:prstDash val="solid"/>
          </a:ln>
        </p:spPr>
      </p:sp>
      <p:sp>
        <p:nvSpPr>
          <p:cNvPr id="6" name="text-4"/>
          <p:cNvSpPr txBox="1"/>
          <p:nvPr/>
        </p:nvSpPr>
        <p:spPr>
          <a:xfrm>
            <a:off x="6400800" y="1536192"/>
            <a:ext cx="5013655" cy="4297680"/>
          </a:xfrm>
          <a:prstGeom prst="rect">
            <a:avLst/>
          </a:prstGeom>
          <a:noFill/>
          <a:ln/>
        </p:spPr>
        <p:txBody>
          <a:bodyPr wrap="square" lIns="0" tIns="0" rIns="0" bIns="0" rtlCol="0" anchor="t"/>
          <a:lstStyle/>
          <a:p>
            <a:pPr algn="l" indent="0" marL="0">
              <a:spcAft>
                <a:spcPts val="800"/>
              </a:spcAft>
              <a:buNone/>
            </a:pPr>
            <a:r>
              <a:rPr lang="en-US" sz="1300" b="1" dirty="0">
                <a:solidFill>
                  <a:srgbClr val="1C2126"/>
                </a:solidFill>
                <a:latin typeface="Arial" pitchFamily="34" charset="0"/>
                <a:ea typeface="Arial" pitchFamily="34" charset="-122"/>
                <a:cs typeface="Arial" pitchFamily="34" charset="-120"/>
              </a:rPr>
              <a:t>How success is verified</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Zero final rejections with TECHNICAL_ERROR over 4 weeks.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Alerts replayed on 2023 data fire on the first day of all four windows.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Each control finding classified as confirmed, explained or data error.</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Experiments by person, outcome = eventual approval within 7 days. Mexico guidance: about 6,314 people per arm for +2 pp (stand-in baseline).</a:t>
            </a:r>
            <a:endParaRPr lang="en-US" sz="1300" dirty="0"/>
          </a:p>
          <a:p>
            <a:pPr algn="l" marL="152400" indent="-152400">
              <a:buSzPct val="100000"/>
              <a:buChar char="•"/>
            </a:pPr>
            <a:r>
              <a:rPr lang="en-US" sz="1300" dirty="0">
                <a:solidFill>
                  <a:srgbClr val="1C2126"/>
                </a:solidFill>
                <a:latin typeface="Arial" pitchFamily="34" charset="0"/>
                <a:ea typeface="Arial" pitchFamily="34" charset="-122"/>
                <a:cs typeface="Arial" pitchFamily="34" charset="-120"/>
              </a:rPr>
              <a:t>Weekly: approval rate with fraud-signal, execution-error and warning shares beside it; completion once events exist.</a:t>
            </a:r>
            <a:endParaRPr lang="en-US" sz="13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Four things to confirm with the team before we act</a:t>
            </a:r>
            <a:endParaRPr lang="en-US" sz="2600" dirty="0"/>
          </a:p>
        </p:txBody>
      </p:sp>
      <p:graphicFrame>
        <p:nvGraphicFramePr>
          <p:cNvPr id="15" name="table-1"/>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320040"/>
                <a:gridCol w="3566160"/>
                <a:gridCol w="4114800"/>
                <a:gridCol w="3090672"/>
              </a:tblGrid>
              <a:tr h="0">
                <a:tc>
                  <a:txBody>
                    <a:bodyPr/>
                    <a:lstStyle/>
                    <a:p>
                      <a:pPr indent="0" marL="0">
                        <a:buNone/>
                      </a:pP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Question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Why it matters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What the answer changes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Does each row hold a user's first, latest or final KYC attempt, and does the date mark the submission or the vendor's decision?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headline is approval among recorded decisions. If rows are latest attempts, we cannot see earlier failures and retries, and the first-pass rate is lower than shown. If rows are final decisions, the warnings can be out of date.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metric definition (v2 to v3 in the registry), the retry hypotheses, and whether the bridge counts people or attempts.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Is there any record, even weekly counts, of people who opened KYC and never submitted?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brief defines the pass rate as people who start and finish. Without starts, completion and abandonment cannot be measured, and the 1,587 fewer approvals from lower volume could be fewer starts, more abandonment, or both.</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Whether Phase 0 instrumentation is a prerequisite or a check on current data; how we read the volume effect; the completion metric status.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What happens today after a TECHNICAL_ERROR or a liveness failure: does the user see the vendor's outcome, get a retake, or enter a review queue?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Hold-and-retry and the guided retake assume no retry exists. In the central scenario they recover 242 approvals per comparable execution-error incident and 78 per 30 days on steady liveness failures.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If a retry already exists, those recoverable counts shrink and the question becomes why retries fail; the Phase 0 hold-and-retry becomes a configuration check.</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Which vendor product tier and data centre does ARQ use, and did ARQ receive incident notices for Sep 1, 2 and 6, 2023?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vendor's status history shows liveness incidents on Sep 1 and 6 on its US data centre and nothing for Sep 2. The liveness spike is 173 failures above baseline and the execution errors 407.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On another data centre the liveness attribution loses its vendor evidence; with notices, the execution errors have an owner and an SLA claim.</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94360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The analysis stands on the extract alone. These answers decide how far each conclusion carries, not whether the work was done.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0"/>
          <p:cNvSpPr txBox="1"/>
          <p:nvPr/>
        </p:nvSpPr>
        <p:spPr>
          <a:xfrm>
            <a:off x="548640" y="2468880"/>
            <a:ext cx="10058400" cy="914400"/>
          </a:xfrm>
          <a:prstGeom prst="rect">
            <a:avLst/>
          </a:prstGeom>
          <a:noFill/>
          <a:ln/>
        </p:spPr>
        <p:txBody>
          <a:bodyPr wrap="square" lIns="0" tIns="0" rIns="0" bIns="0" rtlCol="0" anchor="t"/>
          <a:lstStyle/>
          <a:p>
            <a:pPr algn="l" indent="0" marL="0">
              <a:buNone/>
            </a:pPr>
            <a:r>
              <a:rPr lang="en-US" sz="3400" dirty="0">
                <a:solidFill>
                  <a:srgbClr val="E5E9EC"/>
                </a:solidFill>
                <a:latin typeface="Georgia" pitchFamily="34" charset="0"/>
                <a:ea typeface="Georgia" pitchFamily="34" charset="-122"/>
                <a:cs typeface="Georgia" pitchFamily="34" charset="-120"/>
              </a:rPr>
              <a:t>Appendix: evidence and method</a:t>
            </a:r>
            <a:endParaRPr lang="en-US" sz="3400" dirty="0"/>
          </a:p>
        </p:txBody>
      </p:sp>
      <p:sp>
        <p:nvSpPr>
          <p:cNvPr id="3" name="text-1"/>
          <p:cNvSpPr txBox="1"/>
          <p:nvPr/>
        </p:nvSpPr>
        <p:spPr>
          <a:xfrm>
            <a:off x="548640" y="3474720"/>
            <a:ext cx="10058400" cy="1463040"/>
          </a:xfrm>
          <a:prstGeom prst="rect">
            <a:avLst/>
          </a:prstGeom>
          <a:noFill/>
          <a:ln/>
        </p:spPr>
        <p:txBody>
          <a:bodyPr wrap="square" lIns="0" tIns="0" rIns="0" bIns="0" rtlCol="0" anchor="t"/>
          <a:lstStyle/>
          <a:p>
            <a:pPr algn="l" indent="0" marL="0">
              <a:buNone/>
            </a:pPr>
            <a:r>
              <a:rPr lang="en-US" sz="1500" dirty="0">
                <a:solidFill>
                  <a:srgbClr val="A1ABB4"/>
                </a:solidFill>
                <a:latin typeface="Arial" pitchFamily="34" charset="0"/>
                <a:ea typeface="Arial" pitchFamily="34" charset="-122"/>
                <a:cs typeface="Arial" pitchFamily="34" charset="-120"/>
              </a:rPr>
              <a:t>A1 Definitions · A2 Validation · A3 Composition · A4 Mexico · A5 Incident sensitivity · A6 Experiments · A7–A8 Value model · A9 Operating model · A10 Control findings · A11 Vendor research</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A1 · Metric definitions: what is available and what needs new events</a:t>
            </a:r>
            <a:endParaRPr lang="en-US" sz="2600" dirty="0"/>
          </a:p>
        </p:txBody>
      </p:sp>
      <p:graphicFrame>
        <p:nvGraphicFramePr>
          <p:cNvPr id="17"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86000"/>
                <a:gridCol w="960120"/>
                <a:gridCol w="5120640"/>
                <a:gridCol w="272491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Metric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Definition and window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Gap or caveat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KYC starts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People who open the KYC flow. Window: daily, by country.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kyc_started with person id, session id, timestamp, country, app version, channel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Recorded decisions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User records with a final decision in the extract (one per user_reference).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Whether a record is a first, latest or final attempt is not stated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Approval rate among recorded decisions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Approved (PASSED or APPROVED) ÷ recorded decisions. The headline metric of this analysis. Window: per period, by decision date.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 the start-to-finish completion rate: starts, abandonment and attempts are not in the data</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Rejection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REJECTED ÷ recorded decisions.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Unresolved warning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WARNING ÷ recorded decisions. Later review outcome not in the extract.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Review dispositions needed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Completion rate (start to terminal state)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Starts that reach a terminal state (approved, finally rejected, or abandoned for 7 days) within 7 days of start. Window: 7 days after start.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kyc_started, step events, terminal decision, abandonment rule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Starts approved on any attempt within 7 days of the first start. Window: 7 days, cohort by start date.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Person id across attempts, attempt number, timestamps, review dispositions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Abandonment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Starts with no submission within 7 days. Window: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kyc_started and kyc_submitted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Retry rate and retry approval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Share of unsuccessful first attempts that retry, and their approval. Window: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Attempt number per person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Manual-review outcomes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Approval and turnaround of cases sent to review. Window: per week.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Review queue events and dispositions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Time to completion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Median minutes from start to terminal decision. Window: per week.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Timestamps with time of day on start and decision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Execution-error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Unsuccessful decisions whose primary reason is TECHNICAL_ERROR ÷ recorded decisions.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Unsuccessful decisions whose primary reason is a manipulation or fake label ÷ recorded decisions. Not adjudicated.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Adjudication of a sample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A2 · Data validation and outcome treatment</a:t>
            </a:r>
            <a:endParaRPr lang="en-US" sz="2600" dirty="0"/>
          </a:p>
        </p:txBody>
      </p:sp>
      <p:graphicFrame>
        <p:nvGraphicFramePr>
          <p:cNvPr id="18"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057400"/>
                <a:gridCol w="3429000"/>
                <a:gridCol w="777240"/>
                <a:gridCol w="482803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Check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Result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Treatment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Records in each extract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summary / 52,075 details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Equal row counts.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Unique user_reference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 52,075</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duplicate users in either file.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Join coverage on user_reference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matched, 0 + 0 unmatched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Complete one-to-one join.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Date coverage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2023-07-25 to 2023-09-22: 60 of 60 calendar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All days are present.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Timestamp precision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of 52,075 at midnight UTC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Dates only. Intraday outage windows cannot be matched to records, and the extract does not say which event the date marks (submission, decision or export).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Final outcome categories (summary.decision_type)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PASSED 44,825, REJECTED 6,772, WARNING 474, APPROVED 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PASSED and APPROVED = approved; REJECTED = rejected; WARNING = unresolved (not approved, not a confirmed rejection).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decision_type vs details.decision_label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PASSED vs REJECTED: 1; PASSED vs OK: 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summary.decision_type is treated as the outcome. The 8 'OK' labels are label-only; 1 record shows PASSED in the summary but REJECTED in details. We count it as approved until it is reconciled.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Non-standard capability value 'PASSES'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 values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Treated as PASSED.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Blank watchlist_screening_decision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6,606 blank, 1 NOT_EXECUTED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Shown as 'not recorded'. Mostly on rejected records; a blank field does not prove screening never ran elsewhere.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Blank data_type (no document type returned)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3,781 records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 symptom with several possible causes (unsupported document, capture, configuration, classification coverage).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Birth year extracted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48,286 present, 3,789 blank; range 1909–2022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3,769 of the 3,789 blanks are rejected records, so ages describe applicants whose document was read, not all applicants. Extreme years (e.g. 2022) suggest extraction errors.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Country field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MEX / ARG only (data_issuing_country)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This is the country that issued the document. It is not always the residence or the account market.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Attempts per user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 record per user_reference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The extract does not say whether a record is the first, latest or final attempt; retries and later outcomes are not visible.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Raw files unchanged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summary 67e4190909b7…, details e0762f377a41…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SHA-256 prefixes, recomputed on every build.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A3 · What the not-approved share is made of</a:t>
            </a:r>
            <a:endParaRPr lang="en-US" sz="2600" dirty="0"/>
          </a:p>
        </p:txBody>
      </p:sp>
      <p:graphicFrame>
        <p:nvGraphicFramePr>
          <p:cNvPr id="19"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017520"/>
                <a:gridCol w="2743200"/>
                <a:gridCol w="822960"/>
                <a:gridCol w="822960"/>
                <a:gridCol w="1188720"/>
                <a:gridCol w="1234440"/>
                <a:gridCol w="126187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Group</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Class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Prior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Recent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Of decisions, prior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Of decisions, recent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Of unsuccessful, recent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407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0.00%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9.7%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 signal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 signal (not adjudicated)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88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598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0.33%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2.38%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No document type, no reason code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945</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1,034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3.51%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4.11%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24.6%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Unsupported or incomplete document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536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1.96%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2.13%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12.8%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Image quality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186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175</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0.69%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0.70%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Screen or paper copy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0.29%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0.63%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Selfie / liveness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451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660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2.63%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Face 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747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606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2.77%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2.41%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Other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0.08%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0.11%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Fraud signal (not adjudicated)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88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598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0.33%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2.38%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407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0.00%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9.7%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1,243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1,529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4.61%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6.08%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36.4%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1,713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1,667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6.36%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6.63%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39.7%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Not-approved share: 11.3% prior, 16.7% recent. 281 recent decisions are unresolved warnings, not confirmed rejections.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A4 · Mexico: "no document type" is a symptom with several outcomes</a:t>
            </a:r>
            <a:endParaRPr lang="en-US" sz="2600" dirty="0"/>
          </a:p>
        </p:txBody>
      </p:sp>
      <p:graphicFrame>
        <p:nvGraphicFramePr>
          <p:cNvPr id="20"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949440" cy="914400"/>
        </p:xfrm>
        <a:graphic>
          <a:graphicData uri="http://schemas.openxmlformats.org/drawingml/2006/table">
            <a:tbl>
              <a:tblPr/>
              <a:tblGrid>
                <a:gridCol w="3108960"/>
                <a:gridCol w="685800"/>
                <a:gridCol w="685800"/>
                <a:gridCol w="822960"/>
                <a:gridCol w="822960"/>
                <a:gridCol w="822960"/>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Outcome for Mexican decisions with no document type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Prior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Recent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Share, prior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Share, recent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Change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No reason code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945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1,034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6.13%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7.24%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+1.11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Unsupported document type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245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264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1.59%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1.85%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+0.26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Mandatory data not present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203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204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1.32%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1.43%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+0.11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Page or part not present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80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68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0.52%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0.48%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−0.04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Image quality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186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+0.02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Screen or paper copy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0.38%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0.81%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+0.43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Execution error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0.67%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+0.67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Selfie, face or other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0.41%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+0.22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+0.13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graphicFrame>
        <p:nvGraphicFramePr>
          <p:cNvPr id="39" name="table-2"/>
          <p:cNvGraphicFramePr>
            <a:graphicFrameLocks noGrp="1"/>
          </p:cNvGraphicFramePr>
          <p:nvPr>
            <p:extLst>
              <p:ext uri="{D42A27DB-BD31-4B8C-83A1-F6EECF244321}">
                <p14:modId xmlns:p14="http://schemas.microsoft.com/office/powerpoint/2010/main" val="1579011935"/>
              </p:ext>
            </p:extLst>
          </p:nvPr>
        </p:nvGraphicFramePr>
        <p:xfrm>
          <a:off x="7772400" y="1325880"/>
          <a:ext cx="3870655" cy="914400"/>
        </p:xfrm>
        <a:graphic>
          <a:graphicData uri="http://schemas.openxmlformats.org/drawingml/2006/table">
            <a:tbl>
              <a:tblPr/>
              <a:tblGrid>
                <a:gridCol w="2057400"/>
                <a:gridCol w="868680"/>
                <a:gridCol w="941832"/>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Document type returned (Mexico)</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Approval prior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Approval recent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Voter ID (INE)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93.9%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National ID card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91.0%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87.0%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No document type returned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Passport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95.6%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Residence permit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94.6%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Driving licence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92.5%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Other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100.0%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93.8%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5" name="text-3"/>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Argentine documents: 0 usability rejections or warnings in the extract; Mexican: 1,442. Possible causes include documents outside the accepted list, capture quality, a mismatch with the issuer country, configuration and vendor coverage.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A5 · Incident attribution: sensitivity and vendor evidence</a:t>
            </a:r>
            <a:endParaRPr lang="en-US" sz="2600" dirty="0"/>
          </a:p>
        </p:txBody>
      </p:sp>
      <p:graphicFrame>
        <p:nvGraphicFramePr>
          <p:cNvPr id="21"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675120" cy="914400"/>
        </p:xfrm>
        <a:graphic>
          <a:graphicData uri="http://schemas.openxmlformats.org/drawingml/2006/table">
            <a:tbl>
              <a:tblPr/>
              <a:tblGrid>
                <a:gridCol w="2286000"/>
                <a:gridCol w="731520"/>
                <a:gridCol w="868680"/>
                <a:gridCol w="914400"/>
                <a:gridCol w="868680"/>
                <a:gridCol w="1005840"/>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Window</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Base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Window ±1 day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Broader signature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Recent baseline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Old method (no baseline)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1. Argentina fraud-signal burst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2. Execution errors at usability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454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3. Liveness quality spike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4. Mexico INE fraud-signal cluster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133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C2126"/>
                          </a:solidFill>
                          <a:latin typeface="Arial" pitchFamily="34" charset="0"/>
                          <a:ea typeface="Arial" pitchFamily="34" charset="-122"/>
                          <a:cs typeface="Arial" pitchFamily="34" charset="-120"/>
                        </a:rPr>
                        <a:t>Total</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1,057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1,068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3429000"/>
            <a:ext cx="6675120" cy="2377440"/>
          </a:xfrm>
          <a:prstGeom prst="rect">
            <a:avLst/>
          </a:prstGeom>
          <a:noFill/>
          <a:ln/>
        </p:spPr>
        <p:txBody>
          <a:bodyPr wrap="square" lIns="0" tIns="0" rIns="0" bIns="0" rtlCol="0" anchor="t"/>
          <a:lstStyle/>
          <a:p>
            <a:pPr algn="l" indent="0" marL="0">
              <a:spcAft>
                <a:spcPts val="500"/>
              </a:spcAft>
              <a:buNone/>
            </a:pPr>
            <a:r>
              <a:rPr lang="en-US" sz="1250" b="1" dirty="0">
                <a:solidFill>
                  <a:srgbClr val="1C2126"/>
                </a:solidFill>
                <a:latin typeface="Arial" pitchFamily="34" charset="0"/>
                <a:ea typeface="Arial" pitchFamily="34" charset="-122"/>
                <a:cs typeface="Arial" pitchFamily="34" charset="-120"/>
              </a:rPr>
              <a:t>How to read it</a:t>
            </a:r>
            <a:endParaRPr lang="en-US" sz="1250" dirty="0"/>
          </a:p>
          <a:p>
            <a:pPr algn="l" marL="152400" indent="-152400">
              <a:spcAft>
                <a:spcPts val="300"/>
              </a:spcAft>
              <a:buSzPct val="100000"/>
              <a:buChar char="•"/>
            </a:pPr>
            <a:r>
              <a:rPr lang="en-US" sz="1150" dirty="0">
                <a:solidFill>
                  <a:srgbClr val="1C2126"/>
                </a:solidFill>
                <a:latin typeface="Arial" pitchFamily="34" charset="0"/>
                <a:ea typeface="Arial" pitchFamily="34" charset="-122"/>
                <a:cs typeface="Arial" pitchFamily="34" charset="-120"/>
              </a:rPr>
              <a:t>Base: failures that match the window’s pattern, minus the count expected at the prior-period rate for the window’s volume.</a:t>
            </a:r>
            <a:endParaRPr lang="en-US" sz="1250" dirty="0"/>
          </a:p>
          <a:p>
            <a:pPr algn="l" marL="152400" indent="-152400">
              <a:spcAft>
                <a:spcPts val="300"/>
              </a:spcAft>
              <a:buSzPct val="100000"/>
              <a:buChar char="•"/>
            </a:pPr>
            <a:r>
              <a:rPr lang="en-US" sz="1150" dirty="0">
                <a:solidFill>
                  <a:srgbClr val="1C2126"/>
                </a:solidFill>
                <a:latin typeface="Arial" pitchFamily="34" charset="0"/>
                <a:ea typeface="Arial" pitchFamily="34" charset="-122"/>
                <a:cs typeface="Arial" pitchFamily="34" charset="-120"/>
              </a:rPr>
              <a:t>Range across the four baseline-based variants: 1,055–1,130.</a:t>
            </a:r>
            <a:endParaRPr lang="en-US" sz="1250" dirty="0"/>
          </a:p>
          <a:p>
            <a:pPr algn="l" marL="152400" indent="-152400">
              <a:buSzPct val="100000"/>
              <a:buChar char="•"/>
            </a:pPr>
            <a:r>
              <a:rPr lang="en-US" sz="1150" dirty="0">
                <a:solidFill>
                  <a:srgbClr val="1C2126"/>
                </a:solidFill>
                <a:latin typeface="Arial" pitchFamily="34" charset="0"/>
                <a:ea typeface="Arial" pitchFamily="34" charset="-122"/>
                <a:cs typeface="Arial" pitchFamily="34" charset="-120"/>
              </a:rPr>
              <a:t>The old method counts every failure of the pattern on the day. That includes failures that also occur on normal days.</a:t>
            </a:r>
            <a:endParaRPr lang="en-US" sz="1250" dirty="0"/>
          </a:p>
        </p:txBody>
      </p:sp>
      <p:graphicFrame>
        <p:nvGraphicFramePr>
          <p:cNvPr id="41" name="table-3"/>
          <p:cNvGraphicFramePr>
            <a:graphicFrameLocks noGrp="1"/>
          </p:cNvGraphicFramePr>
          <p:nvPr>
            <p:extLst>
              <p:ext uri="{D42A27DB-BD31-4B8C-83A1-F6EECF244321}">
                <p14:modId xmlns:p14="http://schemas.microsoft.com/office/powerpoint/2010/main" val="1579011935"/>
              </p:ext>
            </p:extLst>
          </p:nvPr>
        </p:nvGraphicFramePr>
        <p:xfrm>
          <a:off x="7452360" y="1325880"/>
          <a:ext cx="4190695" cy="914400"/>
        </p:xfrm>
        <a:graphic>
          <a:graphicData uri="http://schemas.openxmlformats.org/drawingml/2006/table">
            <a:tbl>
              <a:tblPr/>
              <a:tblGrid>
                <a:gridCol w="960120"/>
                <a:gridCol w="868680"/>
                <a:gridCol w="235915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Date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UTC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Vendor status page entry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15:38–16:42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Liveness returned 'Unable to see your face properly' for all ID verification transactions.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18:07–22:44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Same liveness message. Liveness restored 20:59; Authentication restored for new users only; resolved 22:44.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10:00–17:22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Instability; workaround 11:25; liveness restored 16:21; resolved 17:22.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2023-09-13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13:23–13:44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Retry surge after a fix: V2 scans unavailable; Jumio Go customers possibly saw extra 'unsupported document' rejections; Hybrid delays.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2023-09-01 / 09-02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status entry mentions usability, TECHNICAL_ERROR or skipped document checks, and none is listed for Sep 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2023-08-24, 09-14 to 09-19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incidents listed for August 2023; only scheduled maintenance in Singapore during Sep 14–19.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A6 · Experiment and validation designs</a:t>
            </a:r>
            <a:endParaRPr lang="en-US" sz="2600" dirty="0"/>
          </a:p>
        </p:txBody>
      </p:sp>
      <p:graphicFrame>
        <p:nvGraphicFramePr>
          <p:cNvPr id="22"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463040"/>
                <a:gridCol w="4818888"/>
                <a:gridCol w="4809744"/>
              </a:tblGrid>
              <a:tr h="0">
                <a:tc>
                  <a:txBody>
                    <a:bodyPr/>
                    <a:lstStyle/>
                    <a:p>
                      <a:pPr indent="0" marL="0">
                        <a:buNone/>
                      </a:pP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Mexico document guidance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Guided liveness retake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Kind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Optimisation experiment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Optimisation experiment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Hypothesis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Pictures of the accepted documents, shown to Mexican applicants before capture, increase eventual approval.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One guided retake after BAD_QUALITY or FACE_NOT_FULLY_VISIBLE from liveness increases eventual approval and does not increase fraud.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Population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People who start KYC with a Mexican document. Exclude staff and test accounts, and people already approved.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People whose first liveness result is BAD_QUALITY or FACE_NOT_FULLY_VISIBLE and who have no fraud signal. Exclude ID_USED_AS_SELFIE and any manipulation label.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Assignment unit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Person (person_id), assigned at first kyc_started, sticky across attempts.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Person, assigned at the first eligible liveness failure, sticky.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Primary outcome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 of first start.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 of the failure.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Window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 days per person plus 7 days to mature the last cohort.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 days plus 7 days to mature.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Minimum effect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+2.0 pp on eventual approval.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 pp on eventual approval in the eligible group.</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Sample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With the recent Mexican approval rate (78.8%) as a stand-in baseline, the sample is about 6,314 people per arm (95% confidence, 80% power). At about 476 Mexican decisions a day that is roughly 27 days at a 50/50 split. Recompute once start-based data exists.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If about 5% of the eligible group is approved later without a retake (not measurable yet), the sample is about 141 people per arm. At about 16 eligible people a day (recent non-incident rate) that is roughly 18 days. Needs the real baseline from instrumentation.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Guardrails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Start-to-submit rate, time to decision, fraud-signal rate, support contacts.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rate and confirmed fraud among retake approvals, liveness spoof labels, vendor cost per approval, time to decision.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Rules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 at 10% for 3 days to check events, then 50/50. Expand if the primary outcome improves by at least the minimum and guardrails hold. Roll back if start-to-submit falls more than 2 pp or fraud signals rise more than 0.5 pp.</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Risk sign-off before launch. Start 50/50. Roll back on any confirmed spoof or a fraud-signal rate among retake approvals above control.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A7 · Value model inputs: market-based presets, not ARQ figures</a:t>
            </a:r>
            <a:endParaRPr lang="en-US" sz="2600" dirty="0"/>
          </a:p>
        </p:txBody>
      </p:sp>
      <p:graphicFrame>
        <p:nvGraphicFramePr>
          <p:cNvPr id="23"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788920"/>
                <a:gridCol w="777240"/>
                <a:gridCol w="777240"/>
                <a:gridCol w="777240"/>
                <a:gridCol w="1463040"/>
                <a:gridCol w="3291840"/>
                <a:gridCol w="1216152"/>
              </a:tblGrid>
              <a:tr h="0">
                <a:tc>
                  <a:txBody>
                    <a:bodyPr/>
                    <a:lstStyle/>
                    <a:p>
                      <a:pPr indent="0" marL="0">
                        <a:buNone/>
                      </a:pPr>
                      <a:r>
                        <a:rPr lang="en-US" sz="1100" b="1" dirty="0">
                          <a:solidFill>
                            <a:srgbClr val="59636D"/>
                          </a:solidFill>
                          <a:latin typeface="Arial" pitchFamily="34" charset="0"/>
                          <a:ea typeface="Arial" pitchFamily="34" charset="-122"/>
                          <a:cs typeface="Arial" pitchFamily="34" charset="-120"/>
                        </a:rPr>
                        <a:t>Input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Low</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Mid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Kind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Basis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Sources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Value per activated customer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ARQ press figures; Nu México revenue and margin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S4, S5, S8, S9</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Activation rate after approval (%)</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38.2%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56.3%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83.0%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Proxy</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Liftoff LATAM and fintech activation; Nu activity rate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S6, S7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Share of applicants from paid channels (%)</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29.0%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40.0%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Proxy + assumption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Nu organic and word-of-mouth shares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S6</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Acquisition cost per paid applicant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$8.74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$17.96</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$29.93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Liftoff cost per install and per registration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Billable vendor transactions per decision (count)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1.5</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Assumption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Assumption; replace with invoiced transactions ÷ decisions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Vendor cost per billable transaction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$1.44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$1.85</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List price / estimate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Veriff and Sumsub list prices; Vendr estimate for Jumio</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 S2, S3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Cost per manual review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$0.83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$5.72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$10.79</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Mexico analyst salaries × time per case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S10, S11, S13, S14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Implementation cost of the repeated-cause actions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$24,400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$31,600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$85,000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Roadmap effort × Mexico engineering cost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S12, S13, S14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Run cost per month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$510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$2,010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$3,860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Review cases and retake vendor calls, central scenario</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 S2, S3, S10, S11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89788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Sources S1–S14: the dashboard (What we gain) gives each figure, period and link.</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A8 · Value model results by preset, central scenario</a:t>
            </a:r>
            <a:endParaRPr lang="en-US" sz="2600" dirty="0"/>
          </a:p>
        </p:txBody>
      </p:sp>
      <p:graphicFrame>
        <p:nvGraphicFramePr>
          <p:cNvPr id="24"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4873752"/>
                <a:gridCol w="1645920"/>
                <a:gridCol w="1645920"/>
                <a:gridCol w="1645920"/>
                <a:gridCol w="1280160"/>
              </a:tblGrid>
              <a:tr h="0">
                <a:tc>
                  <a:txBody>
                    <a:bodyPr/>
                    <a:lstStyle/>
                    <a:p>
                      <a:pPr indent="0" marL="0">
                        <a:buNone/>
                      </a:pPr>
                      <a:r>
                        <a:rPr lang="en-US" sz="1150" b="1" dirty="0">
                          <a:solidFill>
                            <a:srgbClr val="59636D"/>
                          </a:solidFill>
                          <a:latin typeface="Arial" pitchFamily="34" charset="0"/>
                          <a:ea typeface="Arial" pitchFamily="34" charset="-122"/>
                          <a:cs typeface="Arial" pitchFamily="34" charset="-120"/>
                        </a:rPr>
                        <a:t>Result (per 30 days unless stated)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Low</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Mid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High</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Cautious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Activated customers from recoverable approvals, per 30 days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242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357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526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242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First-year value of one 30-day cohort</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$3,148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$7,496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$27,890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$3,148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Same, if every 30 days repeats for a year</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$38,306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$91,199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$339,324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$38,306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Break-even first-year value per activated customer</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cost per 30 days for the review-pilot population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$231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$1,590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$3,000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$3,000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Historical vendor spend on recent not-approved decisions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$6,049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$9,326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$18,905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$6,049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Vendor spend avoidable on suspected extra attack traffic</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$492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$759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$1,539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$492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Historical paid acquisition spend on recent not-approved applicants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$10,648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$30,180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$62,868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$10,648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Pays back within the first year? (value per activated customer vs break-even)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Yes: $13 vs $11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Yes: $21 vs $13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Yes: $53 vs $21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No: $13 vs $45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80644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The first-year value of a cohort comes in over the next year. It is not revenue recognised in the next 12 months. Past vendor and paid-acquisition spend on not-approved applicants is already spent. Only a fix of the cause stops future spend.</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A9 · Operating model: owned metrics with versions, lineage and adoption</a:t>
            </a:r>
            <a:endParaRPr lang="en-US" sz="2600" dirty="0"/>
          </a:p>
        </p:txBody>
      </p:sp>
      <p:graphicFrame>
        <p:nvGraphicFramePr>
          <p:cNvPr id="25"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583680" cy="914400"/>
        </p:xfrm>
        <a:graphic>
          <a:graphicData uri="http://schemas.openxmlformats.org/drawingml/2006/table">
            <a:tbl>
              <a:tblPr/>
              <a:tblGrid>
                <a:gridCol w="2377440"/>
                <a:gridCol w="914400"/>
                <a:gridCol w="1645920"/>
                <a:gridCol w="594360"/>
                <a:gridCol w="1051560"/>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Metric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Owner (role)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Version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Lineage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Approval rate among recorded decisions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Completion rate (start to terminal state)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Manual-review outcomes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Operations · KYC review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Execution-error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Engineering · Onboarding platform</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Risk &amp; Fraud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7406640" y="1325880"/>
            <a:ext cx="4236415" cy="2194560"/>
          </a:xfrm>
          <a:prstGeom prst="rect">
            <a:avLst/>
          </a:prstGeom>
          <a:noFill/>
          <a:ln/>
        </p:spPr>
        <p:txBody>
          <a:bodyPr wrap="square" lIns="0" tIns="0" rIns="0" bIns="0" rtlCol="0" anchor="t"/>
          <a:lstStyle/>
          <a:p>
            <a:pPr algn="l" indent="0" marL="0">
              <a:spcAft>
                <a:spcPts val="500"/>
              </a:spcAft>
              <a:buNone/>
            </a:pPr>
            <a:r>
              <a:rPr lang="en-US" sz="1250" b="1" dirty="0">
                <a:solidFill>
                  <a:srgbClr val="1C2126"/>
                </a:solidFill>
                <a:latin typeface="Arial" pitchFamily="34" charset="0"/>
                <a:ea typeface="Arial" pitchFamily="34" charset="-122"/>
                <a:cs typeface="Arial" pitchFamily="34" charset="-120"/>
              </a:rPr>
              <a:t>Ownership rules</a:t>
            </a:r>
            <a:endParaRPr lang="en-US" sz="125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One accountable owner per metric, effective-dated.</a:t>
            </a:r>
            <a:endParaRPr lang="en-US" sz="125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Definition changes need owner and Data approval; old versions stay queryable.</a:t>
            </a:r>
            <a:endParaRPr lang="en-US" sz="1250" dirty="0"/>
          </a:p>
          <a:p>
            <a:pPr algn="l" marL="152400" indent="-152400">
              <a:buSzPct val="100000"/>
              <a:buChar char="•"/>
            </a:pPr>
            <a:r>
              <a:rPr lang="en-US" sz="1150" dirty="0">
                <a:solidFill>
                  <a:srgbClr val="1C2126"/>
                </a:solidFill>
                <a:latin typeface="Arial" pitchFamily="34" charset="0"/>
                <a:ea typeface="Arial" pitchFamily="34" charset="-122"/>
                <a:cs typeface="Arial" pitchFamily="34" charset="-120"/>
              </a:rPr>
              <a:t>Past results stay attributed to the owner at the time.</a:t>
            </a:r>
            <a:endParaRPr lang="en-US" sz="1250" dirty="0"/>
          </a:p>
        </p:txBody>
      </p:sp>
      <p:sp>
        <p:nvSpPr>
          <p:cNvPr id="5" name="text-3"/>
          <p:cNvSpPr txBox="1"/>
          <p:nvPr/>
        </p:nvSpPr>
        <p:spPr>
          <a:xfrm>
            <a:off x="7406640" y="3657600"/>
            <a:ext cx="4236415" cy="2194560"/>
          </a:xfrm>
          <a:prstGeom prst="rect">
            <a:avLst/>
          </a:prstGeom>
          <a:noFill/>
          <a:ln/>
        </p:spPr>
        <p:txBody>
          <a:bodyPr wrap="square" lIns="0" tIns="0" rIns="0" bIns="0" rtlCol="0" anchor="t"/>
          <a:lstStyle/>
          <a:p>
            <a:pPr algn="l" indent="0" marL="0">
              <a:spcAft>
                <a:spcPts val="500"/>
              </a:spcAft>
              <a:buNone/>
            </a:pPr>
            <a:r>
              <a:rPr lang="en-US" sz="1250" b="1" dirty="0">
                <a:solidFill>
                  <a:srgbClr val="1C2126"/>
                </a:solidFill>
                <a:latin typeface="Arial" pitchFamily="34" charset="0"/>
                <a:ea typeface="Arial" pitchFamily="34" charset="-122"/>
                <a:cs typeface="Arial" pitchFamily="34" charset="-120"/>
              </a:rPr>
              <a:t>Adoption success measures</a:t>
            </a:r>
            <a:endParaRPr lang="en-US" sz="1250" dirty="0"/>
          </a:p>
          <a:p>
            <a:pPr algn="l" indent="0" marL="0">
              <a:buNone/>
            </a:pPr>
            <a:r>
              <a:rPr lang="en-US" sz="1150" dirty="0">
                <a:solidFill>
                  <a:srgbClr val="1C2126"/>
                </a:solidFill>
                <a:latin typeface="Arial" pitchFamily="34" charset="0"/>
                <a:ea typeface="Arial" pitchFamily="34" charset="-122"/>
                <a:cs typeface="Arial" pitchFamily="34" charset="-120"/>
              </a:rPr>
              <a:t>Share of KYC actions with an owner and a current status. Share of metrics with an approved definition. Time from alert to acknowledgement. Decisions in the review that cite the platform. Page views are not a success measure.</a:t>
            </a:r>
            <a:endParaRPr lang="en-US" sz="1250" dirty="0"/>
          </a:p>
        </p:txBody>
      </p:sp>
      <p:sp>
        <p:nvSpPr>
          <p:cNvPr id="6" name="text-4"/>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This analysis is version 2.0 of the headline metric: v1.0 called it "pass rate"; v2.0 renamed it and defined completion separately.</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A10 · Control findings in the extract: to reconcile, not confirmed failures</a:t>
            </a:r>
            <a:endParaRPr lang="en-US" sz="2600" dirty="0"/>
          </a:p>
        </p:txBody>
      </p:sp>
      <p:graphicFrame>
        <p:nvGraphicFramePr>
          <p:cNvPr id="26"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017520"/>
                <a:gridCol w="822960"/>
                <a:gridCol w="3566160"/>
                <a:gridCol w="3685032"/>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Finding</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Records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Other explanations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How to validate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 records with birth year 2006 or later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1,223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Extraction error; a policy that allows minors in some product; an approval record that never became an enabled account.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Compare with raw vendor responses and document images for a sample; check the age policy per country; check account state.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 records with no screening result in the extract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86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Screening ran in another system or a later step; field not exported.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Look up screening records for these users in the screening system; confirm whether an account was enabled.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 records with a watchlist WARNING</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69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Warnings cleared in manual review that the extract does not show.</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Retrieve review dispositions; confirm who cleared each case and when.</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Outcome disagrees between the two files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A difference in the export field map.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Reconcile against the system of record.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Non-standard capability values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Manual edits or an export bug.</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Fix at source; add schema checks to the extract.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If an extracted birth year of 2006 or later is accurate, the person was under 18 during 2023. The applicable eligibility policy and the data quality both still need confirmation.</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A11 · Vendor research (Oct 13, 2026): availability is not effectiveness</a:t>
            </a:r>
            <a:endParaRPr lang="en-US" sz="2600" dirty="0"/>
          </a:p>
        </p:txBody>
      </p:sp>
      <p:graphicFrame>
        <p:nvGraphicFramePr>
          <p:cNvPr id="27"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645920"/>
                <a:gridCol w="1554480"/>
                <a:gridCol w="3474720"/>
                <a:gridCol w="2606040"/>
                <a:gridCol w="181051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Capability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2023 problem</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Documented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Prerequisites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Not verified for ARQ</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Classification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document type returned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 separate capability that returns the document type, with UNSUPPORTED as one value.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None stated.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Whether ARQ's workflow already returns it.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Usability labels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Mandatory data not present; automation level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UNSUPPORTED_DOCUMENT_TYPE is a WARNING; MISSING_MANDATORY_DATAPOINTS 'will only happen for Jumio Go transactions'; TECHNICAL_ERROR is NOT_EXECUTED.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None stated.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Whether ARQ had manual review elsewhere in its own process.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Liveness labels and tiers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Liveness quality spike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BAD_QUALITY is a WARNING; FACE_NOT_FULLY_VISIBLE is REJECTED; Standard or Premium 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Premium 'requires additional configuration for your tenant'; technology depends on the product purchased.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Which tier and labels ARQ receives.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Cross Transaction Risk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clusters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Matches ID data, faces and image parts such as backgrounds across transactions; informational by default.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Jumio Support enables it on request. Press release of Apr 22, 2025 announced general availability.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Commercial terms; effect on ARQ's traffic.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Result retrieval and retries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 errors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After a callback, retry the retrieval from 40 seconds, with longer intervals each time, for at most 10 failures in a row.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None.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How ARQ handles TECHNICAL_ERROR today.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Mobile SDK capture features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document type; capture quality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ML document and country classifier (4.9.0); unsupported-document check (4.11.0); virtual-camera injection detection (4.14.0); controls to limit manual capture (4.18.0).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SDK upgrade; configuration details for 4.18.0 controls not documented; gallery upload not documented.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ARQ's current SDK version and capture flow.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Mexico INE registry checks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INE fraud signals; face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INE Lista Nominal validates card fields. INE Data &amp; Face Validation compares with INE records.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Data &amp; Face needs a direct contract with INE, onboarding with FIMPE, dedicated middleware, about 4–5 days setup plus 2 days certification per client.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Cost, coverage and effect.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Argentina RENAPER data and biometric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 signals; face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Data check and biometric (selfie vs registry) check.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PII fields need an updated data agreement (DPA) and are off by default; enabled by Jumio.</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Cost and effect.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Case study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KYC approval-rate diagnosis</dc:title>
  <dc:subject>PptxGenJS Presentation</dc:subject>
  <dc:creator>KYC case study</dc:creator>
  <cp:lastModifiedBy>KYC case study</cp:lastModifiedBy>
  <cp:revision>1</cp:revision>
  <dcterms:created xsi:type="dcterms:W3CDTF">2026-10-15T12:55:05Z</dcterms:created>
  <dcterms:modified xsi:type="dcterms:W3CDTF">2026-10-15T12:55:05Z</dcterms:modified>
</cp:coreProperties>
</file>