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4cbb7a40-9a1a-aac3-618b-e006bef9516d}">
          <p14:sldIdLst>
            <p14:sldId id="256"/>
            <p14:sldId id="257"/>
            <p14:sldId id="258"/>
            <p14:sldId id="259"/>
            <p14:sldId id="260"/>
            <p14:sldId id="261"/>
            <p14:sldId id="262"/>
            <p14:sldId id="263"/>
            <p14:sldId id="264"/>
            <p14:sldId id="265"/>
            <p14:sldId id="266"/>
            <p14:sldId id="267"/>
          </p14:sldIdLst>
        </p14:section>
        <p14:section name="Appendix" id="{99e63d67-b5f0-a79c-1c72-81627b463aab}">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 start-to-finish funnel the brief describes cannot be measured from these extracts, and the deck says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an executive needs: what is measurable, what changed, the arithmetic, what is still hypothesis, what to do first, what is needed, and how success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no intraday matching.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worth doing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tests the leading fixes; Phase 2 scales what works; Phase 3 is large platform and commercial work. Conditional items say what they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so the first conversation can settle them in order.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matching failure,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by person avoids counting repeat attempts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is derived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A9497"/>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4C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1143000"/>
            <a:ext cx="8686800" cy="365760"/>
          </a:xfrm>
          <a:prstGeom prst="rect">
            <a:avLst/>
          </a:prstGeom>
          <a:noFill/>
          <a:ln/>
        </p:spPr>
        <p:txBody>
          <a:bodyPr wrap="square" lIns="0" tIns="0" rIns="0" bIns="0" rtlCol="0" anchor="t"/>
          <a:lstStyle/>
          <a:p>
            <a:pPr algn="l" indent="0" marL="0">
              <a:buNone/>
            </a:pPr>
            <a:r>
              <a:rPr lang="en-US" sz="1400" dirty="0">
                <a:solidFill>
                  <a:srgbClr val="BFD6D5"/>
                </a:solidFill>
                <a:latin typeface="Arial" pitchFamily="34" charset="0"/>
                <a:ea typeface="Arial" pitchFamily="34" charset="-122"/>
                <a:cs typeface="Arial" pitchFamily="34" charset="-120"/>
              </a:rPr>
              <a:t>Product Owner case study · KYC onboarding</a:t>
            </a:r>
            <a:endParaRPr lang="en-US" sz="1400" dirty="0"/>
          </a:p>
        </p:txBody>
      </p:sp>
      <p:sp>
        <p:nvSpPr>
          <p:cNvPr id="4" name="text-2"/>
          <p:cNvSpPr txBox="1"/>
          <p:nvPr/>
        </p:nvSpPr>
        <p:spPr>
          <a:xfrm>
            <a:off x="548640" y="1645920"/>
            <a:ext cx="10424160" cy="173736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KYC approval fell 5.4 points in a month. Most of the arithmetic is known; most of the causes are not yet.</a:t>
            </a:r>
            <a:endParaRPr lang="en-US" sz="3400" dirty="0"/>
          </a:p>
        </p:txBody>
      </p:sp>
      <p:sp>
        <p:nvSpPr>
          <p:cNvPr id="5" name="text-3"/>
          <p:cNvSpPr txBox="1"/>
          <p:nvPr/>
        </p:nvSpPr>
        <p:spPr>
          <a:xfrm>
            <a:off x="548640" y="3657600"/>
            <a:ext cx="10058400" cy="822960"/>
          </a:xfrm>
          <a:prstGeom prst="rect">
            <a:avLst/>
          </a:prstGeom>
          <a:noFill/>
          <a:ln/>
        </p:spPr>
        <p:txBody>
          <a:bodyPr wrap="square" lIns="0" tIns="0" rIns="0" bIns="0" rtlCol="0" anchor="t"/>
          <a:lstStyle/>
          <a:p>
            <a:pPr algn="l" indent="0" marL="0">
              <a:buNone/>
            </a:pPr>
            <a:r>
              <a:rPr lang="en-US" sz="1800" dirty="0">
                <a:solidFill>
                  <a:srgbClr val="DCEAE9"/>
                </a:solidFill>
                <a:latin typeface="Arial" pitchFamily="34" charset="0"/>
                <a:ea typeface="Arial" pitchFamily="34" charset="-122"/>
                <a:cs typeface="Arial" pitchFamily="34" charset="-120"/>
              </a:rPr>
              <a:t>What the 2023 extracts show, what remains a hypothesis, and what to do first.</a:t>
            </a:r>
            <a:endParaRPr lang="en-US" sz="1800" dirty="0"/>
          </a:p>
        </p:txBody>
      </p:sp>
      <p:sp>
        <p:nvSpPr>
          <p:cNvPr id="6" name="text-4"/>
          <p:cNvSpPr txBox="1"/>
          <p:nvPr/>
        </p:nvSpPr>
        <p:spPr>
          <a:xfrm>
            <a:off x="548640" y="5120640"/>
            <a:ext cx="10972800" cy="1005840"/>
          </a:xfrm>
          <a:prstGeom prst="rect">
            <a:avLst/>
          </a:prstGeom>
          <a:noFill/>
          <a:ln/>
        </p:spPr>
        <p:txBody>
          <a:bodyPr wrap="square" lIns="0" tIns="0" rIns="0" bIns="0" rtlCol="0" anchor="t"/>
          <a:lstStyle/>
          <a:p>
            <a:pPr algn="l" indent="0" marL="0">
              <a:spcAft>
                <a:spcPts val="400"/>
              </a:spcAft>
              <a:buNone/>
            </a:pPr>
            <a:r>
              <a:rPr lang="en-US" sz="1200" dirty="0">
                <a:solidFill>
                  <a:srgbClr val="BFD6D5"/>
                </a:solidFill>
                <a:latin typeface="Arial" pitchFamily="34" charset="0"/>
                <a:ea typeface="Arial" pitchFamily="34" charset="-122"/>
                <a:cs typeface="Arial" pitchFamily="34" charset="-120"/>
              </a:rPr>
              <a:t>Data: KYC_summary and KYC_details extracts, 52,075 recorded decisions, Jul 25 – Sep 22, 2023 (prior period Jul 25 – Aug 23; recent period Aug 24 – Sep 22).</a:t>
            </a:r>
            <a:endParaRPr lang="en-US" sz="1200" dirty="0"/>
          </a:p>
          <a:p>
            <a:pPr algn="l" indent="0" marL="0">
              <a:buNone/>
            </a:pPr>
            <a:r>
              <a:rPr lang="en-US" sz="1200" dirty="0">
                <a:solidFill>
                  <a:srgbClr val="BFD6D5"/>
                </a:solidFill>
                <a:latin typeface="Arial" pitchFamily="34" charset="0"/>
                <a:ea typeface="Arial" pitchFamily="34" charset="-122"/>
                <a:cs typeface="Arial" pitchFamily="34" charset="-120"/>
              </a:rPr>
              <a:t>Vendor research dated Oct 13, 2026. Internal: contains fraud-control and compliance findings.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0F4C4D"/>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among recorded decisions, by day, document country and failing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0F4C4D"/>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88.7% → 83.3% (−5.4 pp). Approvals −2,945: −1,587 from fewer decisions, −1,358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0F4C4D"/>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0F4C4D"/>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0F4C4D"/>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Instrument the funnel; hold and retry execution errors; alert per reason code; reconcile control findings;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0F4C4D"/>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0F4C4D"/>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Acceptance criteria per action; experiments on eventual approval per person within 7 days. Scenarios for recurring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DCEAE9"/>
          </a:solidFill>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0F4C4D"/>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C686C"/>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C686C"/>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C686C"/>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Do not read the approval rate as completion: people who never submit, and approvals after retry or review, are invisible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3F6F6"/>
          </a:solidFill>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3F6F6"/>
          </a:solidFill>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3F6F6"/>
          </a:solidFill>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3F6F6"/>
          </a:solidFill>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5DCDD"/>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5DCDD"/>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5DCDD"/>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5DCDD"/>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0F4C4D"/>
          </a:solidFill>
          <a:ln/>
        </p:spPr>
      </p:sp>
      <p:sp>
        <p:nvSpPr>
          <p:cNvPr id="25" name="rect-23"/>
          <p:cNvSpPr/>
          <p:nvPr/>
        </p:nvSpPr>
        <p:spPr>
          <a:xfrm>
            <a:off x="5049515" y="2568961"/>
            <a:ext cx="80464" cy="2688839"/>
          </a:xfrm>
          <a:prstGeom prst="rect">
            <a:avLst/>
          </a:prstGeom>
          <a:solidFill>
            <a:srgbClr val="0F4C4D"/>
          </a:solidFill>
          <a:ln/>
        </p:spPr>
      </p:sp>
      <p:sp>
        <p:nvSpPr>
          <p:cNvPr id="26" name="rect-24"/>
          <p:cNvSpPr/>
          <p:nvPr/>
        </p:nvSpPr>
        <p:spPr>
          <a:xfrm>
            <a:off x="5161270" y="2629952"/>
            <a:ext cx="80464" cy="2627848"/>
          </a:xfrm>
          <a:prstGeom prst="rect">
            <a:avLst/>
          </a:prstGeom>
          <a:solidFill>
            <a:srgbClr val="0F4C4D"/>
          </a:solidFill>
          <a:ln/>
        </p:spPr>
      </p:sp>
      <p:sp>
        <p:nvSpPr>
          <p:cNvPr id="27" name="rect-25"/>
          <p:cNvSpPr/>
          <p:nvPr/>
        </p:nvSpPr>
        <p:spPr>
          <a:xfrm>
            <a:off x="5273025" y="2888110"/>
            <a:ext cx="80464" cy="2369690"/>
          </a:xfrm>
          <a:prstGeom prst="rect">
            <a:avLst/>
          </a:prstGeom>
          <a:solidFill>
            <a:srgbClr val="0F4C4D"/>
          </a:solidFill>
          <a:ln/>
        </p:spPr>
      </p:sp>
      <p:sp>
        <p:nvSpPr>
          <p:cNvPr id="28" name="rect-26"/>
          <p:cNvSpPr/>
          <p:nvPr/>
        </p:nvSpPr>
        <p:spPr>
          <a:xfrm>
            <a:off x="5384780" y="2805036"/>
            <a:ext cx="80464" cy="2452764"/>
          </a:xfrm>
          <a:prstGeom prst="rect">
            <a:avLst/>
          </a:prstGeom>
          <a:solidFill>
            <a:srgbClr val="0F4C4D"/>
          </a:solidFill>
          <a:ln/>
        </p:spPr>
      </p:sp>
      <p:sp>
        <p:nvSpPr>
          <p:cNvPr id="29" name="rect-27"/>
          <p:cNvSpPr/>
          <p:nvPr/>
        </p:nvSpPr>
        <p:spPr>
          <a:xfrm>
            <a:off x="5496535" y="2715654"/>
            <a:ext cx="80464" cy="2542146"/>
          </a:xfrm>
          <a:prstGeom prst="rect">
            <a:avLst/>
          </a:prstGeom>
          <a:solidFill>
            <a:srgbClr val="0F4C4D"/>
          </a:solidFill>
          <a:ln/>
        </p:spPr>
      </p:sp>
      <p:sp>
        <p:nvSpPr>
          <p:cNvPr id="30" name="rect-28"/>
          <p:cNvSpPr/>
          <p:nvPr/>
        </p:nvSpPr>
        <p:spPr>
          <a:xfrm>
            <a:off x="5608290" y="2708293"/>
            <a:ext cx="80464" cy="2549507"/>
          </a:xfrm>
          <a:prstGeom prst="rect">
            <a:avLst/>
          </a:prstGeom>
          <a:solidFill>
            <a:srgbClr val="0F4C4D"/>
          </a:solidFill>
          <a:ln/>
        </p:spPr>
      </p:sp>
      <p:sp>
        <p:nvSpPr>
          <p:cNvPr id="31" name="rect-29"/>
          <p:cNvSpPr/>
          <p:nvPr/>
        </p:nvSpPr>
        <p:spPr>
          <a:xfrm>
            <a:off x="5720044" y="2576848"/>
            <a:ext cx="80464" cy="2680952"/>
          </a:xfrm>
          <a:prstGeom prst="rect">
            <a:avLst/>
          </a:prstGeom>
          <a:solidFill>
            <a:srgbClr val="0F4C4D"/>
          </a:solidFill>
          <a:ln/>
        </p:spPr>
      </p:sp>
      <p:sp>
        <p:nvSpPr>
          <p:cNvPr id="32" name="rect-30"/>
          <p:cNvSpPr/>
          <p:nvPr/>
        </p:nvSpPr>
        <p:spPr>
          <a:xfrm>
            <a:off x="5831799" y="2737211"/>
            <a:ext cx="80464" cy="2520589"/>
          </a:xfrm>
          <a:prstGeom prst="rect">
            <a:avLst/>
          </a:prstGeom>
          <a:solidFill>
            <a:srgbClr val="0F4C4D"/>
          </a:solidFill>
          <a:ln/>
        </p:spPr>
      </p:sp>
      <p:sp>
        <p:nvSpPr>
          <p:cNvPr id="33" name="rect-31"/>
          <p:cNvSpPr/>
          <p:nvPr/>
        </p:nvSpPr>
        <p:spPr>
          <a:xfrm>
            <a:off x="5943554" y="2740365"/>
            <a:ext cx="80464" cy="2517435"/>
          </a:xfrm>
          <a:prstGeom prst="rect">
            <a:avLst/>
          </a:prstGeom>
          <a:solidFill>
            <a:srgbClr val="0F4C4D"/>
          </a:solidFill>
          <a:ln/>
        </p:spPr>
      </p:sp>
      <p:sp>
        <p:nvSpPr>
          <p:cNvPr id="34" name="rect-32"/>
          <p:cNvSpPr/>
          <p:nvPr/>
        </p:nvSpPr>
        <p:spPr>
          <a:xfrm>
            <a:off x="6055309" y="2815026"/>
            <a:ext cx="80464" cy="2442774"/>
          </a:xfrm>
          <a:prstGeom prst="rect">
            <a:avLst/>
          </a:prstGeom>
          <a:solidFill>
            <a:srgbClr val="0F4C4D"/>
          </a:solidFill>
          <a:ln/>
        </p:spPr>
      </p:sp>
      <p:sp>
        <p:nvSpPr>
          <p:cNvPr id="35" name="rect-33"/>
          <p:cNvSpPr/>
          <p:nvPr/>
        </p:nvSpPr>
        <p:spPr>
          <a:xfrm>
            <a:off x="6167064" y="2602611"/>
            <a:ext cx="80464" cy="2655189"/>
          </a:xfrm>
          <a:prstGeom prst="rect">
            <a:avLst/>
          </a:prstGeom>
          <a:solidFill>
            <a:srgbClr val="0F4C4D"/>
          </a:solidFill>
          <a:ln/>
        </p:spPr>
      </p:sp>
      <p:sp>
        <p:nvSpPr>
          <p:cNvPr id="36" name="rect-34"/>
          <p:cNvSpPr/>
          <p:nvPr/>
        </p:nvSpPr>
        <p:spPr>
          <a:xfrm>
            <a:off x="6278819" y="2621013"/>
            <a:ext cx="80464" cy="2636787"/>
          </a:xfrm>
          <a:prstGeom prst="rect">
            <a:avLst/>
          </a:prstGeom>
          <a:solidFill>
            <a:srgbClr val="0F4C4D"/>
          </a:solidFill>
          <a:ln/>
        </p:spPr>
      </p:sp>
      <p:sp>
        <p:nvSpPr>
          <p:cNvPr id="37" name="rect-35"/>
          <p:cNvSpPr/>
          <p:nvPr/>
        </p:nvSpPr>
        <p:spPr>
          <a:xfrm>
            <a:off x="6390574" y="2664127"/>
            <a:ext cx="80464" cy="2593673"/>
          </a:xfrm>
          <a:prstGeom prst="rect">
            <a:avLst/>
          </a:prstGeom>
          <a:solidFill>
            <a:srgbClr val="0F4C4D"/>
          </a:solidFill>
          <a:ln/>
        </p:spPr>
      </p:sp>
      <p:sp>
        <p:nvSpPr>
          <p:cNvPr id="38" name="rect-36"/>
          <p:cNvSpPr/>
          <p:nvPr/>
        </p:nvSpPr>
        <p:spPr>
          <a:xfrm>
            <a:off x="6502329" y="2725118"/>
            <a:ext cx="80464" cy="2532682"/>
          </a:xfrm>
          <a:prstGeom prst="rect">
            <a:avLst/>
          </a:prstGeom>
          <a:solidFill>
            <a:srgbClr val="0F4C4D"/>
          </a:solidFill>
          <a:ln/>
        </p:spPr>
      </p:sp>
      <p:sp>
        <p:nvSpPr>
          <p:cNvPr id="39" name="rect-37"/>
          <p:cNvSpPr/>
          <p:nvPr/>
        </p:nvSpPr>
        <p:spPr>
          <a:xfrm>
            <a:off x="6614084" y="2701458"/>
            <a:ext cx="80464" cy="2556342"/>
          </a:xfrm>
          <a:prstGeom prst="rect">
            <a:avLst/>
          </a:prstGeom>
          <a:solidFill>
            <a:srgbClr val="0F4C4D"/>
          </a:solidFill>
          <a:ln/>
        </p:spPr>
      </p:sp>
      <p:sp>
        <p:nvSpPr>
          <p:cNvPr id="40" name="rect-38"/>
          <p:cNvSpPr/>
          <p:nvPr/>
        </p:nvSpPr>
        <p:spPr>
          <a:xfrm>
            <a:off x="6725839" y="2697777"/>
            <a:ext cx="80464" cy="2560023"/>
          </a:xfrm>
          <a:prstGeom prst="rect">
            <a:avLst/>
          </a:prstGeom>
          <a:solidFill>
            <a:srgbClr val="0F4C4D"/>
          </a:solidFill>
          <a:ln/>
        </p:spPr>
      </p:sp>
      <p:sp>
        <p:nvSpPr>
          <p:cNvPr id="41" name="rect-39"/>
          <p:cNvSpPr/>
          <p:nvPr/>
        </p:nvSpPr>
        <p:spPr>
          <a:xfrm>
            <a:off x="6837594" y="2727221"/>
            <a:ext cx="80464" cy="2530579"/>
          </a:xfrm>
          <a:prstGeom prst="rect">
            <a:avLst/>
          </a:prstGeom>
          <a:solidFill>
            <a:srgbClr val="0F4C4D"/>
          </a:solidFill>
          <a:ln/>
        </p:spPr>
      </p:sp>
      <p:sp>
        <p:nvSpPr>
          <p:cNvPr id="42" name="rect-40"/>
          <p:cNvSpPr/>
          <p:nvPr/>
        </p:nvSpPr>
        <p:spPr>
          <a:xfrm>
            <a:off x="6949349" y="2681478"/>
            <a:ext cx="80464" cy="2576322"/>
          </a:xfrm>
          <a:prstGeom prst="rect">
            <a:avLst/>
          </a:prstGeom>
          <a:solidFill>
            <a:srgbClr val="0F4C4D"/>
          </a:solidFill>
          <a:ln/>
        </p:spPr>
      </p:sp>
      <p:sp>
        <p:nvSpPr>
          <p:cNvPr id="43" name="rect-41"/>
          <p:cNvSpPr/>
          <p:nvPr/>
        </p:nvSpPr>
        <p:spPr>
          <a:xfrm>
            <a:off x="7061103" y="2767180"/>
            <a:ext cx="80464" cy="2490620"/>
          </a:xfrm>
          <a:prstGeom prst="rect">
            <a:avLst/>
          </a:prstGeom>
          <a:solidFill>
            <a:srgbClr val="0F4C4D"/>
          </a:solidFill>
          <a:ln/>
        </p:spPr>
      </p:sp>
      <p:sp>
        <p:nvSpPr>
          <p:cNvPr id="44" name="rect-42"/>
          <p:cNvSpPr/>
          <p:nvPr/>
        </p:nvSpPr>
        <p:spPr>
          <a:xfrm>
            <a:off x="7172858" y="2589466"/>
            <a:ext cx="80464" cy="2668334"/>
          </a:xfrm>
          <a:prstGeom prst="rect">
            <a:avLst/>
          </a:prstGeom>
          <a:solidFill>
            <a:srgbClr val="0F4C4D"/>
          </a:solidFill>
          <a:ln/>
        </p:spPr>
      </p:sp>
      <p:sp>
        <p:nvSpPr>
          <p:cNvPr id="45" name="rect-43"/>
          <p:cNvSpPr/>
          <p:nvPr/>
        </p:nvSpPr>
        <p:spPr>
          <a:xfrm>
            <a:off x="7284613" y="2633632"/>
            <a:ext cx="80464" cy="2624168"/>
          </a:xfrm>
          <a:prstGeom prst="rect">
            <a:avLst/>
          </a:prstGeom>
          <a:solidFill>
            <a:srgbClr val="0F4C4D"/>
          </a:solidFill>
          <a:ln/>
        </p:spPr>
      </p:sp>
      <p:sp>
        <p:nvSpPr>
          <p:cNvPr id="46" name="rect-44"/>
          <p:cNvSpPr/>
          <p:nvPr/>
        </p:nvSpPr>
        <p:spPr>
          <a:xfrm>
            <a:off x="7396368" y="2640467"/>
            <a:ext cx="80464" cy="2617333"/>
          </a:xfrm>
          <a:prstGeom prst="rect">
            <a:avLst/>
          </a:prstGeom>
          <a:solidFill>
            <a:srgbClr val="0F4C4D"/>
          </a:solidFill>
          <a:ln/>
        </p:spPr>
      </p:sp>
      <p:sp>
        <p:nvSpPr>
          <p:cNvPr id="47" name="rect-45"/>
          <p:cNvSpPr/>
          <p:nvPr/>
        </p:nvSpPr>
        <p:spPr>
          <a:xfrm>
            <a:off x="7508123" y="2756665"/>
            <a:ext cx="80464" cy="2501135"/>
          </a:xfrm>
          <a:prstGeom prst="rect">
            <a:avLst/>
          </a:prstGeom>
          <a:solidFill>
            <a:srgbClr val="0F4C4D"/>
          </a:solidFill>
          <a:ln/>
        </p:spPr>
      </p:sp>
      <p:sp>
        <p:nvSpPr>
          <p:cNvPr id="48" name="rect-46"/>
          <p:cNvSpPr/>
          <p:nvPr/>
        </p:nvSpPr>
        <p:spPr>
          <a:xfrm>
            <a:off x="7619878" y="2674643"/>
            <a:ext cx="80464" cy="2583157"/>
          </a:xfrm>
          <a:prstGeom prst="rect">
            <a:avLst/>
          </a:prstGeom>
          <a:solidFill>
            <a:srgbClr val="0F4C4D"/>
          </a:solidFill>
          <a:ln/>
        </p:spPr>
      </p:sp>
      <p:sp>
        <p:nvSpPr>
          <p:cNvPr id="49" name="rect-47"/>
          <p:cNvSpPr/>
          <p:nvPr/>
        </p:nvSpPr>
        <p:spPr>
          <a:xfrm>
            <a:off x="7731633" y="2791366"/>
            <a:ext cx="80464" cy="2466434"/>
          </a:xfrm>
          <a:prstGeom prst="rect">
            <a:avLst/>
          </a:prstGeom>
          <a:solidFill>
            <a:srgbClr val="0F4C4D"/>
          </a:solidFill>
          <a:ln/>
        </p:spPr>
      </p:sp>
      <p:sp>
        <p:nvSpPr>
          <p:cNvPr id="50" name="rect-48"/>
          <p:cNvSpPr/>
          <p:nvPr/>
        </p:nvSpPr>
        <p:spPr>
          <a:xfrm>
            <a:off x="7843388" y="2880223"/>
            <a:ext cx="80464" cy="2377577"/>
          </a:xfrm>
          <a:prstGeom prst="rect">
            <a:avLst/>
          </a:prstGeom>
          <a:solidFill>
            <a:srgbClr val="0F4C4D"/>
          </a:solidFill>
          <a:ln/>
        </p:spPr>
      </p:sp>
      <p:sp>
        <p:nvSpPr>
          <p:cNvPr id="51" name="rect-49"/>
          <p:cNvSpPr/>
          <p:nvPr/>
        </p:nvSpPr>
        <p:spPr>
          <a:xfrm>
            <a:off x="7955143" y="2581580"/>
            <a:ext cx="80464" cy="2676220"/>
          </a:xfrm>
          <a:prstGeom prst="rect">
            <a:avLst/>
          </a:prstGeom>
          <a:solidFill>
            <a:srgbClr val="0F4C4D"/>
          </a:solidFill>
          <a:ln/>
        </p:spPr>
      </p:sp>
      <p:sp>
        <p:nvSpPr>
          <p:cNvPr id="52" name="rect-50"/>
          <p:cNvSpPr/>
          <p:nvPr/>
        </p:nvSpPr>
        <p:spPr>
          <a:xfrm>
            <a:off x="8066898" y="2775593"/>
            <a:ext cx="80464" cy="2482207"/>
          </a:xfrm>
          <a:prstGeom prst="rect">
            <a:avLst/>
          </a:prstGeom>
          <a:solidFill>
            <a:srgbClr val="0F4C4D"/>
          </a:solidFill>
          <a:ln/>
        </p:spPr>
      </p:sp>
      <p:sp>
        <p:nvSpPr>
          <p:cNvPr id="53" name="rect-51"/>
          <p:cNvSpPr/>
          <p:nvPr/>
        </p:nvSpPr>
        <p:spPr>
          <a:xfrm>
            <a:off x="8178653" y="2638890"/>
            <a:ext cx="80464" cy="2618910"/>
          </a:xfrm>
          <a:prstGeom prst="rect">
            <a:avLst/>
          </a:prstGeom>
          <a:solidFill>
            <a:srgbClr val="0F4C4D"/>
          </a:solidFill>
          <a:ln/>
        </p:spPr>
      </p:sp>
      <p:sp>
        <p:nvSpPr>
          <p:cNvPr id="54" name="rect-52"/>
          <p:cNvSpPr/>
          <p:nvPr/>
        </p:nvSpPr>
        <p:spPr>
          <a:xfrm>
            <a:off x="8290408" y="4310870"/>
            <a:ext cx="80464" cy="946930"/>
          </a:xfrm>
          <a:prstGeom prst="rect">
            <a:avLst/>
          </a:prstGeom>
          <a:solidFill>
            <a:srgbClr val="B93A2C"/>
          </a:solidFill>
          <a:ln/>
        </p:spPr>
      </p:sp>
      <p:sp>
        <p:nvSpPr>
          <p:cNvPr id="55" name="rect-53"/>
          <p:cNvSpPr/>
          <p:nvPr/>
        </p:nvSpPr>
        <p:spPr>
          <a:xfrm>
            <a:off x="8402163" y="2628374"/>
            <a:ext cx="80464" cy="2629426"/>
          </a:xfrm>
          <a:prstGeom prst="rect">
            <a:avLst/>
          </a:prstGeom>
          <a:solidFill>
            <a:srgbClr val="0F4C4D"/>
          </a:solidFill>
          <a:ln/>
        </p:spPr>
      </p:sp>
      <p:sp>
        <p:nvSpPr>
          <p:cNvPr id="56" name="rect-54"/>
          <p:cNvSpPr/>
          <p:nvPr/>
        </p:nvSpPr>
        <p:spPr>
          <a:xfrm>
            <a:off x="8513917" y="2642570"/>
            <a:ext cx="80464" cy="2615230"/>
          </a:xfrm>
          <a:prstGeom prst="rect">
            <a:avLst/>
          </a:prstGeom>
          <a:solidFill>
            <a:srgbClr val="0F4C4D"/>
          </a:solidFill>
          <a:ln/>
        </p:spPr>
      </p:sp>
      <p:sp>
        <p:nvSpPr>
          <p:cNvPr id="57" name="rect-55"/>
          <p:cNvSpPr/>
          <p:nvPr/>
        </p:nvSpPr>
        <p:spPr>
          <a:xfrm>
            <a:off x="8625672" y="2788211"/>
            <a:ext cx="80464" cy="2469589"/>
          </a:xfrm>
          <a:prstGeom prst="rect">
            <a:avLst/>
          </a:prstGeom>
          <a:solidFill>
            <a:srgbClr val="0F4C4D"/>
          </a:solidFill>
          <a:ln/>
        </p:spPr>
      </p:sp>
      <p:sp>
        <p:nvSpPr>
          <p:cNvPr id="58" name="rect-56"/>
          <p:cNvSpPr/>
          <p:nvPr/>
        </p:nvSpPr>
        <p:spPr>
          <a:xfrm>
            <a:off x="8737427" y="2725644"/>
            <a:ext cx="80464" cy="2532156"/>
          </a:xfrm>
          <a:prstGeom prst="rect">
            <a:avLst/>
          </a:prstGeom>
          <a:solidFill>
            <a:srgbClr val="0F4C4D"/>
          </a:solidFill>
          <a:ln/>
        </p:spPr>
      </p:sp>
      <p:sp>
        <p:nvSpPr>
          <p:cNvPr id="59" name="rect-57"/>
          <p:cNvSpPr/>
          <p:nvPr/>
        </p:nvSpPr>
        <p:spPr>
          <a:xfrm>
            <a:off x="8849182" y="2838160"/>
            <a:ext cx="80464" cy="2419640"/>
          </a:xfrm>
          <a:prstGeom prst="rect">
            <a:avLst/>
          </a:prstGeom>
          <a:solidFill>
            <a:srgbClr val="0F4C4D"/>
          </a:solidFill>
          <a:ln/>
        </p:spPr>
      </p:sp>
      <p:sp>
        <p:nvSpPr>
          <p:cNvPr id="60" name="rect-58"/>
          <p:cNvSpPr/>
          <p:nvPr/>
        </p:nvSpPr>
        <p:spPr>
          <a:xfrm>
            <a:off x="8960937" y="2704612"/>
            <a:ext cx="80464" cy="2553188"/>
          </a:xfrm>
          <a:prstGeom prst="rect">
            <a:avLst/>
          </a:prstGeom>
          <a:solidFill>
            <a:srgbClr val="0F4C4D"/>
          </a:solidFill>
          <a:ln/>
        </p:spPr>
      </p:sp>
      <p:sp>
        <p:nvSpPr>
          <p:cNvPr id="61" name="rect-59"/>
          <p:cNvSpPr/>
          <p:nvPr/>
        </p:nvSpPr>
        <p:spPr>
          <a:xfrm>
            <a:off x="9072692" y="2668334"/>
            <a:ext cx="80464" cy="2589467"/>
          </a:xfrm>
          <a:prstGeom prst="rect">
            <a:avLst/>
          </a:prstGeom>
          <a:solidFill>
            <a:srgbClr val="0F4C4D"/>
          </a:solidFill>
          <a:ln/>
        </p:spPr>
      </p:sp>
      <p:sp>
        <p:nvSpPr>
          <p:cNvPr id="62" name="rect-60"/>
          <p:cNvSpPr/>
          <p:nvPr/>
        </p:nvSpPr>
        <p:spPr>
          <a:xfrm>
            <a:off x="9184447" y="3670996"/>
            <a:ext cx="80464" cy="1586804"/>
          </a:xfrm>
          <a:prstGeom prst="rect">
            <a:avLst/>
          </a:prstGeom>
          <a:solidFill>
            <a:srgbClr val="B93A2C"/>
          </a:solidFill>
          <a:ln/>
        </p:spPr>
      </p:sp>
      <p:sp>
        <p:nvSpPr>
          <p:cNvPr id="63" name="rect-61"/>
          <p:cNvSpPr/>
          <p:nvPr/>
        </p:nvSpPr>
        <p:spPr>
          <a:xfrm>
            <a:off x="9296202" y="4601101"/>
            <a:ext cx="80464" cy="656699"/>
          </a:xfrm>
          <a:prstGeom prst="rect">
            <a:avLst/>
          </a:prstGeom>
          <a:solidFill>
            <a:srgbClr val="B93A2C"/>
          </a:solidFill>
          <a:ln/>
        </p:spPr>
      </p:sp>
      <p:sp>
        <p:nvSpPr>
          <p:cNvPr id="64" name="rect-62"/>
          <p:cNvSpPr/>
          <p:nvPr/>
        </p:nvSpPr>
        <p:spPr>
          <a:xfrm>
            <a:off x="9407957" y="2893367"/>
            <a:ext cx="80464" cy="2364433"/>
          </a:xfrm>
          <a:prstGeom prst="rect">
            <a:avLst/>
          </a:prstGeom>
          <a:solidFill>
            <a:srgbClr val="0F4C4D"/>
          </a:solidFill>
          <a:ln/>
        </p:spPr>
      </p:sp>
      <p:sp>
        <p:nvSpPr>
          <p:cNvPr id="65" name="rect-63"/>
          <p:cNvSpPr/>
          <p:nvPr/>
        </p:nvSpPr>
        <p:spPr>
          <a:xfrm>
            <a:off x="9519712" y="2707767"/>
            <a:ext cx="80464" cy="2550033"/>
          </a:xfrm>
          <a:prstGeom prst="rect">
            <a:avLst/>
          </a:prstGeom>
          <a:solidFill>
            <a:srgbClr val="0F4C4D"/>
          </a:solidFill>
          <a:ln/>
        </p:spPr>
      </p:sp>
      <p:sp>
        <p:nvSpPr>
          <p:cNvPr id="66" name="rect-64"/>
          <p:cNvSpPr/>
          <p:nvPr/>
        </p:nvSpPr>
        <p:spPr>
          <a:xfrm>
            <a:off x="9631467" y="2706715"/>
            <a:ext cx="80464" cy="2551085"/>
          </a:xfrm>
          <a:prstGeom prst="rect">
            <a:avLst/>
          </a:prstGeom>
          <a:solidFill>
            <a:srgbClr val="0F4C4D"/>
          </a:solidFill>
          <a:ln/>
        </p:spPr>
      </p:sp>
      <p:sp>
        <p:nvSpPr>
          <p:cNvPr id="67" name="rect-65"/>
          <p:cNvSpPr/>
          <p:nvPr/>
        </p:nvSpPr>
        <p:spPr>
          <a:xfrm>
            <a:off x="9743222" y="3066875"/>
            <a:ext cx="80464" cy="2190925"/>
          </a:xfrm>
          <a:prstGeom prst="rect">
            <a:avLst/>
          </a:prstGeom>
          <a:solidFill>
            <a:srgbClr val="B93A2C"/>
          </a:solidFill>
          <a:ln/>
        </p:spPr>
      </p:sp>
      <p:sp>
        <p:nvSpPr>
          <p:cNvPr id="68" name="rect-66"/>
          <p:cNvSpPr/>
          <p:nvPr/>
        </p:nvSpPr>
        <p:spPr>
          <a:xfrm>
            <a:off x="9854976" y="2797150"/>
            <a:ext cx="80464" cy="2460650"/>
          </a:xfrm>
          <a:prstGeom prst="rect">
            <a:avLst/>
          </a:prstGeom>
          <a:solidFill>
            <a:srgbClr val="0F4C4D"/>
          </a:solidFill>
          <a:ln/>
        </p:spPr>
      </p:sp>
      <p:sp>
        <p:nvSpPr>
          <p:cNvPr id="69" name="rect-67"/>
          <p:cNvSpPr/>
          <p:nvPr/>
        </p:nvSpPr>
        <p:spPr>
          <a:xfrm>
            <a:off x="9966731" y="2673591"/>
            <a:ext cx="80464" cy="2584209"/>
          </a:xfrm>
          <a:prstGeom prst="rect">
            <a:avLst/>
          </a:prstGeom>
          <a:solidFill>
            <a:srgbClr val="0F4C4D"/>
          </a:solidFill>
          <a:ln/>
        </p:spPr>
      </p:sp>
      <p:sp>
        <p:nvSpPr>
          <p:cNvPr id="70" name="rect-68"/>
          <p:cNvSpPr/>
          <p:nvPr/>
        </p:nvSpPr>
        <p:spPr>
          <a:xfrm>
            <a:off x="10078486" y="2667282"/>
            <a:ext cx="80464" cy="2590518"/>
          </a:xfrm>
          <a:prstGeom prst="rect">
            <a:avLst/>
          </a:prstGeom>
          <a:solidFill>
            <a:srgbClr val="0F4C4D"/>
          </a:solidFill>
          <a:ln/>
        </p:spPr>
      </p:sp>
      <p:sp>
        <p:nvSpPr>
          <p:cNvPr id="71" name="rect-69"/>
          <p:cNvSpPr/>
          <p:nvPr/>
        </p:nvSpPr>
        <p:spPr>
          <a:xfrm>
            <a:off x="10190241" y="2645725"/>
            <a:ext cx="80464" cy="2612075"/>
          </a:xfrm>
          <a:prstGeom prst="rect">
            <a:avLst/>
          </a:prstGeom>
          <a:solidFill>
            <a:srgbClr val="0F4C4D"/>
          </a:solidFill>
          <a:ln/>
        </p:spPr>
      </p:sp>
      <p:sp>
        <p:nvSpPr>
          <p:cNvPr id="72" name="rect-70"/>
          <p:cNvSpPr/>
          <p:nvPr/>
        </p:nvSpPr>
        <p:spPr>
          <a:xfrm>
            <a:off x="10301996" y="2711973"/>
            <a:ext cx="80464" cy="2545827"/>
          </a:xfrm>
          <a:prstGeom prst="rect">
            <a:avLst/>
          </a:prstGeom>
          <a:solidFill>
            <a:srgbClr val="0F4C4D"/>
          </a:solidFill>
          <a:ln/>
        </p:spPr>
      </p:sp>
      <p:sp>
        <p:nvSpPr>
          <p:cNvPr id="73" name="rect-71"/>
          <p:cNvSpPr/>
          <p:nvPr/>
        </p:nvSpPr>
        <p:spPr>
          <a:xfrm>
            <a:off x="10413751" y="2880749"/>
            <a:ext cx="80464" cy="2377051"/>
          </a:xfrm>
          <a:prstGeom prst="rect">
            <a:avLst/>
          </a:prstGeom>
          <a:solidFill>
            <a:srgbClr val="0F4C4D"/>
          </a:solidFill>
          <a:ln/>
        </p:spPr>
      </p:sp>
      <p:sp>
        <p:nvSpPr>
          <p:cNvPr id="74" name="rect-72"/>
          <p:cNvSpPr/>
          <p:nvPr/>
        </p:nvSpPr>
        <p:spPr>
          <a:xfrm>
            <a:off x="10525506" y="3067926"/>
            <a:ext cx="80464" cy="2189874"/>
          </a:xfrm>
          <a:prstGeom prst="rect">
            <a:avLst/>
          </a:prstGeom>
          <a:solidFill>
            <a:srgbClr val="0F4C4D"/>
          </a:solidFill>
          <a:ln/>
        </p:spPr>
      </p:sp>
      <p:sp>
        <p:nvSpPr>
          <p:cNvPr id="75" name="rect-73"/>
          <p:cNvSpPr/>
          <p:nvPr/>
        </p:nvSpPr>
        <p:spPr>
          <a:xfrm>
            <a:off x="10637261" y="2942791"/>
            <a:ext cx="80464" cy="2315009"/>
          </a:xfrm>
          <a:prstGeom prst="rect">
            <a:avLst/>
          </a:prstGeom>
          <a:solidFill>
            <a:srgbClr val="B93A2C"/>
          </a:solidFill>
          <a:ln/>
        </p:spPr>
      </p:sp>
      <p:sp>
        <p:nvSpPr>
          <p:cNvPr id="76" name="rect-74"/>
          <p:cNvSpPr/>
          <p:nvPr/>
        </p:nvSpPr>
        <p:spPr>
          <a:xfrm>
            <a:off x="10749016" y="2845521"/>
            <a:ext cx="80464" cy="2412279"/>
          </a:xfrm>
          <a:prstGeom prst="rect">
            <a:avLst/>
          </a:prstGeom>
          <a:solidFill>
            <a:srgbClr val="B93A2C"/>
          </a:solidFill>
          <a:ln/>
        </p:spPr>
      </p:sp>
      <p:sp>
        <p:nvSpPr>
          <p:cNvPr id="77" name="rect-75"/>
          <p:cNvSpPr/>
          <p:nvPr/>
        </p:nvSpPr>
        <p:spPr>
          <a:xfrm>
            <a:off x="10860771" y="2789789"/>
            <a:ext cx="80464" cy="2468011"/>
          </a:xfrm>
          <a:prstGeom prst="rect">
            <a:avLst/>
          </a:prstGeom>
          <a:solidFill>
            <a:srgbClr val="B93A2C"/>
          </a:solidFill>
          <a:ln/>
        </p:spPr>
      </p:sp>
      <p:sp>
        <p:nvSpPr>
          <p:cNvPr id="78" name="rect-76"/>
          <p:cNvSpPr/>
          <p:nvPr/>
        </p:nvSpPr>
        <p:spPr>
          <a:xfrm>
            <a:off x="10972526" y="2919656"/>
            <a:ext cx="80464" cy="2338144"/>
          </a:xfrm>
          <a:prstGeom prst="rect">
            <a:avLst/>
          </a:prstGeom>
          <a:solidFill>
            <a:srgbClr val="B93A2C"/>
          </a:solidFill>
          <a:ln/>
        </p:spPr>
      </p:sp>
      <p:sp>
        <p:nvSpPr>
          <p:cNvPr id="79" name="rect-77"/>
          <p:cNvSpPr/>
          <p:nvPr/>
        </p:nvSpPr>
        <p:spPr>
          <a:xfrm>
            <a:off x="11084281" y="2842367"/>
            <a:ext cx="80464" cy="2415433"/>
          </a:xfrm>
          <a:prstGeom prst="rect">
            <a:avLst/>
          </a:prstGeom>
          <a:solidFill>
            <a:srgbClr val="B93A2C"/>
          </a:solidFill>
          <a:ln/>
        </p:spPr>
      </p:sp>
      <p:sp>
        <p:nvSpPr>
          <p:cNvPr id="80" name="rect-78"/>
          <p:cNvSpPr/>
          <p:nvPr/>
        </p:nvSpPr>
        <p:spPr>
          <a:xfrm>
            <a:off x="11196036" y="2938584"/>
            <a:ext cx="80464" cy="2319216"/>
          </a:xfrm>
          <a:prstGeom prst="rect">
            <a:avLst/>
          </a:prstGeom>
          <a:solidFill>
            <a:srgbClr val="B93A2C"/>
          </a:solidFill>
          <a:ln/>
        </p:spPr>
      </p:sp>
      <p:sp>
        <p:nvSpPr>
          <p:cNvPr id="81" name="rect-79"/>
          <p:cNvSpPr/>
          <p:nvPr/>
        </p:nvSpPr>
        <p:spPr>
          <a:xfrm>
            <a:off x="11307790" y="2779799"/>
            <a:ext cx="80464" cy="2478001"/>
          </a:xfrm>
          <a:prstGeom prst="rect">
            <a:avLst/>
          </a:prstGeom>
          <a:solidFill>
            <a:srgbClr val="0F4C4D"/>
          </a:solidFill>
          <a:ln/>
        </p:spPr>
      </p:sp>
      <p:sp>
        <p:nvSpPr>
          <p:cNvPr id="82" name="rect-80"/>
          <p:cNvSpPr/>
          <p:nvPr/>
        </p:nvSpPr>
        <p:spPr>
          <a:xfrm>
            <a:off x="11419545" y="3109463"/>
            <a:ext cx="80464" cy="2148337"/>
          </a:xfrm>
          <a:prstGeom prst="rect">
            <a:avLst/>
          </a:prstGeom>
          <a:solidFill>
            <a:srgbClr val="0F4C4D"/>
          </a:solidFill>
          <a:ln/>
        </p:spPr>
      </p:sp>
      <p:sp>
        <p:nvSpPr>
          <p:cNvPr id="83" name="rect-81"/>
          <p:cNvSpPr/>
          <p:nvPr/>
        </p:nvSpPr>
        <p:spPr>
          <a:xfrm>
            <a:off x="11531300" y="2797150"/>
            <a:ext cx="80464" cy="2460650"/>
          </a:xfrm>
          <a:prstGeom prst="rect">
            <a:avLst/>
          </a:prstGeom>
          <a:solidFill>
            <a:srgbClr val="0F4C4D"/>
          </a:solidFill>
          <a:ln/>
        </p:spPr>
      </p:sp>
      <p:sp>
        <p:nvSpPr>
          <p:cNvPr id="84" name="line-82"/>
          <p:cNvSpPr/>
          <p:nvPr/>
        </p:nvSpPr>
        <p:spPr>
          <a:xfrm>
            <a:off x="8274762" y="2057400"/>
            <a:ext cx="0" cy="3200400"/>
          </a:xfrm>
          <a:prstGeom prst="line">
            <a:avLst/>
          </a:prstGeom>
          <a:noFill/>
          <a:ln w="12700">
            <a:solidFill>
              <a:srgbClr val="1F2A2E"/>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F2A2E"/>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A9497"/>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Country is the document issuing country. Mix barely moved: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93A2C"/>
          </a:solidFill>
          <a:ln/>
        </p:spPr>
      </p:sp>
      <p:sp>
        <p:nvSpPr>
          <p:cNvPr id="5" name="rect-3"/>
          <p:cNvSpPr/>
          <p:nvPr/>
        </p:nvSpPr>
        <p:spPr>
          <a:xfrm>
            <a:off x="4406862" y="1508760"/>
            <a:ext cx="180150" cy="292608"/>
          </a:xfrm>
          <a:prstGeom prst="rect">
            <a:avLst/>
          </a:prstGeom>
          <a:solidFill>
            <a:srgbClr val="0F4C4D"/>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93A2C"/>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93A2C"/>
          </a:solidFill>
          <a:ln/>
        </p:spPr>
      </p:sp>
      <p:sp>
        <p:nvSpPr>
          <p:cNvPr id="12" name="rect-10"/>
          <p:cNvSpPr/>
          <p:nvPr/>
        </p:nvSpPr>
        <p:spPr>
          <a:xfrm>
            <a:off x="5727965" y="2423160"/>
            <a:ext cx="312261" cy="292608"/>
          </a:xfrm>
          <a:prstGeom prst="rect">
            <a:avLst/>
          </a:prstGeom>
          <a:solidFill>
            <a:srgbClr val="0F4C4D"/>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0F4C4D"/>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0F4C4D"/>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0F4C4D"/>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0F4C4D"/>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0F4C4D"/>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0F4C4D"/>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F2A2E"/>
            </a:solidFill>
            <a:prstDash val="solid"/>
          </a:ln>
        </p:spPr>
      </p:sp>
      <p:sp>
        <p:nvSpPr>
          <p:cNvPr id="33" name="rect-31"/>
          <p:cNvSpPr/>
          <p:nvPr/>
        </p:nvSpPr>
        <p:spPr>
          <a:xfrm>
            <a:off x="3566160" y="5715000"/>
            <a:ext cx="201168" cy="164592"/>
          </a:xfrm>
          <a:prstGeom prst="rect">
            <a:avLst/>
          </a:prstGeom>
          <a:solidFill>
            <a:srgbClr val="B93A2C"/>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0F4C4D"/>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3F6F6"/>
          </a:solidFill>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0F4C4D"/>
                </a:solidFill>
                <a:latin typeface="Arial" pitchFamily="34" charset="0"/>
                <a:ea typeface="Arial" pitchFamily="34" charset="-122"/>
                <a:cs typeface="Arial" pitchFamily="34" charset="-120"/>
              </a:rPr>
              <a:t>Reading the bars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No document type, no reason code: −0.60 pp, all outside the windows, so it is a slower, ongoing shift (mostly Mexican documents).</a:t>
            </a:r>
            <a:endParaRPr lang="en-US" sz="1250" dirty="0"/>
          </a:p>
          <a:p>
            <a:pPr algn="l" marL="152400" indent="-152400">
              <a:buSzPct val="100000"/>
              <a:buChar char="•"/>
            </a:pPr>
            <a:r>
              <a:rPr lang="en-US" sz="1250" dirty="0">
                <a:solidFill>
                  <a:srgbClr val="1F2A2E"/>
                </a:solidFill>
                <a:latin typeface="Arial" pitchFamily="34" charset="0"/>
                <a:ea typeface="Arial" pitchFamily="34" charset="-122"/>
                <a:cs typeface="Arial" pitchFamily="34" charset="-120"/>
              </a:rPr>
              <a:t>Face match: 2.77% → 2.41% of decisions. Not a cause of the drop, but a large existing loss.</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298 recent unsuccessful decisions had two or more failing checks. A primary reason avoids double counting; it does not mean fixing that reason gets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b="1" dirty="0">
                          <a:solidFill>
                            <a:srgbClr val="1F2A2E"/>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What is and isn’t known</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F2A2E"/>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6E7D6"/>
          </a:solidFill>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B8691F"/>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F2A2E"/>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C686C"/>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Sensitivity range 1,055–1,130 across window, signature and baseline variants. Removing the 1,068 matching failures gives 86.99%: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Impostors; selfie lighting</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Evidence for each (from the data):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Phase 0, weeks 0–2: measure and stabilise before optimising</a:t>
            </a:r>
            <a:endParaRPr lang="en-US" sz="2600" dirty="0"/>
          </a:p>
        </p:txBody>
      </p:sp>
      <p:sp>
        <p:nvSpPr>
          <p:cNvPr id="3" name="rect-1"/>
          <p:cNvSpPr/>
          <p:nvPr/>
        </p:nvSpPr>
        <p:spPr>
          <a:xfrm>
            <a:off x="548640" y="1371600"/>
            <a:ext cx="2670048" cy="2103120"/>
          </a:xfrm>
          <a:prstGeom prst="roundRect">
            <a:avLst>
              <a:gd name="adj" fmla="val 3478"/>
            </a:avLst>
          </a:prstGeom>
          <a:solidFill>
            <a:srgbClr val="F3F6F6"/>
          </a:solidFill>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DCEAE9"/>
          </a:solidFill>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3F6F6"/>
          </a:solidFill>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On replay, alerts fire on the first day of every incident window, with thresholds tuned so prior-period false alerts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3F6F6"/>
          </a:solidFill>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3F6F6"/>
          </a:solidFill>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3F6F6"/>
          </a:solidFill>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3F6F6"/>
          </a:solidFill>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3F6F6"/>
          </a:solidFill>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Effort sizes are assumptions (S ≤ 2 engineer-weeks, M = 2–6). Owners are role-based examples, not named people.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Later phases depend on what Phase 0 finds; platform work is multi-quarter</a:t>
            </a:r>
            <a:endParaRPr lang="en-US" sz="2600" dirty="0"/>
          </a:p>
        </p:txBody>
      </p:sp>
      <p:sp>
        <p:nvSpPr>
          <p:cNvPr id="3" name="rect-1"/>
          <p:cNvSpPr/>
          <p:nvPr/>
        </p:nvSpPr>
        <p:spPr>
          <a:xfrm>
            <a:off x="548640" y="1371600"/>
            <a:ext cx="3566160" cy="457200"/>
          </a:xfrm>
          <a:prstGeom prst="roundRect">
            <a:avLst>
              <a:gd name="adj" fmla="val 12000"/>
            </a:avLst>
          </a:prstGeom>
          <a:solidFill>
            <a:srgbClr val="DCEAE9"/>
          </a:solidFill>
          <a:ln/>
        </p:spPr>
      </p:sp>
      <p:sp>
        <p:nvSpPr>
          <p:cNvPr id="4" name="text-2"/>
          <p:cNvSpPr txBox="1"/>
          <p:nvPr/>
        </p:nvSpPr>
        <p:spPr>
          <a:xfrm>
            <a:off x="68580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P1 · Weeks 2–6 · Test the leading fixes</a:t>
            </a:r>
            <a:endParaRPr lang="en-US" sz="1200" dirty="0"/>
          </a:p>
        </p:txBody>
      </p:sp>
      <p:sp>
        <p:nvSpPr>
          <p:cNvPr id="5" name="rect-3"/>
          <p:cNvSpPr/>
          <p:nvPr/>
        </p:nvSpPr>
        <p:spPr>
          <a:xfrm>
            <a:off x="548640" y="1965960"/>
            <a:ext cx="3566160" cy="1234440"/>
          </a:xfrm>
          <a:prstGeom prst="roundRect">
            <a:avLst>
              <a:gd name="adj" fmla="val 4444"/>
            </a:avLst>
          </a:prstGeom>
          <a:solidFill>
            <a:srgbClr val="F3F6F6"/>
          </a:solidFill>
          <a:ln/>
        </p:spPr>
      </p:sp>
      <p:sp>
        <p:nvSpPr>
          <p:cNvPr id="6" name="text-4"/>
          <p:cNvSpPr txBox="1"/>
          <p:nvPr/>
        </p:nvSpPr>
        <p:spPr>
          <a:xfrm>
            <a:off x="68580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one guided retake on unclear selfies</a:t>
            </a:r>
            <a:endParaRPr lang="en-US" sz="1150" dirty="0"/>
          </a:p>
        </p:txBody>
      </p:sp>
      <p:sp>
        <p:nvSpPr>
          <p:cNvPr id="7" name="text-5"/>
          <p:cNvSpPr txBox="1"/>
          <p:nvPr/>
        </p:nvSpPr>
        <p:spPr>
          <a:xfrm>
            <a:off x="68580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8" name="text-6"/>
          <p:cNvSpPr txBox="1"/>
          <p:nvPr/>
        </p:nvSpPr>
        <p:spPr>
          <a:xfrm>
            <a:off x="68580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9" name="text-7"/>
          <p:cNvSpPr txBox="1"/>
          <p:nvPr/>
        </p:nvSpPr>
        <p:spPr>
          <a:xfrm>
            <a:off x="68580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vendor rules permit retakes for these labels.</a:t>
            </a:r>
            <a:endParaRPr lang="en-US" sz="1000" dirty="0"/>
          </a:p>
        </p:txBody>
      </p:sp>
      <p:sp>
        <p:nvSpPr>
          <p:cNvPr id="10" name="rect-8"/>
          <p:cNvSpPr/>
          <p:nvPr/>
        </p:nvSpPr>
        <p:spPr>
          <a:xfrm>
            <a:off x="548640" y="3291840"/>
            <a:ext cx="3566160" cy="1234440"/>
          </a:xfrm>
          <a:prstGeom prst="roundRect">
            <a:avLst>
              <a:gd name="adj" fmla="val 4444"/>
            </a:avLst>
          </a:prstGeom>
          <a:solidFill>
            <a:srgbClr val="F3F6F6"/>
          </a:solidFill>
          <a:ln/>
        </p:spPr>
      </p:sp>
      <p:sp>
        <p:nvSpPr>
          <p:cNvPr id="11" name="text-9"/>
          <p:cNvSpPr txBox="1"/>
          <p:nvPr/>
        </p:nvSpPr>
        <p:spPr>
          <a:xfrm>
            <a:off x="68580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accepted-document guidance in Mexico</a:t>
            </a:r>
            <a:endParaRPr lang="en-US" sz="1150" dirty="0"/>
          </a:p>
        </p:txBody>
      </p:sp>
      <p:sp>
        <p:nvSpPr>
          <p:cNvPr id="12" name="text-10"/>
          <p:cNvSpPr txBox="1"/>
          <p:nvPr/>
        </p:nvSpPr>
        <p:spPr>
          <a:xfrm>
            <a:off x="68580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13" name="text-11"/>
          <p:cNvSpPr txBox="1"/>
          <p:nvPr/>
        </p:nvSpPr>
        <p:spPr>
          <a:xfrm>
            <a:off x="68580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14" name="text-12"/>
          <p:cNvSpPr txBox="1"/>
          <p:nvPr/>
        </p:nvSpPr>
        <p:spPr>
          <a:xfrm>
            <a:off x="68580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the diagnosis points to document choice rather than configuration or vendor coverage.</a:t>
            </a:r>
            <a:endParaRPr lang="en-US" sz="1000" dirty="0"/>
          </a:p>
        </p:txBody>
      </p:sp>
      <p:sp>
        <p:nvSpPr>
          <p:cNvPr id="15" name="rect-13"/>
          <p:cNvSpPr/>
          <p:nvPr/>
        </p:nvSpPr>
        <p:spPr>
          <a:xfrm>
            <a:off x="548640" y="4617720"/>
            <a:ext cx="3566160" cy="1234440"/>
          </a:xfrm>
          <a:prstGeom prst="roundRect">
            <a:avLst>
              <a:gd name="adj" fmla="val 4444"/>
            </a:avLst>
          </a:prstGeom>
          <a:solidFill>
            <a:srgbClr val="F3F6F6"/>
          </a:solidFill>
          <a:ln/>
        </p:spPr>
      </p:sp>
      <p:sp>
        <p:nvSpPr>
          <p:cNvPr id="16" name="text-14"/>
          <p:cNvSpPr txBox="1"/>
          <p:nvPr/>
        </p:nvSpPr>
        <p:spPr>
          <a:xfrm>
            <a:off x="68580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Velocity and device checks before the vendor call</a:t>
            </a:r>
            <a:endParaRPr lang="en-US" sz="1150" dirty="0"/>
          </a:p>
        </p:txBody>
      </p:sp>
      <p:sp>
        <p:nvSpPr>
          <p:cNvPr id="17" name="text-15"/>
          <p:cNvSpPr txBox="1"/>
          <p:nvPr/>
        </p:nvSpPr>
        <p:spPr>
          <a:xfrm>
            <a:off x="68580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a:t>
            </a:r>
            <a:endParaRPr lang="en-US" sz="1000" dirty="0"/>
          </a:p>
        </p:txBody>
      </p:sp>
      <p:sp>
        <p:nvSpPr>
          <p:cNvPr id="18" name="text-16"/>
          <p:cNvSpPr txBox="1"/>
          <p:nvPr/>
        </p:nvSpPr>
        <p:spPr>
          <a:xfrm>
            <a:off x="68580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medium</a:t>
            </a:r>
            <a:endParaRPr lang="en-US" sz="1000" dirty="0"/>
          </a:p>
        </p:txBody>
      </p:sp>
      <p:sp>
        <p:nvSpPr>
          <p:cNvPr id="19" name="text-17"/>
          <p:cNvSpPr txBox="1"/>
          <p:nvPr/>
        </p:nvSpPr>
        <p:spPr>
          <a:xfrm>
            <a:off x="68580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adjudication confirming coordinated fraud.</a:t>
            </a:r>
            <a:endParaRPr lang="en-US" sz="1000" dirty="0"/>
          </a:p>
        </p:txBody>
      </p:sp>
      <p:sp>
        <p:nvSpPr>
          <p:cNvPr id="20" name="rect-18"/>
          <p:cNvSpPr/>
          <p:nvPr/>
        </p:nvSpPr>
        <p:spPr>
          <a:xfrm>
            <a:off x="4297680" y="1371600"/>
            <a:ext cx="3566160" cy="457200"/>
          </a:xfrm>
          <a:prstGeom prst="roundRect">
            <a:avLst>
              <a:gd name="adj" fmla="val 12000"/>
            </a:avLst>
          </a:prstGeom>
          <a:solidFill>
            <a:srgbClr val="DCEAE9"/>
          </a:solidFill>
          <a:ln/>
        </p:spPr>
      </p:sp>
      <p:sp>
        <p:nvSpPr>
          <p:cNvPr id="21" name="text-19"/>
          <p:cNvSpPr txBox="1"/>
          <p:nvPr/>
        </p:nvSpPr>
        <p:spPr>
          <a:xfrm>
            <a:off x="443484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P2 · Weeks 6–13 · Scale what works</a:t>
            </a:r>
            <a:endParaRPr lang="en-US" sz="1200" dirty="0"/>
          </a:p>
        </p:txBody>
      </p:sp>
      <p:sp>
        <p:nvSpPr>
          <p:cNvPr id="22" name="rect-20"/>
          <p:cNvSpPr/>
          <p:nvPr/>
        </p:nvSpPr>
        <p:spPr>
          <a:xfrm>
            <a:off x="4297680" y="1965960"/>
            <a:ext cx="3566160" cy="1234440"/>
          </a:xfrm>
          <a:prstGeom prst="roundRect">
            <a:avLst>
              <a:gd name="adj" fmla="val 4444"/>
            </a:avLst>
          </a:prstGeom>
          <a:solidFill>
            <a:srgbClr val="F3F6F6"/>
          </a:solidFill>
          <a:ln/>
        </p:spPr>
      </p:sp>
      <p:sp>
        <p:nvSpPr>
          <p:cNvPr id="23" name="text-21"/>
          <p:cNvSpPr txBox="1"/>
          <p:nvPr/>
        </p:nvSpPr>
        <p:spPr>
          <a:xfrm>
            <a:off x="443484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On-device capture quality checks</a:t>
            </a:r>
            <a:endParaRPr lang="en-US" sz="1150" dirty="0"/>
          </a:p>
        </p:txBody>
      </p:sp>
      <p:sp>
        <p:nvSpPr>
          <p:cNvPr id="24" name="text-22"/>
          <p:cNvSpPr txBox="1"/>
          <p:nvPr/>
        </p:nvSpPr>
        <p:spPr>
          <a:xfrm>
            <a:off x="443484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Mobile</a:t>
            </a:r>
            <a:endParaRPr lang="en-US" sz="1000" dirty="0"/>
          </a:p>
        </p:txBody>
      </p:sp>
      <p:sp>
        <p:nvSpPr>
          <p:cNvPr id="25" name="text-23"/>
          <p:cNvSpPr txBox="1"/>
          <p:nvPr/>
        </p:nvSpPr>
        <p:spPr>
          <a:xfrm>
            <a:off x="443484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26" name="text-24"/>
          <p:cNvSpPr txBox="1"/>
          <p:nvPr/>
        </p:nvSpPr>
        <p:spPr>
          <a:xfrm>
            <a:off x="443484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Camera-only capture depends on the existing flow and on the cause being uploads.</a:t>
            </a:r>
            <a:endParaRPr lang="en-US" sz="1000" dirty="0"/>
          </a:p>
        </p:txBody>
      </p:sp>
      <p:sp>
        <p:nvSpPr>
          <p:cNvPr id="27" name="rect-25"/>
          <p:cNvSpPr/>
          <p:nvPr/>
        </p:nvSpPr>
        <p:spPr>
          <a:xfrm>
            <a:off x="4297680" y="3291840"/>
            <a:ext cx="3566160" cy="1234440"/>
          </a:xfrm>
          <a:prstGeom prst="roundRect">
            <a:avLst>
              <a:gd name="adj" fmla="val 4444"/>
            </a:avLst>
          </a:prstGeom>
          <a:solidFill>
            <a:srgbClr val="F3F6F6"/>
          </a:solidFill>
          <a:ln/>
        </p:spPr>
      </p:sp>
      <p:sp>
        <p:nvSpPr>
          <p:cNvPr id="28" name="text-26"/>
          <p:cNvSpPr txBox="1"/>
          <p:nvPr/>
        </p:nvSpPr>
        <p:spPr>
          <a:xfrm>
            <a:off x="443484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Pilot manual review of face-match warnings</a:t>
            </a:r>
            <a:endParaRPr lang="en-US" sz="1150" dirty="0"/>
          </a:p>
        </p:txBody>
      </p:sp>
      <p:sp>
        <p:nvSpPr>
          <p:cNvPr id="29" name="text-27"/>
          <p:cNvSpPr txBox="1"/>
          <p:nvPr/>
        </p:nvSpPr>
        <p:spPr>
          <a:xfrm>
            <a:off x="443484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Operations · KYC review</a:t>
            </a:r>
            <a:endParaRPr lang="en-US" sz="1000" dirty="0"/>
          </a:p>
        </p:txBody>
      </p:sp>
      <p:sp>
        <p:nvSpPr>
          <p:cNvPr id="30" name="text-28"/>
          <p:cNvSpPr txBox="1"/>
          <p:nvPr/>
        </p:nvSpPr>
        <p:spPr>
          <a:xfrm>
            <a:off x="443484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31" name="text-29"/>
          <p:cNvSpPr txBox="1"/>
          <p:nvPr/>
        </p:nvSpPr>
        <p:spPr>
          <a:xfrm>
            <a:off x="443484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capacity and quality planning; any threshold change requires risk validation.</a:t>
            </a:r>
            <a:endParaRPr lang="en-US" sz="1000" dirty="0"/>
          </a:p>
        </p:txBody>
      </p:sp>
      <p:sp>
        <p:nvSpPr>
          <p:cNvPr id="32" name="rect-30"/>
          <p:cNvSpPr/>
          <p:nvPr/>
        </p:nvSpPr>
        <p:spPr>
          <a:xfrm>
            <a:off x="4297680" y="4617720"/>
            <a:ext cx="3566160" cy="1234440"/>
          </a:xfrm>
          <a:prstGeom prst="roundRect">
            <a:avLst>
              <a:gd name="adj" fmla="val 4444"/>
            </a:avLst>
          </a:prstGeom>
          <a:solidFill>
            <a:srgbClr val="F3F6F6"/>
          </a:solidFill>
          <a:ln/>
        </p:spPr>
      </p:sp>
      <p:sp>
        <p:nvSpPr>
          <p:cNvPr id="33" name="text-31"/>
          <p:cNvSpPr txBox="1"/>
          <p:nvPr/>
        </p:nvSpPr>
        <p:spPr>
          <a:xfrm>
            <a:off x="443484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Invite recoverable applicants back</a:t>
            </a:r>
            <a:endParaRPr lang="en-US" sz="1150" dirty="0"/>
          </a:p>
        </p:txBody>
      </p:sp>
      <p:sp>
        <p:nvSpPr>
          <p:cNvPr id="34" name="text-32"/>
          <p:cNvSpPr txBox="1"/>
          <p:nvPr/>
        </p:nvSpPr>
        <p:spPr>
          <a:xfrm>
            <a:off x="443484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Growth &amp; Marketing</a:t>
            </a:r>
            <a:endParaRPr lang="en-US" sz="1000" dirty="0"/>
          </a:p>
        </p:txBody>
      </p:sp>
      <p:sp>
        <p:nvSpPr>
          <p:cNvPr id="35" name="text-33"/>
          <p:cNvSpPr txBox="1"/>
          <p:nvPr/>
        </p:nvSpPr>
        <p:spPr>
          <a:xfrm>
            <a:off x="443484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S · confidence low</a:t>
            </a:r>
            <a:endParaRPr lang="en-US" sz="1000" dirty="0"/>
          </a:p>
        </p:txBody>
      </p:sp>
      <p:sp>
        <p:nvSpPr>
          <p:cNvPr id="36" name="text-34"/>
          <p:cNvSpPr txBox="1"/>
          <p:nvPr/>
        </p:nvSpPr>
        <p:spPr>
          <a:xfrm>
            <a:off x="443484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for appropriate recoverable categories and with consent.</a:t>
            </a:r>
            <a:endParaRPr lang="en-US" sz="1000" dirty="0"/>
          </a:p>
        </p:txBody>
      </p:sp>
      <p:sp>
        <p:nvSpPr>
          <p:cNvPr id="37" name="rect-35"/>
          <p:cNvSpPr/>
          <p:nvPr/>
        </p:nvSpPr>
        <p:spPr>
          <a:xfrm>
            <a:off x="8046720" y="1371600"/>
            <a:ext cx="3566160" cy="457200"/>
          </a:xfrm>
          <a:prstGeom prst="roundRect">
            <a:avLst>
              <a:gd name="adj" fmla="val 12000"/>
            </a:avLst>
          </a:prstGeom>
          <a:solidFill>
            <a:srgbClr val="F6E7D6"/>
          </a:solidFill>
          <a:ln/>
        </p:spPr>
      </p:sp>
      <p:sp>
        <p:nvSpPr>
          <p:cNvPr id="38" name="text-36"/>
          <p:cNvSpPr txBox="1"/>
          <p:nvPr/>
        </p:nvSpPr>
        <p:spPr>
          <a:xfrm>
            <a:off x="8183880" y="1463040"/>
            <a:ext cx="3291840" cy="320040"/>
          </a:xfrm>
          <a:prstGeom prst="rect">
            <a:avLst/>
          </a:prstGeom>
          <a:noFill/>
          <a:ln/>
        </p:spPr>
        <p:txBody>
          <a:bodyPr wrap="square" lIns="0" tIns="0" rIns="0" bIns="0" rtlCol="0" anchor="t"/>
          <a:lstStyle/>
          <a:p>
            <a:pPr algn="l" indent="0" marL="0">
              <a:buNone/>
            </a:pPr>
            <a:r>
              <a:rPr lang="en-US" sz="1200" dirty="0">
                <a:solidFill>
                  <a:srgbClr val="B8691F"/>
                </a:solidFill>
                <a:latin typeface="Arial" pitchFamily="34" charset="0"/>
                <a:ea typeface="Arial" pitchFamily="34" charset="-122"/>
                <a:cs typeface="Arial" pitchFamily="34" charset="-120"/>
              </a:rPr>
              <a:t>P3 · Next two quarters · Platform work (large)</a:t>
            </a:r>
            <a:endParaRPr lang="en-US" sz="1200" dirty="0"/>
          </a:p>
        </p:txBody>
      </p:sp>
      <p:sp>
        <p:nvSpPr>
          <p:cNvPr id="39" name="rect-37"/>
          <p:cNvSpPr/>
          <p:nvPr/>
        </p:nvSpPr>
        <p:spPr>
          <a:xfrm>
            <a:off x="8046720" y="1965960"/>
            <a:ext cx="3566160" cy="1234440"/>
          </a:xfrm>
          <a:prstGeom prst="roundRect">
            <a:avLst>
              <a:gd name="adj" fmla="val 4444"/>
            </a:avLst>
          </a:prstGeom>
          <a:solidFill>
            <a:srgbClr val="F3F6F6"/>
          </a:solidFill>
          <a:ln/>
        </p:spPr>
      </p:sp>
      <p:sp>
        <p:nvSpPr>
          <p:cNvPr id="40" name="text-38"/>
          <p:cNvSpPr txBox="1"/>
          <p:nvPr/>
        </p:nvSpPr>
        <p:spPr>
          <a:xfrm>
            <a:off x="818388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KYC orchestration and decision layer</a:t>
            </a:r>
            <a:endParaRPr lang="en-US" sz="1150" dirty="0"/>
          </a:p>
        </p:txBody>
      </p:sp>
      <p:sp>
        <p:nvSpPr>
          <p:cNvPr id="41" name="text-39"/>
          <p:cNvSpPr txBox="1"/>
          <p:nvPr/>
        </p:nvSpPr>
        <p:spPr>
          <a:xfrm>
            <a:off x="818388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a:t>
            </a:r>
            <a:endParaRPr lang="en-US" sz="1000" dirty="0"/>
          </a:p>
        </p:txBody>
      </p:sp>
      <p:sp>
        <p:nvSpPr>
          <p:cNvPr id="42" name="text-40"/>
          <p:cNvSpPr txBox="1"/>
          <p:nvPr/>
        </p:nvSpPr>
        <p:spPr>
          <a:xfrm>
            <a:off x="818388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medium</a:t>
            </a:r>
            <a:endParaRPr lang="en-US" sz="1000" dirty="0"/>
          </a:p>
        </p:txBody>
      </p:sp>
      <p:sp>
        <p:nvSpPr>
          <p:cNvPr id="43" name="text-41"/>
          <p:cNvSpPr txBox="1"/>
          <p:nvPr/>
        </p:nvSpPr>
        <p:spPr>
          <a:xfrm>
            <a:off x="818388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what the current architecture already provides.</a:t>
            </a:r>
            <a:endParaRPr lang="en-US" sz="1000" dirty="0"/>
          </a:p>
        </p:txBody>
      </p:sp>
      <p:sp>
        <p:nvSpPr>
          <p:cNvPr id="44" name="rect-42"/>
          <p:cNvSpPr/>
          <p:nvPr/>
        </p:nvSpPr>
        <p:spPr>
          <a:xfrm>
            <a:off x="8046720" y="3291840"/>
            <a:ext cx="3566160" cy="1234440"/>
          </a:xfrm>
          <a:prstGeom prst="roundRect">
            <a:avLst>
              <a:gd name="adj" fmla="val 4444"/>
            </a:avLst>
          </a:prstGeom>
          <a:solidFill>
            <a:srgbClr val="F3F6F6"/>
          </a:solidFill>
          <a:ln/>
        </p:spPr>
      </p:sp>
      <p:sp>
        <p:nvSpPr>
          <p:cNvPr id="45" name="text-43"/>
          <p:cNvSpPr txBox="1"/>
          <p:nvPr/>
        </p:nvSpPr>
        <p:spPr>
          <a:xfrm>
            <a:off x="818388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Government registry checks (INE, RENAPER)</a:t>
            </a:r>
            <a:endParaRPr lang="en-US" sz="1150" dirty="0"/>
          </a:p>
        </p:txBody>
      </p:sp>
      <p:sp>
        <p:nvSpPr>
          <p:cNvPr id="46" name="text-44"/>
          <p:cNvSpPr txBox="1"/>
          <p:nvPr/>
        </p:nvSpPr>
        <p:spPr>
          <a:xfrm>
            <a:off x="818388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47" name="text-45"/>
          <p:cNvSpPr txBox="1"/>
          <p:nvPr/>
        </p:nvSpPr>
        <p:spPr>
          <a:xfrm>
            <a:off x="818388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48" name="text-46"/>
          <p:cNvSpPr txBox="1"/>
          <p:nvPr/>
        </p:nvSpPr>
        <p:spPr>
          <a:xfrm>
            <a:off x="818388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49" name="rect-47"/>
          <p:cNvSpPr/>
          <p:nvPr/>
        </p:nvSpPr>
        <p:spPr>
          <a:xfrm>
            <a:off x="8046720" y="4617720"/>
            <a:ext cx="3566160" cy="1234440"/>
          </a:xfrm>
          <a:prstGeom prst="roundRect">
            <a:avLst>
              <a:gd name="adj" fmla="val 4444"/>
            </a:avLst>
          </a:prstGeom>
          <a:solidFill>
            <a:srgbClr val="F3F6F6"/>
          </a:solidFill>
          <a:ln/>
        </p:spPr>
      </p:sp>
      <p:sp>
        <p:nvSpPr>
          <p:cNvPr id="50" name="text-48"/>
          <p:cNvSpPr txBox="1"/>
          <p:nvPr/>
        </p:nvSpPr>
        <p:spPr>
          <a:xfrm>
            <a:off x="818388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Second verification vendor for failover</a:t>
            </a:r>
            <a:endParaRPr lang="en-US" sz="1150" dirty="0"/>
          </a:p>
        </p:txBody>
      </p:sp>
      <p:sp>
        <p:nvSpPr>
          <p:cNvPr id="51" name="text-49"/>
          <p:cNvSpPr txBox="1"/>
          <p:nvPr/>
        </p:nvSpPr>
        <p:spPr>
          <a:xfrm>
            <a:off x="818388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52" name="text-50"/>
          <p:cNvSpPr txBox="1"/>
          <p:nvPr/>
        </p:nvSpPr>
        <p:spPr>
          <a:xfrm>
            <a:off x="818388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53" name="text-51"/>
          <p:cNvSpPr txBox="1"/>
          <p:nvPr/>
        </p:nvSpPr>
        <p:spPr>
          <a:xfrm>
            <a:off x="818388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54" name="text-5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Timelines match the dashboard and FAQ: P0 weeks 0–2, P1 weeks 2–6, P2 weeks 6–13, P3 the following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Recovery scenarios: +0.9 pp to +4.3 pp on recurring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3F6F6"/>
          </a:solidFill>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DCEAE9"/>
          </a:solidFill>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3F6F6"/>
          </a:solidFill>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3F6F6"/>
          </a:solidFill>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5DEDA"/>
          </a:solidFill>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93A2C"/>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If all control findings are confirmed: approvals per 30 days that may need reversing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0F4C4D"/>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failing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3F6F6"/>
          </a:solidFill>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DCEAE9"/>
          </a:solidFill>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things to confirm with the team before acting</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headline is approval among recorded decisions. If rows are latest attempts, earlier failures and retries are invisible and the first-pass rate is lower than shown; if they are final decisions, the warnings may be stale.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brief defines the pass rate as people who start and finish. Without starts, completion and abandonment can't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Whether Phase 0 instrumentation is a prerequisite or a check on existing data; the reading of the volume effect; the completion metric's 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Appendix: evidence and method</a:t>
            </a:r>
            <a:endParaRPr lang="en-US" sz="3400" dirty="0"/>
          </a:p>
        </p:txBody>
      </p:sp>
      <p:sp>
        <p:nvSpPr>
          <p:cNvPr id="4" name="text-2"/>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DCEAE9"/>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 the start-to-finish completion rate: starts, abandonment and attempts are missing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missing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and is counted as approved, pending reconciliation.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This is the document's issuing country, not necessarily residence or account market.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mandatory data</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page or part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issuing-country mismatch,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b="1" dirty="0">
                          <a:solidFill>
                            <a:srgbClr val="1F2A2E"/>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Base: failures matching the window’s signature, minus the count expected at the prior-period rate for the window’s volume.</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The old method attributes every matching failure on the day, including ones that would have happened anyway.</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surge after a fix: V2 scans unavailable; Jumio Go customers may have seen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Showing Mexican applicants which documents are accepted, with pictures, before capture raises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Offering one guided retake when liveness returns BAD_QUALITY or FACE_NOT_FULLY_VISIBLE raises eventual approval without raising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starting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Using the recent submission-based Mexican approval rate (78.9%) as a stand-in baseline,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Assuming about 5% of the eligible group is approved later without a retake (not measurable yet),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Mexico analyst salaries × handling time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Implementation cost of the recurring-cause actions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Sources: S1 Veriff · S2 Sumsub · S3 Vendr · S4 Nu Holdings · S5 Nu Holdings · S6 Nu Holdings · S7 Liftoff, via MarTech Series · S8 Bloomberg Línea · S9 Passageiro de Primeira · S10 TalentUp · S11 Paylab · S12 Levels.fyi · S13 Revelo · S14 Banco de México. Full figures, periods and links are in the dashboard (Plan &amp; value).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first-year value of a cohort is earned over the following year, not recognised in the next 12 months. Past vendor and paid-acquisition spend on not-approved applicants is spent; it is not a saving unless the cause is removed.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F2A2E"/>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acknowledged; decisions taken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Warnings cleared in manual review that the extract doesn't show.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Export mapping difference.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confirming.</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separate capability that returns the document type, including UNSUPPORTED.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Missing mandatory data; automation level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Enabled by contacting Jumio Support.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After a callback, retry retrieval from 40 seconds with growing intervals, at most 10 consecutive failures.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PII fields need an updated data-processing agreement and are disabled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2026-10-14T13:01:53Z</dcterms:created>
  <dcterms:modified xsi:type="dcterms:W3CDTF">2026-10-14T13:01:53Z</dcterms:modified>
</cp:coreProperties>
</file>