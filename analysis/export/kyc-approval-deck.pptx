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d17c4299-0cc8-6bd1-75e9-38bacde2f0e6}">
          <p14:sldIdLst>
            <p14:sldId id="256"/>
            <p14:sldId id="257"/>
            <p14:sldId id="258"/>
            <p14:sldId id="259"/>
            <p14:sldId id="260"/>
            <p14:sldId id="261"/>
            <p14:sldId id="262"/>
            <p14:sldId id="263"/>
            <p14:sldId id="264"/>
            <p14:sldId id="265"/>
            <p14:sldId id="266"/>
            <p14:sldId id="267"/>
          </p14:sldIdLst>
        </p14:section>
        <p14:section name="Appendix" id="{6523b883-67f5-9448-f68e-cfce91379752}">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These extracts cannot measure the start-to-finish funnel that the brief describes, and the deck says so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that an executive needs. They are: what we can measure, what changed, the arithmetic, the hypotheses, the first steps, the needs, and the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we cannot match records to times of day.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the kind of work, columns are time. Fixes and instruments go first, because they are cheap and useful whatever the root cause. Experiments test the obvious hypotheses. Research runs beside them, from support tickets up to eye tracking. Platform work comes later. Items marked ◌ are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useful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failure of the pattern,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assignment by person, repeat attempts do not count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comes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8"/>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B949C"/>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41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0"/>
          <p:cNvSpPr txBox="1"/>
          <p:nvPr/>
        </p:nvSpPr>
        <p:spPr>
          <a:xfrm>
            <a:off x="548640" y="457200"/>
            <a:ext cx="11094415" cy="640080"/>
          </a:xfrm>
          <a:prstGeom prst="rect">
            <a:avLst/>
          </a:prstGeom>
          <a:noFill/>
          <a:ln/>
        </p:spPr>
        <p:txBody>
          <a:bodyPr wrap="square" lIns="0" tIns="0" rIns="0" bIns="0" rtlCol="0" anchor="t"/>
          <a:lstStyle/>
          <a:p>
            <a:pPr algn="l" indent="0" marL="0">
              <a:buNone/>
            </a:pPr>
            <a:r>
              <a:rPr lang="en-US" sz="3200" dirty="0">
                <a:solidFill>
                  <a:srgbClr val="E5E9EC"/>
                </a:solidFill>
                <a:latin typeface="Georgia" pitchFamily="34" charset="0"/>
                <a:ea typeface="Georgia" pitchFamily="34" charset="-122"/>
                <a:cs typeface="Georgia" pitchFamily="34" charset="-120"/>
              </a:rPr>
              <a:t>KYC pass rate: why it fell and what to do</a:t>
            </a:r>
            <a:endParaRPr lang="en-US" sz="3200" dirty="0"/>
          </a:p>
        </p:txBody>
      </p:sp>
      <p:sp>
        <p:nvSpPr>
          <p:cNvPr id="3" name="text-1"/>
          <p:cNvSpPr txBox="1"/>
          <p:nvPr/>
        </p:nvSpPr>
        <p:spPr>
          <a:xfrm>
            <a:off x="548640" y="1170432"/>
            <a:ext cx="8778240" cy="548640"/>
          </a:xfrm>
          <a:prstGeom prst="rect">
            <a:avLst/>
          </a:prstGeom>
          <a:noFill/>
          <a:ln/>
        </p:spPr>
        <p:txBody>
          <a:bodyPr wrap="square" lIns="0" tIns="0" rIns="0" bIns="0" rtlCol="0" anchor="t"/>
          <a:lstStyle/>
          <a:p>
            <a:pPr algn="l" indent="0" marL="0">
              <a:buNone/>
            </a:pPr>
            <a:r>
              <a:rPr lang="en-US" sz="1500" dirty="0">
                <a:solidFill>
                  <a:srgbClr val="E5E9EC"/>
                </a:solidFill>
                <a:latin typeface="Arial" pitchFamily="34" charset="0"/>
                <a:ea typeface="Arial" pitchFamily="34" charset="-122"/>
                <a:cs typeface="Arial" pitchFamily="34" charset="-120"/>
              </a:rPr>
              <a:t>The KYC pass rate (approval among recorded decisions) fell from 88.7% to 83.3% between the two periods (−5.4 pp), or −2,945 approvals.</a:t>
            </a:r>
            <a:endParaRPr lang="en-US" sz="1500" dirty="0"/>
          </a:p>
        </p:txBody>
      </p:sp>
      <p:sp>
        <p:nvSpPr>
          <p:cNvPr id="4" name="text-2"/>
          <p:cNvSpPr txBox="1"/>
          <p:nvPr/>
        </p:nvSpPr>
        <p:spPr>
          <a:xfrm>
            <a:off x="548640" y="1810512"/>
            <a:ext cx="11094415" cy="274320"/>
          </a:xfrm>
          <a:prstGeom prst="rect">
            <a:avLst/>
          </a:prstGeom>
          <a:noFill/>
          <a:ln/>
        </p:spPr>
        <p:txBody>
          <a:bodyPr wrap="square" lIns="0" tIns="0" rIns="0" bIns="0" rtlCol="0" anchor="t"/>
          <a:lstStyle/>
          <a:p>
            <a:pPr algn="l" indent="0" marL="0">
              <a:buNone/>
            </a:pPr>
            <a:r>
              <a:rPr lang="en-US" sz="1050" dirty="0">
                <a:solidFill>
                  <a:srgbClr val="A1ABB4"/>
                </a:solidFill>
                <a:latin typeface="Arial" pitchFamily="34" charset="0"/>
                <a:ea typeface="Arial" pitchFamily="34" charset="-122"/>
                <a:cs typeface="Arial" pitchFamily="34" charset="-120"/>
              </a:rPr>
              <a:t>52,075 recorded decisions, one per user. Prior period: Jul 25 – Aug 23, 2023; recent period: Aug 24 – Sep 22, 2023. Aggregated data, no personal data. Vendor research dated Oct 13, 2026.</a:t>
            </a:r>
            <a:endParaRPr lang="en-US" sz="1050" dirty="0"/>
          </a:p>
        </p:txBody>
      </p:sp>
      <p:sp>
        <p:nvSpPr>
          <p:cNvPr id="5" name="rect-3"/>
          <p:cNvSpPr/>
          <p:nvPr/>
        </p:nvSpPr>
        <p:spPr>
          <a:xfrm>
            <a:off x="548640" y="2286000"/>
            <a:ext cx="7360920" cy="2926080"/>
          </a:xfrm>
          <a:prstGeom prst="roundRect">
            <a:avLst>
              <a:gd name="adj" fmla="val 2500"/>
            </a:avLst>
          </a:prstGeom>
          <a:solidFill>
            <a:srgbClr val="181C20"/>
          </a:solidFill>
          <a:ln w="9525">
            <a:solidFill>
              <a:srgbClr val="2A3036"/>
            </a:solidFill>
            <a:prstDash val="solid"/>
          </a:ln>
        </p:spPr>
      </p:sp>
      <p:sp>
        <p:nvSpPr>
          <p:cNvPr id="6" name="text-4"/>
          <p:cNvSpPr txBox="1"/>
          <p:nvPr/>
        </p:nvSpPr>
        <p:spPr>
          <a:xfrm>
            <a:off x="749808" y="2432304"/>
            <a:ext cx="6995160"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Approval among recorded decisions, by day</a:t>
            </a:r>
            <a:endParaRPr lang="en-US" sz="1200" dirty="0"/>
          </a:p>
        </p:txBody>
      </p:sp>
      <p:sp>
        <p:nvSpPr>
          <p:cNvPr id="7" name="line-5"/>
          <p:cNvSpPr/>
          <p:nvPr/>
        </p:nvSpPr>
        <p:spPr>
          <a:xfrm>
            <a:off x="1115568" y="4389120"/>
            <a:ext cx="5742432" cy="0"/>
          </a:xfrm>
          <a:prstGeom prst="line">
            <a:avLst/>
          </a:prstGeom>
          <a:noFill/>
          <a:ln w="9525">
            <a:solidFill>
              <a:srgbClr val="2A3036"/>
            </a:solidFill>
            <a:prstDash val="solid"/>
          </a:ln>
        </p:spPr>
      </p:sp>
      <p:sp>
        <p:nvSpPr>
          <p:cNvPr id="8" name="text-6"/>
          <p:cNvSpPr txBox="1"/>
          <p:nvPr/>
        </p:nvSpPr>
        <p:spPr>
          <a:xfrm>
            <a:off x="658368" y="4306824"/>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60%</a:t>
            </a:r>
            <a:endParaRPr lang="en-US" sz="900" dirty="0"/>
          </a:p>
        </p:txBody>
      </p:sp>
      <p:sp>
        <p:nvSpPr>
          <p:cNvPr id="9" name="line-7"/>
          <p:cNvSpPr/>
          <p:nvPr/>
        </p:nvSpPr>
        <p:spPr>
          <a:xfrm>
            <a:off x="1115568" y="3621024"/>
            <a:ext cx="5742432" cy="0"/>
          </a:xfrm>
          <a:prstGeom prst="line">
            <a:avLst/>
          </a:prstGeom>
          <a:noFill/>
          <a:ln w="9525">
            <a:solidFill>
              <a:srgbClr val="2A3036"/>
            </a:solidFill>
            <a:prstDash val="solid"/>
          </a:ln>
        </p:spPr>
      </p:sp>
      <p:sp>
        <p:nvSpPr>
          <p:cNvPr id="10" name="text-8"/>
          <p:cNvSpPr txBox="1"/>
          <p:nvPr/>
        </p:nvSpPr>
        <p:spPr>
          <a:xfrm>
            <a:off x="658368" y="3538728"/>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80%</a:t>
            </a:r>
            <a:endParaRPr lang="en-US" sz="900" dirty="0"/>
          </a:p>
        </p:txBody>
      </p:sp>
      <p:sp>
        <p:nvSpPr>
          <p:cNvPr id="11" name="line-9"/>
          <p:cNvSpPr/>
          <p:nvPr/>
        </p:nvSpPr>
        <p:spPr>
          <a:xfrm>
            <a:off x="1115568" y="2852928"/>
            <a:ext cx="5742432" cy="0"/>
          </a:xfrm>
          <a:prstGeom prst="line">
            <a:avLst/>
          </a:prstGeom>
          <a:noFill/>
          <a:ln w="9525">
            <a:solidFill>
              <a:srgbClr val="2A3036"/>
            </a:solidFill>
            <a:prstDash val="solid"/>
          </a:ln>
        </p:spPr>
      </p:sp>
      <p:sp>
        <p:nvSpPr>
          <p:cNvPr id="12" name="text-10"/>
          <p:cNvSpPr txBox="1"/>
          <p:nvPr/>
        </p:nvSpPr>
        <p:spPr>
          <a:xfrm>
            <a:off x="658368" y="2770632"/>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100%</a:t>
            </a:r>
            <a:endParaRPr lang="en-US" sz="900" dirty="0"/>
          </a:p>
        </p:txBody>
      </p:sp>
      <p:sp>
        <p:nvSpPr>
          <p:cNvPr id="13" name="rect-11"/>
          <p:cNvSpPr/>
          <p:nvPr/>
        </p:nvSpPr>
        <p:spPr>
          <a:xfrm>
            <a:off x="1128967" y="3279605"/>
            <a:ext cx="68909" cy="1493563"/>
          </a:xfrm>
          <a:prstGeom prst="rect">
            <a:avLst/>
          </a:prstGeom>
          <a:solidFill>
            <a:srgbClr val="6FA6E6"/>
          </a:solidFill>
          <a:ln/>
        </p:spPr>
      </p:sp>
      <p:sp>
        <p:nvSpPr>
          <p:cNvPr id="14" name="rect-12"/>
          <p:cNvSpPr/>
          <p:nvPr/>
        </p:nvSpPr>
        <p:spPr>
          <a:xfrm>
            <a:off x="1224674" y="3193195"/>
            <a:ext cx="68909" cy="1579973"/>
          </a:xfrm>
          <a:prstGeom prst="rect">
            <a:avLst/>
          </a:prstGeom>
          <a:solidFill>
            <a:srgbClr val="6FA6E6"/>
          </a:solidFill>
          <a:ln/>
        </p:spPr>
      </p:sp>
      <p:sp>
        <p:nvSpPr>
          <p:cNvPr id="15" name="rect-13"/>
          <p:cNvSpPr/>
          <p:nvPr/>
        </p:nvSpPr>
        <p:spPr>
          <a:xfrm>
            <a:off x="1320381" y="3237744"/>
            <a:ext cx="68909" cy="1535424"/>
          </a:xfrm>
          <a:prstGeom prst="rect">
            <a:avLst/>
          </a:prstGeom>
          <a:solidFill>
            <a:srgbClr val="6FA6E6"/>
          </a:solidFill>
          <a:ln/>
        </p:spPr>
      </p:sp>
      <p:sp>
        <p:nvSpPr>
          <p:cNvPr id="16" name="rect-14"/>
          <p:cNvSpPr/>
          <p:nvPr/>
        </p:nvSpPr>
        <p:spPr>
          <a:xfrm>
            <a:off x="1416089" y="3426312"/>
            <a:ext cx="68909" cy="1346856"/>
          </a:xfrm>
          <a:prstGeom prst="rect">
            <a:avLst/>
          </a:prstGeom>
          <a:solidFill>
            <a:srgbClr val="6FA6E6"/>
          </a:solidFill>
          <a:ln/>
        </p:spPr>
      </p:sp>
      <p:sp>
        <p:nvSpPr>
          <p:cNvPr id="17" name="rect-15"/>
          <p:cNvSpPr/>
          <p:nvPr/>
        </p:nvSpPr>
        <p:spPr>
          <a:xfrm>
            <a:off x="1511796" y="3365632"/>
            <a:ext cx="68909" cy="1407536"/>
          </a:xfrm>
          <a:prstGeom prst="rect">
            <a:avLst/>
          </a:prstGeom>
          <a:solidFill>
            <a:srgbClr val="6FA6E6"/>
          </a:solidFill>
          <a:ln/>
        </p:spPr>
      </p:sp>
      <p:sp>
        <p:nvSpPr>
          <p:cNvPr id="18" name="rect-16"/>
          <p:cNvSpPr/>
          <p:nvPr/>
        </p:nvSpPr>
        <p:spPr>
          <a:xfrm>
            <a:off x="1607503" y="3300344"/>
            <a:ext cx="68909" cy="1472824"/>
          </a:xfrm>
          <a:prstGeom prst="rect">
            <a:avLst/>
          </a:prstGeom>
          <a:solidFill>
            <a:srgbClr val="6FA6E6"/>
          </a:solidFill>
          <a:ln/>
        </p:spPr>
      </p:sp>
      <p:sp>
        <p:nvSpPr>
          <p:cNvPr id="19" name="rect-17"/>
          <p:cNvSpPr/>
          <p:nvPr/>
        </p:nvSpPr>
        <p:spPr>
          <a:xfrm>
            <a:off x="1703210" y="3294967"/>
            <a:ext cx="68909" cy="1478201"/>
          </a:xfrm>
          <a:prstGeom prst="rect">
            <a:avLst/>
          </a:prstGeom>
          <a:solidFill>
            <a:srgbClr val="6FA6E6"/>
          </a:solidFill>
          <a:ln/>
        </p:spPr>
      </p:sp>
      <p:sp>
        <p:nvSpPr>
          <p:cNvPr id="20" name="rect-18"/>
          <p:cNvSpPr/>
          <p:nvPr/>
        </p:nvSpPr>
        <p:spPr>
          <a:xfrm>
            <a:off x="1798917" y="3198955"/>
            <a:ext cx="68909" cy="1574213"/>
          </a:xfrm>
          <a:prstGeom prst="rect">
            <a:avLst/>
          </a:prstGeom>
          <a:solidFill>
            <a:srgbClr val="6FA6E6"/>
          </a:solidFill>
          <a:ln/>
        </p:spPr>
      </p:sp>
      <p:sp>
        <p:nvSpPr>
          <p:cNvPr id="21" name="rect-19"/>
          <p:cNvSpPr/>
          <p:nvPr/>
        </p:nvSpPr>
        <p:spPr>
          <a:xfrm>
            <a:off x="1894625" y="3316090"/>
            <a:ext cx="68909" cy="1457078"/>
          </a:xfrm>
          <a:prstGeom prst="rect">
            <a:avLst/>
          </a:prstGeom>
          <a:solidFill>
            <a:srgbClr val="6FA6E6"/>
          </a:solidFill>
          <a:ln/>
        </p:spPr>
      </p:sp>
      <p:sp>
        <p:nvSpPr>
          <p:cNvPr id="22" name="rect-20"/>
          <p:cNvSpPr/>
          <p:nvPr/>
        </p:nvSpPr>
        <p:spPr>
          <a:xfrm>
            <a:off x="1990332" y="3318394"/>
            <a:ext cx="68909" cy="1454774"/>
          </a:xfrm>
          <a:prstGeom prst="rect">
            <a:avLst/>
          </a:prstGeom>
          <a:solidFill>
            <a:srgbClr val="6FA6E6"/>
          </a:solidFill>
          <a:ln/>
        </p:spPr>
      </p:sp>
      <p:sp>
        <p:nvSpPr>
          <p:cNvPr id="23" name="rect-21"/>
          <p:cNvSpPr/>
          <p:nvPr/>
        </p:nvSpPr>
        <p:spPr>
          <a:xfrm>
            <a:off x="2086039" y="3372929"/>
            <a:ext cx="68909" cy="1400239"/>
          </a:xfrm>
          <a:prstGeom prst="rect">
            <a:avLst/>
          </a:prstGeom>
          <a:solidFill>
            <a:srgbClr val="6FA6E6"/>
          </a:solidFill>
          <a:ln/>
        </p:spPr>
      </p:sp>
      <p:sp>
        <p:nvSpPr>
          <p:cNvPr id="24" name="rect-22"/>
          <p:cNvSpPr/>
          <p:nvPr/>
        </p:nvSpPr>
        <p:spPr>
          <a:xfrm>
            <a:off x="2181746" y="3217774"/>
            <a:ext cx="68909" cy="1555394"/>
          </a:xfrm>
          <a:prstGeom prst="rect">
            <a:avLst/>
          </a:prstGeom>
          <a:solidFill>
            <a:srgbClr val="6FA6E6"/>
          </a:solidFill>
          <a:ln/>
        </p:spPr>
      </p:sp>
      <p:sp>
        <p:nvSpPr>
          <p:cNvPr id="25" name="rect-23"/>
          <p:cNvSpPr/>
          <p:nvPr/>
        </p:nvSpPr>
        <p:spPr>
          <a:xfrm>
            <a:off x="2277453" y="3231215"/>
            <a:ext cx="68909" cy="1541953"/>
          </a:xfrm>
          <a:prstGeom prst="rect">
            <a:avLst/>
          </a:prstGeom>
          <a:solidFill>
            <a:srgbClr val="6FA6E6"/>
          </a:solidFill>
          <a:ln/>
        </p:spPr>
      </p:sp>
      <p:sp>
        <p:nvSpPr>
          <p:cNvPr id="26" name="rect-24"/>
          <p:cNvSpPr/>
          <p:nvPr/>
        </p:nvSpPr>
        <p:spPr>
          <a:xfrm>
            <a:off x="2373161" y="3262707"/>
            <a:ext cx="68909" cy="1510461"/>
          </a:xfrm>
          <a:prstGeom prst="rect">
            <a:avLst/>
          </a:prstGeom>
          <a:solidFill>
            <a:srgbClr val="6FA6E6"/>
          </a:solidFill>
          <a:ln/>
        </p:spPr>
      </p:sp>
      <p:sp>
        <p:nvSpPr>
          <p:cNvPr id="27" name="rect-25"/>
          <p:cNvSpPr/>
          <p:nvPr/>
        </p:nvSpPr>
        <p:spPr>
          <a:xfrm>
            <a:off x="2468868" y="3307257"/>
            <a:ext cx="68909" cy="1465911"/>
          </a:xfrm>
          <a:prstGeom prst="rect">
            <a:avLst/>
          </a:prstGeom>
          <a:solidFill>
            <a:srgbClr val="6FA6E6"/>
          </a:solidFill>
          <a:ln/>
        </p:spPr>
      </p:sp>
      <p:sp>
        <p:nvSpPr>
          <p:cNvPr id="28" name="rect-26"/>
          <p:cNvSpPr/>
          <p:nvPr/>
        </p:nvSpPr>
        <p:spPr>
          <a:xfrm>
            <a:off x="2564575" y="3289975"/>
            <a:ext cx="68909" cy="1483193"/>
          </a:xfrm>
          <a:prstGeom prst="rect">
            <a:avLst/>
          </a:prstGeom>
          <a:solidFill>
            <a:srgbClr val="6FA6E6"/>
          </a:solidFill>
          <a:ln/>
        </p:spPr>
      </p:sp>
      <p:sp>
        <p:nvSpPr>
          <p:cNvPr id="29" name="rect-27"/>
          <p:cNvSpPr/>
          <p:nvPr/>
        </p:nvSpPr>
        <p:spPr>
          <a:xfrm>
            <a:off x="2660282" y="3287286"/>
            <a:ext cx="68909" cy="1485882"/>
          </a:xfrm>
          <a:prstGeom prst="rect">
            <a:avLst/>
          </a:prstGeom>
          <a:solidFill>
            <a:srgbClr val="6FA6E6"/>
          </a:solidFill>
          <a:ln/>
        </p:spPr>
      </p:sp>
      <p:sp>
        <p:nvSpPr>
          <p:cNvPr id="30" name="rect-28"/>
          <p:cNvSpPr/>
          <p:nvPr/>
        </p:nvSpPr>
        <p:spPr>
          <a:xfrm>
            <a:off x="2755989" y="3308793"/>
            <a:ext cx="68909" cy="1464375"/>
          </a:xfrm>
          <a:prstGeom prst="rect">
            <a:avLst/>
          </a:prstGeom>
          <a:solidFill>
            <a:srgbClr val="6FA6E6"/>
          </a:solidFill>
          <a:ln/>
        </p:spPr>
      </p:sp>
      <p:sp>
        <p:nvSpPr>
          <p:cNvPr id="31" name="rect-29"/>
          <p:cNvSpPr/>
          <p:nvPr/>
        </p:nvSpPr>
        <p:spPr>
          <a:xfrm>
            <a:off x="2851697" y="3275381"/>
            <a:ext cx="68909" cy="1497787"/>
          </a:xfrm>
          <a:prstGeom prst="rect">
            <a:avLst/>
          </a:prstGeom>
          <a:solidFill>
            <a:srgbClr val="6FA6E6"/>
          </a:solidFill>
          <a:ln/>
        </p:spPr>
      </p:sp>
      <p:sp>
        <p:nvSpPr>
          <p:cNvPr id="32" name="rect-30"/>
          <p:cNvSpPr/>
          <p:nvPr/>
        </p:nvSpPr>
        <p:spPr>
          <a:xfrm>
            <a:off x="2947404" y="3337981"/>
            <a:ext cx="68909" cy="1435187"/>
          </a:xfrm>
          <a:prstGeom prst="rect">
            <a:avLst/>
          </a:prstGeom>
          <a:solidFill>
            <a:srgbClr val="6FA6E6"/>
          </a:solidFill>
          <a:ln/>
        </p:spPr>
      </p:sp>
      <p:sp>
        <p:nvSpPr>
          <p:cNvPr id="33" name="rect-31"/>
          <p:cNvSpPr/>
          <p:nvPr/>
        </p:nvSpPr>
        <p:spPr>
          <a:xfrm>
            <a:off x="3043111" y="3208172"/>
            <a:ext cx="68909" cy="1564996"/>
          </a:xfrm>
          <a:prstGeom prst="rect">
            <a:avLst/>
          </a:prstGeom>
          <a:solidFill>
            <a:srgbClr val="6FA6E6"/>
          </a:solidFill>
          <a:ln/>
        </p:spPr>
      </p:sp>
      <p:sp>
        <p:nvSpPr>
          <p:cNvPr id="34" name="rect-32"/>
          <p:cNvSpPr/>
          <p:nvPr/>
        </p:nvSpPr>
        <p:spPr>
          <a:xfrm>
            <a:off x="3138818" y="3240432"/>
            <a:ext cx="68909" cy="1532736"/>
          </a:xfrm>
          <a:prstGeom prst="rect">
            <a:avLst/>
          </a:prstGeom>
          <a:solidFill>
            <a:srgbClr val="6FA6E6"/>
          </a:solidFill>
          <a:ln/>
        </p:spPr>
      </p:sp>
      <p:sp>
        <p:nvSpPr>
          <p:cNvPr id="35" name="rect-33"/>
          <p:cNvSpPr/>
          <p:nvPr/>
        </p:nvSpPr>
        <p:spPr>
          <a:xfrm>
            <a:off x="3234525" y="3245425"/>
            <a:ext cx="68909" cy="1527743"/>
          </a:xfrm>
          <a:prstGeom prst="rect">
            <a:avLst/>
          </a:prstGeom>
          <a:solidFill>
            <a:srgbClr val="6FA6E6"/>
          </a:solidFill>
          <a:ln/>
        </p:spPr>
      </p:sp>
      <p:sp>
        <p:nvSpPr>
          <p:cNvPr id="36" name="rect-34"/>
          <p:cNvSpPr/>
          <p:nvPr/>
        </p:nvSpPr>
        <p:spPr>
          <a:xfrm>
            <a:off x="3330233" y="3330300"/>
            <a:ext cx="68909" cy="1442868"/>
          </a:xfrm>
          <a:prstGeom prst="rect">
            <a:avLst/>
          </a:prstGeom>
          <a:solidFill>
            <a:srgbClr val="6FA6E6"/>
          </a:solidFill>
          <a:ln/>
        </p:spPr>
      </p:sp>
      <p:sp>
        <p:nvSpPr>
          <p:cNvPr id="37" name="rect-35"/>
          <p:cNvSpPr/>
          <p:nvPr/>
        </p:nvSpPr>
        <p:spPr>
          <a:xfrm>
            <a:off x="3425940" y="3270388"/>
            <a:ext cx="68909" cy="1502780"/>
          </a:xfrm>
          <a:prstGeom prst="rect">
            <a:avLst/>
          </a:prstGeom>
          <a:solidFill>
            <a:srgbClr val="6FA6E6"/>
          </a:solidFill>
          <a:ln/>
        </p:spPr>
      </p:sp>
      <p:sp>
        <p:nvSpPr>
          <p:cNvPr id="38" name="rect-36"/>
          <p:cNvSpPr/>
          <p:nvPr/>
        </p:nvSpPr>
        <p:spPr>
          <a:xfrm>
            <a:off x="3521647" y="3355647"/>
            <a:ext cx="68909" cy="1417521"/>
          </a:xfrm>
          <a:prstGeom prst="rect">
            <a:avLst/>
          </a:prstGeom>
          <a:solidFill>
            <a:srgbClr val="6FA6E6"/>
          </a:solidFill>
          <a:ln/>
        </p:spPr>
      </p:sp>
      <p:sp>
        <p:nvSpPr>
          <p:cNvPr id="39" name="rect-37"/>
          <p:cNvSpPr/>
          <p:nvPr/>
        </p:nvSpPr>
        <p:spPr>
          <a:xfrm>
            <a:off x="3617354" y="3420551"/>
            <a:ext cx="68909" cy="1352617"/>
          </a:xfrm>
          <a:prstGeom prst="rect">
            <a:avLst/>
          </a:prstGeom>
          <a:solidFill>
            <a:srgbClr val="6FA6E6"/>
          </a:solidFill>
          <a:ln/>
        </p:spPr>
      </p:sp>
      <p:sp>
        <p:nvSpPr>
          <p:cNvPr id="40" name="rect-38"/>
          <p:cNvSpPr/>
          <p:nvPr/>
        </p:nvSpPr>
        <p:spPr>
          <a:xfrm>
            <a:off x="3713061" y="3202412"/>
            <a:ext cx="68909" cy="1570756"/>
          </a:xfrm>
          <a:prstGeom prst="rect">
            <a:avLst/>
          </a:prstGeom>
          <a:solidFill>
            <a:srgbClr val="6FA6E6"/>
          </a:solidFill>
          <a:ln/>
        </p:spPr>
      </p:sp>
      <p:sp>
        <p:nvSpPr>
          <p:cNvPr id="41" name="rect-39"/>
          <p:cNvSpPr/>
          <p:nvPr/>
        </p:nvSpPr>
        <p:spPr>
          <a:xfrm>
            <a:off x="3808769" y="3344125"/>
            <a:ext cx="68909" cy="1429043"/>
          </a:xfrm>
          <a:prstGeom prst="rect">
            <a:avLst/>
          </a:prstGeom>
          <a:solidFill>
            <a:srgbClr val="6FA6E6"/>
          </a:solidFill>
          <a:ln/>
        </p:spPr>
      </p:sp>
      <p:sp>
        <p:nvSpPr>
          <p:cNvPr id="42" name="rect-40"/>
          <p:cNvSpPr/>
          <p:nvPr/>
        </p:nvSpPr>
        <p:spPr>
          <a:xfrm>
            <a:off x="3904476" y="3244273"/>
            <a:ext cx="68909" cy="1528895"/>
          </a:xfrm>
          <a:prstGeom prst="rect">
            <a:avLst/>
          </a:prstGeom>
          <a:solidFill>
            <a:srgbClr val="6FA6E6"/>
          </a:solidFill>
          <a:ln/>
        </p:spPr>
      </p:sp>
      <p:sp>
        <p:nvSpPr>
          <p:cNvPr id="43" name="rect-41"/>
          <p:cNvSpPr/>
          <p:nvPr/>
        </p:nvSpPr>
        <p:spPr>
          <a:xfrm>
            <a:off x="4000183" y="4465546"/>
            <a:ext cx="68909" cy="307622"/>
          </a:xfrm>
          <a:prstGeom prst="rect">
            <a:avLst/>
          </a:prstGeom>
          <a:solidFill>
            <a:srgbClr val="F07A66"/>
          </a:solidFill>
          <a:ln/>
        </p:spPr>
      </p:sp>
      <p:sp>
        <p:nvSpPr>
          <p:cNvPr id="44" name="rect-42"/>
          <p:cNvSpPr/>
          <p:nvPr/>
        </p:nvSpPr>
        <p:spPr>
          <a:xfrm>
            <a:off x="4095890" y="3236592"/>
            <a:ext cx="68909" cy="1536576"/>
          </a:xfrm>
          <a:prstGeom prst="rect">
            <a:avLst/>
          </a:prstGeom>
          <a:solidFill>
            <a:srgbClr val="6FA6E6"/>
          </a:solidFill>
          <a:ln/>
        </p:spPr>
      </p:sp>
      <p:sp>
        <p:nvSpPr>
          <p:cNvPr id="45" name="rect-43"/>
          <p:cNvSpPr/>
          <p:nvPr/>
        </p:nvSpPr>
        <p:spPr>
          <a:xfrm>
            <a:off x="4191597" y="3246961"/>
            <a:ext cx="68909" cy="1526207"/>
          </a:xfrm>
          <a:prstGeom prst="rect">
            <a:avLst/>
          </a:prstGeom>
          <a:solidFill>
            <a:srgbClr val="6FA6E6"/>
          </a:solidFill>
          <a:ln/>
        </p:spPr>
      </p:sp>
      <p:sp>
        <p:nvSpPr>
          <p:cNvPr id="46" name="rect-44"/>
          <p:cNvSpPr/>
          <p:nvPr/>
        </p:nvSpPr>
        <p:spPr>
          <a:xfrm>
            <a:off x="4287305" y="3353343"/>
            <a:ext cx="68909" cy="1419825"/>
          </a:xfrm>
          <a:prstGeom prst="rect">
            <a:avLst/>
          </a:prstGeom>
          <a:solidFill>
            <a:srgbClr val="6FA6E6"/>
          </a:solidFill>
          <a:ln/>
        </p:spPr>
      </p:sp>
      <p:sp>
        <p:nvSpPr>
          <p:cNvPr id="47" name="rect-45"/>
          <p:cNvSpPr/>
          <p:nvPr/>
        </p:nvSpPr>
        <p:spPr>
          <a:xfrm>
            <a:off x="4383012" y="3307641"/>
            <a:ext cx="68909" cy="1465527"/>
          </a:xfrm>
          <a:prstGeom prst="rect">
            <a:avLst/>
          </a:prstGeom>
          <a:solidFill>
            <a:srgbClr val="6FA6E6"/>
          </a:solidFill>
          <a:ln/>
        </p:spPr>
      </p:sp>
      <p:sp>
        <p:nvSpPr>
          <p:cNvPr id="48" name="rect-46"/>
          <p:cNvSpPr/>
          <p:nvPr/>
        </p:nvSpPr>
        <p:spPr>
          <a:xfrm>
            <a:off x="4478719" y="3389827"/>
            <a:ext cx="68909" cy="1383341"/>
          </a:xfrm>
          <a:prstGeom prst="rect">
            <a:avLst/>
          </a:prstGeom>
          <a:solidFill>
            <a:srgbClr val="6FA6E6"/>
          </a:solidFill>
          <a:ln/>
        </p:spPr>
      </p:sp>
      <p:sp>
        <p:nvSpPr>
          <p:cNvPr id="49" name="rect-47"/>
          <p:cNvSpPr/>
          <p:nvPr/>
        </p:nvSpPr>
        <p:spPr>
          <a:xfrm>
            <a:off x="4574426" y="3292279"/>
            <a:ext cx="68909" cy="1480889"/>
          </a:xfrm>
          <a:prstGeom prst="rect">
            <a:avLst/>
          </a:prstGeom>
          <a:solidFill>
            <a:srgbClr val="6FA6E6"/>
          </a:solidFill>
          <a:ln/>
        </p:spPr>
      </p:sp>
      <p:sp>
        <p:nvSpPr>
          <p:cNvPr id="50" name="rect-48"/>
          <p:cNvSpPr/>
          <p:nvPr/>
        </p:nvSpPr>
        <p:spPr>
          <a:xfrm>
            <a:off x="4670133" y="3265780"/>
            <a:ext cx="68909" cy="1507388"/>
          </a:xfrm>
          <a:prstGeom prst="rect">
            <a:avLst/>
          </a:prstGeom>
          <a:solidFill>
            <a:srgbClr val="6FA6E6"/>
          </a:solidFill>
          <a:ln/>
        </p:spPr>
      </p:sp>
      <p:sp>
        <p:nvSpPr>
          <p:cNvPr id="51" name="rect-49"/>
          <p:cNvSpPr/>
          <p:nvPr/>
        </p:nvSpPr>
        <p:spPr>
          <a:xfrm>
            <a:off x="4765841" y="3998159"/>
            <a:ext cx="68909" cy="775009"/>
          </a:xfrm>
          <a:prstGeom prst="rect">
            <a:avLst/>
          </a:prstGeom>
          <a:solidFill>
            <a:srgbClr val="F07A66"/>
          </a:solidFill>
          <a:ln/>
        </p:spPr>
      </p:sp>
      <p:sp>
        <p:nvSpPr>
          <p:cNvPr id="52" name="rect-50"/>
          <p:cNvSpPr/>
          <p:nvPr/>
        </p:nvSpPr>
        <p:spPr>
          <a:xfrm>
            <a:off x="4861548" y="4677540"/>
            <a:ext cx="68909" cy="95628"/>
          </a:xfrm>
          <a:prstGeom prst="rect">
            <a:avLst/>
          </a:prstGeom>
          <a:solidFill>
            <a:srgbClr val="F07A66"/>
          </a:solidFill>
          <a:ln/>
        </p:spPr>
      </p:sp>
      <p:sp>
        <p:nvSpPr>
          <p:cNvPr id="53" name="rect-51"/>
          <p:cNvSpPr/>
          <p:nvPr/>
        </p:nvSpPr>
        <p:spPr>
          <a:xfrm>
            <a:off x="4957255" y="3430152"/>
            <a:ext cx="68909" cy="1343016"/>
          </a:xfrm>
          <a:prstGeom prst="rect">
            <a:avLst/>
          </a:prstGeom>
          <a:solidFill>
            <a:srgbClr val="6FA6E6"/>
          </a:solidFill>
          <a:ln/>
        </p:spPr>
      </p:sp>
      <p:sp>
        <p:nvSpPr>
          <p:cNvPr id="54" name="rect-52"/>
          <p:cNvSpPr/>
          <p:nvPr/>
        </p:nvSpPr>
        <p:spPr>
          <a:xfrm>
            <a:off x="5052962" y="3294583"/>
            <a:ext cx="68909" cy="1478585"/>
          </a:xfrm>
          <a:prstGeom prst="rect">
            <a:avLst/>
          </a:prstGeom>
          <a:solidFill>
            <a:srgbClr val="6FA6E6"/>
          </a:solidFill>
          <a:ln/>
        </p:spPr>
      </p:sp>
      <p:sp>
        <p:nvSpPr>
          <p:cNvPr id="55" name="rect-53"/>
          <p:cNvSpPr/>
          <p:nvPr/>
        </p:nvSpPr>
        <p:spPr>
          <a:xfrm>
            <a:off x="5148669" y="3293815"/>
            <a:ext cx="68909" cy="1479353"/>
          </a:xfrm>
          <a:prstGeom prst="rect">
            <a:avLst/>
          </a:prstGeom>
          <a:solidFill>
            <a:srgbClr val="6FA6E6"/>
          </a:solidFill>
          <a:ln/>
        </p:spPr>
      </p:sp>
      <p:sp>
        <p:nvSpPr>
          <p:cNvPr id="56" name="rect-54"/>
          <p:cNvSpPr/>
          <p:nvPr/>
        </p:nvSpPr>
        <p:spPr>
          <a:xfrm>
            <a:off x="5244377" y="3556888"/>
            <a:ext cx="68909" cy="1216280"/>
          </a:xfrm>
          <a:prstGeom prst="rect">
            <a:avLst/>
          </a:prstGeom>
          <a:solidFill>
            <a:srgbClr val="F07A66"/>
          </a:solidFill>
          <a:ln/>
        </p:spPr>
      </p:sp>
      <p:sp>
        <p:nvSpPr>
          <p:cNvPr id="57" name="rect-55"/>
          <p:cNvSpPr/>
          <p:nvPr/>
        </p:nvSpPr>
        <p:spPr>
          <a:xfrm>
            <a:off x="5340084" y="3359871"/>
            <a:ext cx="68909" cy="1413297"/>
          </a:xfrm>
          <a:prstGeom prst="rect">
            <a:avLst/>
          </a:prstGeom>
          <a:solidFill>
            <a:srgbClr val="6FA6E6"/>
          </a:solidFill>
          <a:ln/>
        </p:spPr>
      </p:sp>
      <p:sp>
        <p:nvSpPr>
          <p:cNvPr id="58" name="rect-56"/>
          <p:cNvSpPr/>
          <p:nvPr/>
        </p:nvSpPr>
        <p:spPr>
          <a:xfrm>
            <a:off x="5435791" y="3269620"/>
            <a:ext cx="68909" cy="1503548"/>
          </a:xfrm>
          <a:prstGeom prst="rect">
            <a:avLst/>
          </a:prstGeom>
          <a:solidFill>
            <a:srgbClr val="6FA6E6"/>
          </a:solidFill>
          <a:ln/>
        </p:spPr>
      </p:sp>
      <p:sp>
        <p:nvSpPr>
          <p:cNvPr id="59" name="rect-57"/>
          <p:cNvSpPr/>
          <p:nvPr/>
        </p:nvSpPr>
        <p:spPr>
          <a:xfrm>
            <a:off x="5531498" y="3265012"/>
            <a:ext cx="68909" cy="1508156"/>
          </a:xfrm>
          <a:prstGeom prst="rect">
            <a:avLst/>
          </a:prstGeom>
          <a:solidFill>
            <a:srgbClr val="6FA6E6"/>
          </a:solidFill>
          <a:ln/>
        </p:spPr>
      </p:sp>
      <p:sp>
        <p:nvSpPr>
          <p:cNvPr id="60" name="rect-58"/>
          <p:cNvSpPr/>
          <p:nvPr/>
        </p:nvSpPr>
        <p:spPr>
          <a:xfrm>
            <a:off x="5627205" y="3249266"/>
            <a:ext cx="68909" cy="1523902"/>
          </a:xfrm>
          <a:prstGeom prst="rect">
            <a:avLst/>
          </a:prstGeom>
          <a:solidFill>
            <a:srgbClr val="6FA6E6"/>
          </a:solidFill>
          <a:ln/>
        </p:spPr>
      </p:sp>
      <p:sp>
        <p:nvSpPr>
          <p:cNvPr id="61" name="rect-59"/>
          <p:cNvSpPr/>
          <p:nvPr/>
        </p:nvSpPr>
        <p:spPr>
          <a:xfrm>
            <a:off x="5722913" y="3297656"/>
            <a:ext cx="68909" cy="1475512"/>
          </a:xfrm>
          <a:prstGeom prst="rect">
            <a:avLst/>
          </a:prstGeom>
          <a:solidFill>
            <a:srgbClr val="6FA6E6"/>
          </a:solidFill>
          <a:ln/>
        </p:spPr>
      </p:sp>
      <p:sp>
        <p:nvSpPr>
          <p:cNvPr id="62" name="rect-60"/>
          <p:cNvSpPr/>
          <p:nvPr/>
        </p:nvSpPr>
        <p:spPr>
          <a:xfrm>
            <a:off x="5818620" y="3420935"/>
            <a:ext cx="68909" cy="1352233"/>
          </a:xfrm>
          <a:prstGeom prst="rect">
            <a:avLst/>
          </a:prstGeom>
          <a:solidFill>
            <a:srgbClr val="6FA6E6"/>
          </a:solidFill>
          <a:ln/>
        </p:spPr>
      </p:sp>
      <p:sp>
        <p:nvSpPr>
          <p:cNvPr id="63" name="rect-61"/>
          <p:cNvSpPr/>
          <p:nvPr/>
        </p:nvSpPr>
        <p:spPr>
          <a:xfrm>
            <a:off x="5914327" y="3557656"/>
            <a:ext cx="68909" cy="1215512"/>
          </a:xfrm>
          <a:prstGeom prst="rect">
            <a:avLst/>
          </a:prstGeom>
          <a:solidFill>
            <a:srgbClr val="6FA6E6"/>
          </a:solidFill>
          <a:ln/>
        </p:spPr>
      </p:sp>
      <p:sp>
        <p:nvSpPr>
          <p:cNvPr id="64" name="rect-62"/>
          <p:cNvSpPr/>
          <p:nvPr/>
        </p:nvSpPr>
        <p:spPr>
          <a:xfrm>
            <a:off x="6010034" y="3466253"/>
            <a:ext cx="68909" cy="1306915"/>
          </a:xfrm>
          <a:prstGeom prst="rect">
            <a:avLst/>
          </a:prstGeom>
          <a:solidFill>
            <a:srgbClr val="F07A66"/>
          </a:solidFill>
          <a:ln/>
        </p:spPr>
      </p:sp>
      <p:sp>
        <p:nvSpPr>
          <p:cNvPr id="65" name="rect-63"/>
          <p:cNvSpPr/>
          <p:nvPr/>
        </p:nvSpPr>
        <p:spPr>
          <a:xfrm>
            <a:off x="6105741" y="3395204"/>
            <a:ext cx="68909" cy="1377964"/>
          </a:xfrm>
          <a:prstGeom prst="rect">
            <a:avLst/>
          </a:prstGeom>
          <a:solidFill>
            <a:srgbClr val="F07A66"/>
          </a:solidFill>
          <a:ln/>
        </p:spPr>
      </p:sp>
      <p:sp>
        <p:nvSpPr>
          <p:cNvPr id="66" name="rect-64"/>
          <p:cNvSpPr/>
          <p:nvPr/>
        </p:nvSpPr>
        <p:spPr>
          <a:xfrm>
            <a:off x="6201449" y="3354495"/>
            <a:ext cx="68909" cy="1418673"/>
          </a:xfrm>
          <a:prstGeom prst="rect">
            <a:avLst/>
          </a:prstGeom>
          <a:solidFill>
            <a:srgbClr val="F07A66"/>
          </a:solidFill>
          <a:ln/>
        </p:spPr>
      </p:sp>
      <p:sp>
        <p:nvSpPr>
          <p:cNvPr id="67" name="rect-65"/>
          <p:cNvSpPr/>
          <p:nvPr/>
        </p:nvSpPr>
        <p:spPr>
          <a:xfrm>
            <a:off x="6297156" y="3449355"/>
            <a:ext cx="68909" cy="1323813"/>
          </a:xfrm>
          <a:prstGeom prst="rect">
            <a:avLst/>
          </a:prstGeom>
          <a:solidFill>
            <a:srgbClr val="F07A66"/>
          </a:solidFill>
          <a:ln/>
        </p:spPr>
      </p:sp>
      <p:sp>
        <p:nvSpPr>
          <p:cNvPr id="68" name="rect-66"/>
          <p:cNvSpPr/>
          <p:nvPr/>
        </p:nvSpPr>
        <p:spPr>
          <a:xfrm>
            <a:off x="6392863" y="3392899"/>
            <a:ext cx="68909" cy="1380269"/>
          </a:xfrm>
          <a:prstGeom prst="rect">
            <a:avLst/>
          </a:prstGeom>
          <a:solidFill>
            <a:srgbClr val="F07A66"/>
          </a:solidFill>
          <a:ln/>
        </p:spPr>
      </p:sp>
      <p:sp>
        <p:nvSpPr>
          <p:cNvPr id="69" name="rect-67"/>
          <p:cNvSpPr/>
          <p:nvPr/>
        </p:nvSpPr>
        <p:spPr>
          <a:xfrm>
            <a:off x="6488570" y="3463180"/>
            <a:ext cx="68909" cy="1309988"/>
          </a:xfrm>
          <a:prstGeom prst="rect">
            <a:avLst/>
          </a:prstGeom>
          <a:solidFill>
            <a:srgbClr val="F07A66"/>
          </a:solidFill>
          <a:ln/>
        </p:spPr>
      </p:sp>
      <p:sp>
        <p:nvSpPr>
          <p:cNvPr id="70" name="rect-68"/>
          <p:cNvSpPr/>
          <p:nvPr/>
        </p:nvSpPr>
        <p:spPr>
          <a:xfrm>
            <a:off x="6584277" y="3347198"/>
            <a:ext cx="68909" cy="1425970"/>
          </a:xfrm>
          <a:prstGeom prst="rect">
            <a:avLst/>
          </a:prstGeom>
          <a:solidFill>
            <a:srgbClr val="6FA6E6"/>
          </a:solidFill>
          <a:ln/>
        </p:spPr>
      </p:sp>
      <p:sp>
        <p:nvSpPr>
          <p:cNvPr id="71" name="rect-69"/>
          <p:cNvSpPr/>
          <p:nvPr/>
        </p:nvSpPr>
        <p:spPr>
          <a:xfrm>
            <a:off x="6679985" y="3587996"/>
            <a:ext cx="68909" cy="1185172"/>
          </a:xfrm>
          <a:prstGeom prst="rect">
            <a:avLst/>
          </a:prstGeom>
          <a:solidFill>
            <a:srgbClr val="6FA6E6"/>
          </a:solidFill>
          <a:ln/>
        </p:spPr>
      </p:sp>
      <p:sp>
        <p:nvSpPr>
          <p:cNvPr id="72" name="rect-70"/>
          <p:cNvSpPr/>
          <p:nvPr/>
        </p:nvSpPr>
        <p:spPr>
          <a:xfrm>
            <a:off x="6775692" y="3359871"/>
            <a:ext cx="68909" cy="1413297"/>
          </a:xfrm>
          <a:prstGeom prst="rect">
            <a:avLst/>
          </a:prstGeom>
          <a:solidFill>
            <a:srgbClr val="6FA6E6"/>
          </a:solidFill>
          <a:ln/>
        </p:spPr>
      </p:sp>
      <p:sp>
        <p:nvSpPr>
          <p:cNvPr id="73" name="line-71"/>
          <p:cNvSpPr/>
          <p:nvPr/>
        </p:nvSpPr>
        <p:spPr>
          <a:xfrm>
            <a:off x="1115568" y="3287286"/>
            <a:ext cx="2871216" cy="0"/>
          </a:xfrm>
          <a:prstGeom prst="line">
            <a:avLst/>
          </a:prstGeom>
          <a:noFill/>
          <a:ln w="12700">
            <a:solidFill>
              <a:srgbClr val="A1ABB4"/>
            </a:solidFill>
            <a:prstDash val="dash"/>
          </a:ln>
        </p:spPr>
      </p:sp>
      <p:sp>
        <p:nvSpPr>
          <p:cNvPr id="74" name="line-72"/>
          <p:cNvSpPr/>
          <p:nvPr/>
        </p:nvSpPr>
        <p:spPr>
          <a:xfrm>
            <a:off x="3986784" y="3494672"/>
            <a:ext cx="2871216" cy="0"/>
          </a:xfrm>
          <a:prstGeom prst="line">
            <a:avLst/>
          </a:prstGeom>
          <a:noFill/>
          <a:ln w="12700">
            <a:solidFill>
              <a:srgbClr val="A1ABB4"/>
            </a:solidFill>
            <a:prstDash val="dash"/>
          </a:ln>
        </p:spPr>
      </p:sp>
      <p:sp>
        <p:nvSpPr>
          <p:cNvPr id="75" name="text-73"/>
          <p:cNvSpPr txBox="1"/>
          <p:nvPr/>
        </p:nvSpPr>
        <p:spPr>
          <a:xfrm>
            <a:off x="6931152" y="3140982"/>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Prior 88.7%</a:t>
            </a:r>
            <a:endParaRPr lang="en-US" sz="900" dirty="0"/>
          </a:p>
        </p:txBody>
      </p:sp>
      <p:sp>
        <p:nvSpPr>
          <p:cNvPr id="76" name="text-74"/>
          <p:cNvSpPr txBox="1"/>
          <p:nvPr/>
        </p:nvSpPr>
        <p:spPr>
          <a:xfrm>
            <a:off x="6931152" y="3476384"/>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Recent 83.3%</a:t>
            </a:r>
            <a:endParaRPr lang="en-US" sz="900" dirty="0"/>
          </a:p>
        </p:txBody>
      </p:sp>
      <p:sp>
        <p:nvSpPr>
          <p:cNvPr id="77" name="text-75"/>
          <p:cNvSpPr txBox="1"/>
          <p:nvPr/>
        </p:nvSpPr>
        <p:spPr>
          <a:xfrm>
            <a:off x="1115568" y="4846320"/>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Jul 25</a:t>
            </a:r>
            <a:endParaRPr lang="en-US" sz="900" dirty="0"/>
          </a:p>
        </p:txBody>
      </p:sp>
      <p:sp>
        <p:nvSpPr>
          <p:cNvPr id="78" name="text-76"/>
          <p:cNvSpPr txBox="1"/>
          <p:nvPr/>
        </p:nvSpPr>
        <p:spPr>
          <a:xfrm>
            <a:off x="3529584" y="4846320"/>
            <a:ext cx="914400" cy="182880"/>
          </a:xfrm>
          <a:prstGeom prst="rect">
            <a:avLst/>
          </a:prstGeom>
          <a:noFill/>
          <a:ln/>
        </p:spPr>
        <p:txBody>
          <a:bodyPr wrap="square" lIns="0" tIns="0" rIns="0" bIns="0" rtlCol="0" anchor="t"/>
          <a:lstStyle/>
          <a:p>
            <a:pPr algn="ctr" indent="0" marL="0">
              <a:buNone/>
            </a:pPr>
            <a:r>
              <a:rPr lang="en-US" sz="900" dirty="0">
                <a:solidFill>
                  <a:srgbClr val="A1ABB4"/>
                </a:solidFill>
                <a:latin typeface="Arial" pitchFamily="34" charset="0"/>
                <a:ea typeface="Arial" pitchFamily="34" charset="-122"/>
                <a:cs typeface="Arial" pitchFamily="34" charset="-120"/>
              </a:rPr>
              <a:t>Aug 24</a:t>
            </a:r>
            <a:endParaRPr lang="en-US" sz="900" dirty="0"/>
          </a:p>
        </p:txBody>
      </p:sp>
      <p:sp>
        <p:nvSpPr>
          <p:cNvPr id="79" name="text-77"/>
          <p:cNvSpPr txBox="1"/>
          <p:nvPr/>
        </p:nvSpPr>
        <p:spPr>
          <a:xfrm>
            <a:off x="5943600" y="4846320"/>
            <a:ext cx="914400"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Sep 22</a:t>
            </a:r>
            <a:endParaRPr lang="en-US" sz="900" dirty="0"/>
          </a:p>
        </p:txBody>
      </p:sp>
      <p:sp>
        <p:nvSpPr>
          <p:cNvPr id="80" name="rect-78"/>
          <p:cNvSpPr/>
          <p:nvPr/>
        </p:nvSpPr>
        <p:spPr>
          <a:xfrm>
            <a:off x="1115568" y="5029200"/>
            <a:ext cx="109728" cy="73152"/>
          </a:xfrm>
          <a:prstGeom prst="rect">
            <a:avLst/>
          </a:prstGeom>
          <a:solidFill>
            <a:srgbClr val="6FA6E6"/>
          </a:solidFill>
          <a:ln/>
        </p:spPr>
      </p:sp>
      <p:sp>
        <p:nvSpPr>
          <p:cNvPr id="81" name="text-79"/>
          <p:cNvSpPr txBox="1"/>
          <p:nvPr/>
        </p:nvSpPr>
        <p:spPr>
          <a:xfrm>
            <a:off x="1280160" y="4983480"/>
            <a:ext cx="128016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Daily pass rate</a:t>
            </a:r>
            <a:endParaRPr lang="en-US" sz="900" dirty="0"/>
          </a:p>
        </p:txBody>
      </p:sp>
      <p:sp>
        <p:nvSpPr>
          <p:cNvPr id="82" name="rect-80"/>
          <p:cNvSpPr/>
          <p:nvPr/>
        </p:nvSpPr>
        <p:spPr>
          <a:xfrm>
            <a:off x="2532888" y="5010912"/>
            <a:ext cx="109728" cy="109728"/>
          </a:xfrm>
          <a:prstGeom prst="rect">
            <a:avLst/>
          </a:prstGeom>
          <a:solidFill>
            <a:srgbClr val="F07A66"/>
          </a:solidFill>
          <a:ln/>
        </p:spPr>
      </p:sp>
      <p:sp>
        <p:nvSpPr>
          <p:cNvPr id="83" name="text-81"/>
          <p:cNvSpPr txBox="1"/>
          <p:nvPr/>
        </p:nvSpPr>
        <p:spPr>
          <a:xfrm>
            <a:off x="2697480" y="4983480"/>
            <a:ext cx="164592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Incident window day</a:t>
            </a:r>
            <a:endParaRPr lang="en-US" sz="900" dirty="0"/>
          </a:p>
        </p:txBody>
      </p:sp>
      <p:sp>
        <p:nvSpPr>
          <p:cNvPr id="84" name="rect-82"/>
          <p:cNvSpPr/>
          <p:nvPr/>
        </p:nvSpPr>
        <p:spPr>
          <a:xfrm>
            <a:off x="8074152" y="2286000"/>
            <a:ext cx="3568903" cy="2926080"/>
          </a:xfrm>
          <a:prstGeom prst="roundRect">
            <a:avLst>
              <a:gd name="adj" fmla="val 2500"/>
            </a:avLst>
          </a:prstGeom>
          <a:solidFill>
            <a:srgbClr val="181C20"/>
          </a:solidFill>
          <a:ln w="9525">
            <a:solidFill>
              <a:srgbClr val="2A3036"/>
            </a:solidFill>
            <a:prstDash val="solid"/>
          </a:ln>
        </p:spPr>
      </p:sp>
      <p:sp>
        <p:nvSpPr>
          <p:cNvPr id="85" name="text-83"/>
          <p:cNvSpPr txBox="1"/>
          <p:nvPr/>
        </p:nvSpPr>
        <p:spPr>
          <a:xfrm>
            <a:off x="8275320" y="2432304"/>
            <a:ext cx="3203143"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In this deck</a:t>
            </a:r>
            <a:endParaRPr lang="en-US" sz="1200" dirty="0"/>
          </a:p>
        </p:txBody>
      </p:sp>
      <p:sp>
        <p:nvSpPr>
          <p:cNvPr id="86" name="text-84"/>
          <p:cNvSpPr txBox="1"/>
          <p:nvPr/>
        </p:nvSpPr>
        <p:spPr>
          <a:xfrm>
            <a:off x="8275320" y="2816352"/>
            <a:ext cx="3203143" cy="2286000"/>
          </a:xfrm>
          <a:prstGeom prst="rect">
            <a:avLst/>
          </a:prstGeom>
          <a:noFill/>
          <a:ln/>
        </p:spPr>
        <p:txBody>
          <a:bodyPr wrap="square" lIns="0" tIns="0" rIns="0" bIns="0" rtlCol="0" anchor="t"/>
          <a:lstStyle/>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1.  The answer in seven points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2.  What we can and cannot measure</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3.  Why the rate fell</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4.  Short incidents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5.  Hypotheses and tests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6.  The plan in four tracks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7.  What we gain</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8.  Evidence appendix (A1–A11)</a:t>
            </a:r>
            <a:endParaRPr lang="en-US" sz="1100" dirty="0"/>
          </a:p>
        </p:txBody>
      </p:sp>
      <p:sp>
        <p:nvSpPr>
          <p:cNvPr id="87" name="rect-85"/>
          <p:cNvSpPr/>
          <p:nvPr/>
        </p:nvSpPr>
        <p:spPr>
          <a:xfrm>
            <a:off x="548640" y="5376672"/>
            <a:ext cx="3588410" cy="1207008"/>
          </a:xfrm>
          <a:prstGeom prst="roundRect">
            <a:avLst>
              <a:gd name="adj" fmla="val 6061"/>
            </a:avLst>
          </a:prstGeom>
          <a:solidFill>
            <a:srgbClr val="181C20"/>
          </a:solidFill>
          <a:ln w="9525">
            <a:solidFill>
              <a:srgbClr val="2A3036"/>
            </a:solidFill>
            <a:prstDash val="solid"/>
          </a:ln>
        </p:spPr>
      </p:sp>
      <p:sp>
        <p:nvSpPr>
          <p:cNvPr id="88" name="text-86"/>
          <p:cNvSpPr txBox="1"/>
          <p:nvPr/>
        </p:nvSpPr>
        <p:spPr>
          <a:xfrm>
            <a:off x="749808"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Pass rate change</a:t>
            </a:r>
            <a:endParaRPr lang="en-US" sz="1000" dirty="0"/>
          </a:p>
        </p:txBody>
      </p:sp>
      <p:sp>
        <p:nvSpPr>
          <p:cNvPr id="89" name="text-87"/>
          <p:cNvSpPr txBox="1"/>
          <p:nvPr/>
        </p:nvSpPr>
        <p:spPr>
          <a:xfrm>
            <a:off x="749808"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−5.4 pts</a:t>
            </a:r>
            <a:endParaRPr lang="en-US" sz="2400" dirty="0"/>
          </a:p>
        </p:txBody>
      </p:sp>
      <p:sp>
        <p:nvSpPr>
          <p:cNvPr id="90" name="text-88"/>
          <p:cNvSpPr txBox="1"/>
          <p:nvPr/>
        </p:nvSpPr>
        <p:spPr>
          <a:xfrm>
            <a:off x="749808"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88.7% → 83.3%, prior to recent 30 days</a:t>
            </a:r>
            <a:endParaRPr lang="en-US" sz="950" dirty="0"/>
          </a:p>
        </p:txBody>
      </p:sp>
      <p:sp>
        <p:nvSpPr>
          <p:cNvPr id="91" name="rect-89"/>
          <p:cNvSpPr/>
          <p:nvPr/>
        </p:nvSpPr>
        <p:spPr>
          <a:xfrm>
            <a:off x="4301642" y="5376672"/>
            <a:ext cx="3588410" cy="1207008"/>
          </a:xfrm>
          <a:prstGeom prst="roundRect">
            <a:avLst>
              <a:gd name="adj" fmla="val 6061"/>
            </a:avLst>
          </a:prstGeom>
          <a:solidFill>
            <a:srgbClr val="181C20"/>
          </a:solidFill>
          <a:ln w="9525">
            <a:solidFill>
              <a:srgbClr val="2A3036"/>
            </a:solidFill>
            <a:prstDash val="solid"/>
          </a:ln>
        </p:spPr>
      </p:sp>
      <p:sp>
        <p:nvSpPr>
          <p:cNvPr id="92" name="text-90"/>
          <p:cNvSpPr txBox="1"/>
          <p:nvPr/>
        </p:nvSpPr>
        <p:spPr>
          <a:xfrm>
            <a:off x="4502810"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Approvals</a:t>
            </a:r>
            <a:endParaRPr lang="en-US" sz="1000" dirty="0"/>
          </a:p>
        </p:txBody>
      </p:sp>
      <p:sp>
        <p:nvSpPr>
          <p:cNvPr id="93" name="text-91"/>
          <p:cNvSpPr txBox="1"/>
          <p:nvPr/>
        </p:nvSpPr>
        <p:spPr>
          <a:xfrm>
            <a:off x="4502810"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−12.3%</a:t>
            </a:r>
            <a:endParaRPr lang="en-US" sz="2400" dirty="0"/>
          </a:p>
        </p:txBody>
      </p:sp>
      <p:sp>
        <p:nvSpPr>
          <p:cNvPr id="94" name="text-92"/>
          <p:cNvSpPr txBox="1"/>
          <p:nvPr/>
        </p:nvSpPr>
        <p:spPr>
          <a:xfrm>
            <a:off x="4502810"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2,945 fewer: 54% from fewer decisions, 46% from the lower rate</a:t>
            </a:r>
            <a:endParaRPr lang="en-US" sz="950" dirty="0"/>
          </a:p>
        </p:txBody>
      </p:sp>
      <p:sp>
        <p:nvSpPr>
          <p:cNvPr id="95" name="rect-93"/>
          <p:cNvSpPr/>
          <p:nvPr/>
        </p:nvSpPr>
        <p:spPr>
          <a:xfrm>
            <a:off x="8054645" y="5376672"/>
            <a:ext cx="3588410" cy="1207008"/>
          </a:xfrm>
          <a:prstGeom prst="roundRect">
            <a:avLst>
              <a:gd name="adj" fmla="val 6061"/>
            </a:avLst>
          </a:prstGeom>
          <a:solidFill>
            <a:srgbClr val="181C20"/>
          </a:solidFill>
          <a:ln w="9525">
            <a:solidFill>
              <a:srgbClr val="2A3036"/>
            </a:solidFill>
            <a:prstDash val="solid"/>
          </a:ln>
        </p:spPr>
      </p:sp>
      <p:sp>
        <p:nvSpPr>
          <p:cNvPr id="96" name="text-94"/>
          <p:cNvSpPr txBox="1"/>
          <p:nvPr/>
        </p:nvSpPr>
        <p:spPr>
          <a:xfrm>
            <a:off x="8255813"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Short incidents</a:t>
            </a:r>
            <a:endParaRPr lang="en-US" sz="1000" dirty="0"/>
          </a:p>
        </p:txBody>
      </p:sp>
      <p:sp>
        <p:nvSpPr>
          <p:cNvPr id="97" name="text-95"/>
          <p:cNvSpPr txBox="1"/>
          <p:nvPr/>
        </p:nvSpPr>
        <p:spPr>
          <a:xfrm>
            <a:off x="8255813"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≈1,057</a:t>
            </a:r>
            <a:endParaRPr lang="en-US" sz="2400" dirty="0"/>
          </a:p>
        </p:txBody>
      </p:sp>
      <p:sp>
        <p:nvSpPr>
          <p:cNvPr id="98" name="text-96"/>
          <p:cNvSpPr txBox="1"/>
          <p:nvPr/>
        </p:nvSpPr>
        <p:spPr>
          <a:xfrm>
            <a:off x="8255813"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failures above baseline in four date windows; causes not confirmed</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1C2126"/>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Approval among recorded decisions, by day, document country and failed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1C2126"/>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Pass rate 88.7% → 83.3% (−5.4 pp, 6.1% relative). Approvals 12.3% fewer (−2,945): 54% of that from fewer decisions, 46%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1C2126"/>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1C2126"/>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1C2126"/>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Instrument the funnel and hold and retry execution errors. Alert per reason code. Reconcile control findings and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1C2126"/>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1C2126"/>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Acceptance criteria per action; experiments on eventual approval per person within 7 days. Scenarios for repeated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EEF3FA"/>
          </a:solidFill>
          <a:ln w="9525">
            <a:solidFill>
              <a:srgbClr val="D3E0F2"/>
            </a:solidFill>
            <a:prstDash val="solid"/>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1C2126"/>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9636D"/>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9636D"/>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9636D"/>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Do not read the approval rate as completion. People who never submit, and approvals after retry or review, are not 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FFFFF"/>
          </a:solidFill>
          <a:ln w="9525">
            <a:solidFill>
              <a:srgbClr val="DFE3E7"/>
            </a:solidFill>
            <a:prstDash val="solid"/>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FFFFF"/>
          </a:solidFill>
          <a:ln w="9525">
            <a:solidFill>
              <a:srgbClr val="DFE3E7"/>
            </a:solidFill>
            <a:prstDash val="solid"/>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FFFFF"/>
          </a:solidFill>
          <a:ln w="9525">
            <a:solidFill>
              <a:srgbClr val="DFE3E7"/>
            </a:solidFill>
            <a:prstDash val="solid"/>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FFFFF"/>
          </a:solidFill>
          <a:ln w="9525">
            <a:solidFill>
              <a:srgbClr val="DFE3E7"/>
            </a:solidFill>
            <a:prstDash val="solid"/>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FE3E7"/>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FE3E7"/>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FE3E7"/>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FE3E7"/>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2F6DB3"/>
          </a:solidFill>
          <a:ln/>
        </p:spPr>
      </p:sp>
      <p:sp>
        <p:nvSpPr>
          <p:cNvPr id="25" name="rect-23"/>
          <p:cNvSpPr/>
          <p:nvPr/>
        </p:nvSpPr>
        <p:spPr>
          <a:xfrm>
            <a:off x="5049515" y="2568961"/>
            <a:ext cx="80464" cy="2688839"/>
          </a:xfrm>
          <a:prstGeom prst="rect">
            <a:avLst/>
          </a:prstGeom>
          <a:solidFill>
            <a:srgbClr val="2F6DB3"/>
          </a:solidFill>
          <a:ln/>
        </p:spPr>
      </p:sp>
      <p:sp>
        <p:nvSpPr>
          <p:cNvPr id="26" name="rect-24"/>
          <p:cNvSpPr/>
          <p:nvPr/>
        </p:nvSpPr>
        <p:spPr>
          <a:xfrm>
            <a:off x="5161270" y="2629952"/>
            <a:ext cx="80464" cy="2627848"/>
          </a:xfrm>
          <a:prstGeom prst="rect">
            <a:avLst/>
          </a:prstGeom>
          <a:solidFill>
            <a:srgbClr val="2F6DB3"/>
          </a:solidFill>
          <a:ln/>
        </p:spPr>
      </p:sp>
      <p:sp>
        <p:nvSpPr>
          <p:cNvPr id="27" name="rect-25"/>
          <p:cNvSpPr/>
          <p:nvPr/>
        </p:nvSpPr>
        <p:spPr>
          <a:xfrm>
            <a:off x="5273025" y="2888110"/>
            <a:ext cx="80464" cy="2369690"/>
          </a:xfrm>
          <a:prstGeom prst="rect">
            <a:avLst/>
          </a:prstGeom>
          <a:solidFill>
            <a:srgbClr val="2F6DB3"/>
          </a:solidFill>
          <a:ln/>
        </p:spPr>
      </p:sp>
      <p:sp>
        <p:nvSpPr>
          <p:cNvPr id="28" name="rect-26"/>
          <p:cNvSpPr/>
          <p:nvPr/>
        </p:nvSpPr>
        <p:spPr>
          <a:xfrm>
            <a:off x="5384780" y="2805036"/>
            <a:ext cx="80464" cy="2452764"/>
          </a:xfrm>
          <a:prstGeom prst="rect">
            <a:avLst/>
          </a:prstGeom>
          <a:solidFill>
            <a:srgbClr val="2F6DB3"/>
          </a:solidFill>
          <a:ln/>
        </p:spPr>
      </p:sp>
      <p:sp>
        <p:nvSpPr>
          <p:cNvPr id="29" name="rect-27"/>
          <p:cNvSpPr/>
          <p:nvPr/>
        </p:nvSpPr>
        <p:spPr>
          <a:xfrm>
            <a:off x="5496535" y="2715654"/>
            <a:ext cx="80464" cy="2542146"/>
          </a:xfrm>
          <a:prstGeom prst="rect">
            <a:avLst/>
          </a:prstGeom>
          <a:solidFill>
            <a:srgbClr val="2F6DB3"/>
          </a:solidFill>
          <a:ln/>
        </p:spPr>
      </p:sp>
      <p:sp>
        <p:nvSpPr>
          <p:cNvPr id="30" name="rect-28"/>
          <p:cNvSpPr/>
          <p:nvPr/>
        </p:nvSpPr>
        <p:spPr>
          <a:xfrm>
            <a:off x="5608290" y="2708293"/>
            <a:ext cx="80464" cy="2549507"/>
          </a:xfrm>
          <a:prstGeom prst="rect">
            <a:avLst/>
          </a:prstGeom>
          <a:solidFill>
            <a:srgbClr val="2F6DB3"/>
          </a:solidFill>
          <a:ln/>
        </p:spPr>
      </p:sp>
      <p:sp>
        <p:nvSpPr>
          <p:cNvPr id="31" name="rect-29"/>
          <p:cNvSpPr/>
          <p:nvPr/>
        </p:nvSpPr>
        <p:spPr>
          <a:xfrm>
            <a:off x="5720044" y="2576848"/>
            <a:ext cx="80464" cy="2680952"/>
          </a:xfrm>
          <a:prstGeom prst="rect">
            <a:avLst/>
          </a:prstGeom>
          <a:solidFill>
            <a:srgbClr val="2F6DB3"/>
          </a:solidFill>
          <a:ln/>
        </p:spPr>
      </p:sp>
      <p:sp>
        <p:nvSpPr>
          <p:cNvPr id="32" name="rect-30"/>
          <p:cNvSpPr/>
          <p:nvPr/>
        </p:nvSpPr>
        <p:spPr>
          <a:xfrm>
            <a:off x="5831799" y="2737211"/>
            <a:ext cx="80464" cy="2520589"/>
          </a:xfrm>
          <a:prstGeom prst="rect">
            <a:avLst/>
          </a:prstGeom>
          <a:solidFill>
            <a:srgbClr val="2F6DB3"/>
          </a:solidFill>
          <a:ln/>
        </p:spPr>
      </p:sp>
      <p:sp>
        <p:nvSpPr>
          <p:cNvPr id="33" name="rect-31"/>
          <p:cNvSpPr/>
          <p:nvPr/>
        </p:nvSpPr>
        <p:spPr>
          <a:xfrm>
            <a:off x="5943554" y="2740365"/>
            <a:ext cx="80464" cy="2517435"/>
          </a:xfrm>
          <a:prstGeom prst="rect">
            <a:avLst/>
          </a:prstGeom>
          <a:solidFill>
            <a:srgbClr val="2F6DB3"/>
          </a:solidFill>
          <a:ln/>
        </p:spPr>
      </p:sp>
      <p:sp>
        <p:nvSpPr>
          <p:cNvPr id="34" name="rect-32"/>
          <p:cNvSpPr/>
          <p:nvPr/>
        </p:nvSpPr>
        <p:spPr>
          <a:xfrm>
            <a:off x="6055309" y="2815026"/>
            <a:ext cx="80464" cy="2442774"/>
          </a:xfrm>
          <a:prstGeom prst="rect">
            <a:avLst/>
          </a:prstGeom>
          <a:solidFill>
            <a:srgbClr val="2F6DB3"/>
          </a:solidFill>
          <a:ln/>
        </p:spPr>
      </p:sp>
      <p:sp>
        <p:nvSpPr>
          <p:cNvPr id="35" name="rect-33"/>
          <p:cNvSpPr/>
          <p:nvPr/>
        </p:nvSpPr>
        <p:spPr>
          <a:xfrm>
            <a:off x="6167064" y="2602611"/>
            <a:ext cx="80464" cy="2655189"/>
          </a:xfrm>
          <a:prstGeom prst="rect">
            <a:avLst/>
          </a:prstGeom>
          <a:solidFill>
            <a:srgbClr val="2F6DB3"/>
          </a:solidFill>
          <a:ln/>
        </p:spPr>
      </p:sp>
      <p:sp>
        <p:nvSpPr>
          <p:cNvPr id="36" name="rect-34"/>
          <p:cNvSpPr/>
          <p:nvPr/>
        </p:nvSpPr>
        <p:spPr>
          <a:xfrm>
            <a:off x="6278819" y="2621013"/>
            <a:ext cx="80464" cy="2636787"/>
          </a:xfrm>
          <a:prstGeom prst="rect">
            <a:avLst/>
          </a:prstGeom>
          <a:solidFill>
            <a:srgbClr val="2F6DB3"/>
          </a:solidFill>
          <a:ln/>
        </p:spPr>
      </p:sp>
      <p:sp>
        <p:nvSpPr>
          <p:cNvPr id="37" name="rect-35"/>
          <p:cNvSpPr/>
          <p:nvPr/>
        </p:nvSpPr>
        <p:spPr>
          <a:xfrm>
            <a:off x="6390574" y="2664127"/>
            <a:ext cx="80464" cy="2593673"/>
          </a:xfrm>
          <a:prstGeom prst="rect">
            <a:avLst/>
          </a:prstGeom>
          <a:solidFill>
            <a:srgbClr val="2F6DB3"/>
          </a:solidFill>
          <a:ln/>
        </p:spPr>
      </p:sp>
      <p:sp>
        <p:nvSpPr>
          <p:cNvPr id="38" name="rect-36"/>
          <p:cNvSpPr/>
          <p:nvPr/>
        </p:nvSpPr>
        <p:spPr>
          <a:xfrm>
            <a:off x="6502329" y="2725118"/>
            <a:ext cx="80464" cy="2532682"/>
          </a:xfrm>
          <a:prstGeom prst="rect">
            <a:avLst/>
          </a:prstGeom>
          <a:solidFill>
            <a:srgbClr val="2F6DB3"/>
          </a:solidFill>
          <a:ln/>
        </p:spPr>
      </p:sp>
      <p:sp>
        <p:nvSpPr>
          <p:cNvPr id="39" name="rect-37"/>
          <p:cNvSpPr/>
          <p:nvPr/>
        </p:nvSpPr>
        <p:spPr>
          <a:xfrm>
            <a:off x="6614084" y="2701458"/>
            <a:ext cx="80464" cy="2556342"/>
          </a:xfrm>
          <a:prstGeom prst="rect">
            <a:avLst/>
          </a:prstGeom>
          <a:solidFill>
            <a:srgbClr val="2F6DB3"/>
          </a:solidFill>
          <a:ln/>
        </p:spPr>
      </p:sp>
      <p:sp>
        <p:nvSpPr>
          <p:cNvPr id="40" name="rect-38"/>
          <p:cNvSpPr/>
          <p:nvPr/>
        </p:nvSpPr>
        <p:spPr>
          <a:xfrm>
            <a:off x="6725839" y="2697777"/>
            <a:ext cx="80464" cy="2560023"/>
          </a:xfrm>
          <a:prstGeom prst="rect">
            <a:avLst/>
          </a:prstGeom>
          <a:solidFill>
            <a:srgbClr val="2F6DB3"/>
          </a:solidFill>
          <a:ln/>
        </p:spPr>
      </p:sp>
      <p:sp>
        <p:nvSpPr>
          <p:cNvPr id="41" name="rect-39"/>
          <p:cNvSpPr/>
          <p:nvPr/>
        </p:nvSpPr>
        <p:spPr>
          <a:xfrm>
            <a:off x="6837594" y="2727221"/>
            <a:ext cx="80464" cy="2530579"/>
          </a:xfrm>
          <a:prstGeom prst="rect">
            <a:avLst/>
          </a:prstGeom>
          <a:solidFill>
            <a:srgbClr val="2F6DB3"/>
          </a:solidFill>
          <a:ln/>
        </p:spPr>
      </p:sp>
      <p:sp>
        <p:nvSpPr>
          <p:cNvPr id="42" name="rect-40"/>
          <p:cNvSpPr/>
          <p:nvPr/>
        </p:nvSpPr>
        <p:spPr>
          <a:xfrm>
            <a:off x="6949349" y="2681478"/>
            <a:ext cx="80464" cy="2576322"/>
          </a:xfrm>
          <a:prstGeom prst="rect">
            <a:avLst/>
          </a:prstGeom>
          <a:solidFill>
            <a:srgbClr val="2F6DB3"/>
          </a:solidFill>
          <a:ln/>
        </p:spPr>
      </p:sp>
      <p:sp>
        <p:nvSpPr>
          <p:cNvPr id="43" name="rect-41"/>
          <p:cNvSpPr/>
          <p:nvPr/>
        </p:nvSpPr>
        <p:spPr>
          <a:xfrm>
            <a:off x="7061103" y="2767180"/>
            <a:ext cx="80464" cy="2490620"/>
          </a:xfrm>
          <a:prstGeom prst="rect">
            <a:avLst/>
          </a:prstGeom>
          <a:solidFill>
            <a:srgbClr val="2F6DB3"/>
          </a:solidFill>
          <a:ln/>
        </p:spPr>
      </p:sp>
      <p:sp>
        <p:nvSpPr>
          <p:cNvPr id="44" name="rect-42"/>
          <p:cNvSpPr/>
          <p:nvPr/>
        </p:nvSpPr>
        <p:spPr>
          <a:xfrm>
            <a:off x="7172858" y="2589466"/>
            <a:ext cx="80464" cy="2668334"/>
          </a:xfrm>
          <a:prstGeom prst="rect">
            <a:avLst/>
          </a:prstGeom>
          <a:solidFill>
            <a:srgbClr val="2F6DB3"/>
          </a:solidFill>
          <a:ln/>
        </p:spPr>
      </p:sp>
      <p:sp>
        <p:nvSpPr>
          <p:cNvPr id="45" name="rect-43"/>
          <p:cNvSpPr/>
          <p:nvPr/>
        </p:nvSpPr>
        <p:spPr>
          <a:xfrm>
            <a:off x="7284613" y="2633632"/>
            <a:ext cx="80464" cy="2624168"/>
          </a:xfrm>
          <a:prstGeom prst="rect">
            <a:avLst/>
          </a:prstGeom>
          <a:solidFill>
            <a:srgbClr val="2F6DB3"/>
          </a:solidFill>
          <a:ln/>
        </p:spPr>
      </p:sp>
      <p:sp>
        <p:nvSpPr>
          <p:cNvPr id="46" name="rect-44"/>
          <p:cNvSpPr/>
          <p:nvPr/>
        </p:nvSpPr>
        <p:spPr>
          <a:xfrm>
            <a:off x="7396368" y="2640467"/>
            <a:ext cx="80464" cy="2617333"/>
          </a:xfrm>
          <a:prstGeom prst="rect">
            <a:avLst/>
          </a:prstGeom>
          <a:solidFill>
            <a:srgbClr val="2F6DB3"/>
          </a:solidFill>
          <a:ln/>
        </p:spPr>
      </p:sp>
      <p:sp>
        <p:nvSpPr>
          <p:cNvPr id="47" name="rect-45"/>
          <p:cNvSpPr/>
          <p:nvPr/>
        </p:nvSpPr>
        <p:spPr>
          <a:xfrm>
            <a:off x="7508123" y="2756665"/>
            <a:ext cx="80464" cy="2501135"/>
          </a:xfrm>
          <a:prstGeom prst="rect">
            <a:avLst/>
          </a:prstGeom>
          <a:solidFill>
            <a:srgbClr val="2F6DB3"/>
          </a:solidFill>
          <a:ln/>
        </p:spPr>
      </p:sp>
      <p:sp>
        <p:nvSpPr>
          <p:cNvPr id="48" name="rect-46"/>
          <p:cNvSpPr/>
          <p:nvPr/>
        </p:nvSpPr>
        <p:spPr>
          <a:xfrm>
            <a:off x="7619878" y="2674643"/>
            <a:ext cx="80464" cy="2583157"/>
          </a:xfrm>
          <a:prstGeom prst="rect">
            <a:avLst/>
          </a:prstGeom>
          <a:solidFill>
            <a:srgbClr val="2F6DB3"/>
          </a:solidFill>
          <a:ln/>
        </p:spPr>
      </p:sp>
      <p:sp>
        <p:nvSpPr>
          <p:cNvPr id="49" name="rect-47"/>
          <p:cNvSpPr/>
          <p:nvPr/>
        </p:nvSpPr>
        <p:spPr>
          <a:xfrm>
            <a:off x="7731633" y="2791366"/>
            <a:ext cx="80464" cy="2466434"/>
          </a:xfrm>
          <a:prstGeom prst="rect">
            <a:avLst/>
          </a:prstGeom>
          <a:solidFill>
            <a:srgbClr val="2F6DB3"/>
          </a:solidFill>
          <a:ln/>
        </p:spPr>
      </p:sp>
      <p:sp>
        <p:nvSpPr>
          <p:cNvPr id="50" name="rect-48"/>
          <p:cNvSpPr/>
          <p:nvPr/>
        </p:nvSpPr>
        <p:spPr>
          <a:xfrm>
            <a:off x="7843388" y="2880223"/>
            <a:ext cx="80464" cy="2377577"/>
          </a:xfrm>
          <a:prstGeom prst="rect">
            <a:avLst/>
          </a:prstGeom>
          <a:solidFill>
            <a:srgbClr val="2F6DB3"/>
          </a:solidFill>
          <a:ln/>
        </p:spPr>
      </p:sp>
      <p:sp>
        <p:nvSpPr>
          <p:cNvPr id="51" name="rect-49"/>
          <p:cNvSpPr/>
          <p:nvPr/>
        </p:nvSpPr>
        <p:spPr>
          <a:xfrm>
            <a:off x="7955143" y="2581580"/>
            <a:ext cx="80464" cy="2676220"/>
          </a:xfrm>
          <a:prstGeom prst="rect">
            <a:avLst/>
          </a:prstGeom>
          <a:solidFill>
            <a:srgbClr val="2F6DB3"/>
          </a:solidFill>
          <a:ln/>
        </p:spPr>
      </p:sp>
      <p:sp>
        <p:nvSpPr>
          <p:cNvPr id="52" name="rect-50"/>
          <p:cNvSpPr/>
          <p:nvPr/>
        </p:nvSpPr>
        <p:spPr>
          <a:xfrm>
            <a:off x="8066898" y="2775593"/>
            <a:ext cx="80464" cy="2482207"/>
          </a:xfrm>
          <a:prstGeom prst="rect">
            <a:avLst/>
          </a:prstGeom>
          <a:solidFill>
            <a:srgbClr val="2F6DB3"/>
          </a:solidFill>
          <a:ln/>
        </p:spPr>
      </p:sp>
      <p:sp>
        <p:nvSpPr>
          <p:cNvPr id="53" name="rect-51"/>
          <p:cNvSpPr/>
          <p:nvPr/>
        </p:nvSpPr>
        <p:spPr>
          <a:xfrm>
            <a:off x="8178653" y="2638890"/>
            <a:ext cx="80464" cy="2618910"/>
          </a:xfrm>
          <a:prstGeom prst="rect">
            <a:avLst/>
          </a:prstGeom>
          <a:solidFill>
            <a:srgbClr val="2F6DB3"/>
          </a:solidFill>
          <a:ln/>
        </p:spPr>
      </p:sp>
      <p:sp>
        <p:nvSpPr>
          <p:cNvPr id="54" name="rect-52"/>
          <p:cNvSpPr/>
          <p:nvPr/>
        </p:nvSpPr>
        <p:spPr>
          <a:xfrm>
            <a:off x="8290408" y="4310870"/>
            <a:ext cx="80464" cy="946930"/>
          </a:xfrm>
          <a:prstGeom prst="rect">
            <a:avLst/>
          </a:prstGeom>
          <a:solidFill>
            <a:srgbClr val="C63F2B"/>
          </a:solidFill>
          <a:ln/>
        </p:spPr>
      </p:sp>
      <p:sp>
        <p:nvSpPr>
          <p:cNvPr id="55" name="rect-53"/>
          <p:cNvSpPr/>
          <p:nvPr/>
        </p:nvSpPr>
        <p:spPr>
          <a:xfrm>
            <a:off x="8402163" y="2628374"/>
            <a:ext cx="80464" cy="2629426"/>
          </a:xfrm>
          <a:prstGeom prst="rect">
            <a:avLst/>
          </a:prstGeom>
          <a:solidFill>
            <a:srgbClr val="2F6DB3"/>
          </a:solidFill>
          <a:ln/>
        </p:spPr>
      </p:sp>
      <p:sp>
        <p:nvSpPr>
          <p:cNvPr id="56" name="rect-54"/>
          <p:cNvSpPr/>
          <p:nvPr/>
        </p:nvSpPr>
        <p:spPr>
          <a:xfrm>
            <a:off x="8513917" y="2642570"/>
            <a:ext cx="80464" cy="2615230"/>
          </a:xfrm>
          <a:prstGeom prst="rect">
            <a:avLst/>
          </a:prstGeom>
          <a:solidFill>
            <a:srgbClr val="2F6DB3"/>
          </a:solidFill>
          <a:ln/>
        </p:spPr>
      </p:sp>
      <p:sp>
        <p:nvSpPr>
          <p:cNvPr id="57" name="rect-55"/>
          <p:cNvSpPr/>
          <p:nvPr/>
        </p:nvSpPr>
        <p:spPr>
          <a:xfrm>
            <a:off x="8625672" y="2788211"/>
            <a:ext cx="80464" cy="2469589"/>
          </a:xfrm>
          <a:prstGeom prst="rect">
            <a:avLst/>
          </a:prstGeom>
          <a:solidFill>
            <a:srgbClr val="2F6DB3"/>
          </a:solidFill>
          <a:ln/>
        </p:spPr>
      </p:sp>
      <p:sp>
        <p:nvSpPr>
          <p:cNvPr id="58" name="rect-56"/>
          <p:cNvSpPr/>
          <p:nvPr/>
        </p:nvSpPr>
        <p:spPr>
          <a:xfrm>
            <a:off x="8737427" y="2725644"/>
            <a:ext cx="80464" cy="2532156"/>
          </a:xfrm>
          <a:prstGeom prst="rect">
            <a:avLst/>
          </a:prstGeom>
          <a:solidFill>
            <a:srgbClr val="2F6DB3"/>
          </a:solidFill>
          <a:ln/>
        </p:spPr>
      </p:sp>
      <p:sp>
        <p:nvSpPr>
          <p:cNvPr id="59" name="rect-57"/>
          <p:cNvSpPr/>
          <p:nvPr/>
        </p:nvSpPr>
        <p:spPr>
          <a:xfrm>
            <a:off x="8849182" y="2838160"/>
            <a:ext cx="80464" cy="2419640"/>
          </a:xfrm>
          <a:prstGeom prst="rect">
            <a:avLst/>
          </a:prstGeom>
          <a:solidFill>
            <a:srgbClr val="2F6DB3"/>
          </a:solidFill>
          <a:ln/>
        </p:spPr>
      </p:sp>
      <p:sp>
        <p:nvSpPr>
          <p:cNvPr id="60" name="rect-58"/>
          <p:cNvSpPr/>
          <p:nvPr/>
        </p:nvSpPr>
        <p:spPr>
          <a:xfrm>
            <a:off x="8960937" y="2704612"/>
            <a:ext cx="80464" cy="2553188"/>
          </a:xfrm>
          <a:prstGeom prst="rect">
            <a:avLst/>
          </a:prstGeom>
          <a:solidFill>
            <a:srgbClr val="2F6DB3"/>
          </a:solidFill>
          <a:ln/>
        </p:spPr>
      </p:sp>
      <p:sp>
        <p:nvSpPr>
          <p:cNvPr id="61" name="rect-59"/>
          <p:cNvSpPr/>
          <p:nvPr/>
        </p:nvSpPr>
        <p:spPr>
          <a:xfrm>
            <a:off x="9072692" y="2668334"/>
            <a:ext cx="80464" cy="2589467"/>
          </a:xfrm>
          <a:prstGeom prst="rect">
            <a:avLst/>
          </a:prstGeom>
          <a:solidFill>
            <a:srgbClr val="2F6DB3"/>
          </a:solidFill>
          <a:ln/>
        </p:spPr>
      </p:sp>
      <p:sp>
        <p:nvSpPr>
          <p:cNvPr id="62" name="rect-60"/>
          <p:cNvSpPr/>
          <p:nvPr/>
        </p:nvSpPr>
        <p:spPr>
          <a:xfrm>
            <a:off x="9184447" y="3670996"/>
            <a:ext cx="80464" cy="1586804"/>
          </a:xfrm>
          <a:prstGeom prst="rect">
            <a:avLst/>
          </a:prstGeom>
          <a:solidFill>
            <a:srgbClr val="C63F2B"/>
          </a:solidFill>
          <a:ln/>
        </p:spPr>
      </p:sp>
      <p:sp>
        <p:nvSpPr>
          <p:cNvPr id="63" name="rect-61"/>
          <p:cNvSpPr/>
          <p:nvPr/>
        </p:nvSpPr>
        <p:spPr>
          <a:xfrm>
            <a:off x="9296202" y="4601101"/>
            <a:ext cx="80464" cy="656699"/>
          </a:xfrm>
          <a:prstGeom prst="rect">
            <a:avLst/>
          </a:prstGeom>
          <a:solidFill>
            <a:srgbClr val="C63F2B"/>
          </a:solidFill>
          <a:ln/>
        </p:spPr>
      </p:sp>
      <p:sp>
        <p:nvSpPr>
          <p:cNvPr id="64" name="rect-62"/>
          <p:cNvSpPr/>
          <p:nvPr/>
        </p:nvSpPr>
        <p:spPr>
          <a:xfrm>
            <a:off x="9407957" y="2893367"/>
            <a:ext cx="80464" cy="2364433"/>
          </a:xfrm>
          <a:prstGeom prst="rect">
            <a:avLst/>
          </a:prstGeom>
          <a:solidFill>
            <a:srgbClr val="2F6DB3"/>
          </a:solidFill>
          <a:ln/>
        </p:spPr>
      </p:sp>
      <p:sp>
        <p:nvSpPr>
          <p:cNvPr id="65" name="rect-63"/>
          <p:cNvSpPr/>
          <p:nvPr/>
        </p:nvSpPr>
        <p:spPr>
          <a:xfrm>
            <a:off x="9519712" y="2707767"/>
            <a:ext cx="80464" cy="2550033"/>
          </a:xfrm>
          <a:prstGeom prst="rect">
            <a:avLst/>
          </a:prstGeom>
          <a:solidFill>
            <a:srgbClr val="2F6DB3"/>
          </a:solidFill>
          <a:ln/>
        </p:spPr>
      </p:sp>
      <p:sp>
        <p:nvSpPr>
          <p:cNvPr id="66" name="rect-64"/>
          <p:cNvSpPr/>
          <p:nvPr/>
        </p:nvSpPr>
        <p:spPr>
          <a:xfrm>
            <a:off x="9631467" y="2706715"/>
            <a:ext cx="80464" cy="2551085"/>
          </a:xfrm>
          <a:prstGeom prst="rect">
            <a:avLst/>
          </a:prstGeom>
          <a:solidFill>
            <a:srgbClr val="2F6DB3"/>
          </a:solidFill>
          <a:ln/>
        </p:spPr>
      </p:sp>
      <p:sp>
        <p:nvSpPr>
          <p:cNvPr id="67" name="rect-65"/>
          <p:cNvSpPr/>
          <p:nvPr/>
        </p:nvSpPr>
        <p:spPr>
          <a:xfrm>
            <a:off x="9743222" y="3066875"/>
            <a:ext cx="80464" cy="2190925"/>
          </a:xfrm>
          <a:prstGeom prst="rect">
            <a:avLst/>
          </a:prstGeom>
          <a:solidFill>
            <a:srgbClr val="C63F2B"/>
          </a:solidFill>
          <a:ln/>
        </p:spPr>
      </p:sp>
      <p:sp>
        <p:nvSpPr>
          <p:cNvPr id="68" name="rect-66"/>
          <p:cNvSpPr/>
          <p:nvPr/>
        </p:nvSpPr>
        <p:spPr>
          <a:xfrm>
            <a:off x="9854976" y="2797150"/>
            <a:ext cx="80464" cy="2460650"/>
          </a:xfrm>
          <a:prstGeom prst="rect">
            <a:avLst/>
          </a:prstGeom>
          <a:solidFill>
            <a:srgbClr val="2F6DB3"/>
          </a:solidFill>
          <a:ln/>
        </p:spPr>
      </p:sp>
      <p:sp>
        <p:nvSpPr>
          <p:cNvPr id="69" name="rect-67"/>
          <p:cNvSpPr/>
          <p:nvPr/>
        </p:nvSpPr>
        <p:spPr>
          <a:xfrm>
            <a:off x="9966731" y="2673591"/>
            <a:ext cx="80464" cy="2584209"/>
          </a:xfrm>
          <a:prstGeom prst="rect">
            <a:avLst/>
          </a:prstGeom>
          <a:solidFill>
            <a:srgbClr val="2F6DB3"/>
          </a:solidFill>
          <a:ln/>
        </p:spPr>
      </p:sp>
      <p:sp>
        <p:nvSpPr>
          <p:cNvPr id="70" name="rect-68"/>
          <p:cNvSpPr/>
          <p:nvPr/>
        </p:nvSpPr>
        <p:spPr>
          <a:xfrm>
            <a:off x="10078486" y="2667282"/>
            <a:ext cx="80464" cy="2590518"/>
          </a:xfrm>
          <a:prstGeom prst="rect">
            <a:avLst/>
          </a:prstGeom>
          <a:solidFill>
            <a:srgbClr val="2F6DB3"/>
          </a:solidFill>
          <a:ln/>
        </p:spPr>
      </p:sp>
      <p:sp>
        <p:nvSpPr>
          <p:cNvPr id="71" name="rect-69"/>
          <p:cNvSpPr/>
          <p:nvPr/>
        </p:nvSpPr>
        <p:spPr>
          <a:xfrm>
            <a:off x="10190241" y="2645725"/>
            <a:ext cx="80464" cy="2612075"/>
          </a:xfrm>
          <a:prstGeom prst="rect">
            <a:avLst/>
          </a:prstGeom>
          <a:solidFill>
            <a:srgbClr val="2F6DB3"/>
          </a:solidFill>
          <a:ln/>
        </p:spPr>
      </p:sp>
      <p:sp>
        <p:nvSpPr>
          <p:cNvPr id="72" name="rect-70"/>
          <p:cNvSpPr/>
          <p:nvPr/>
        </p:nvSpPr>
        <p:spPr>
          <a:xfrm>
            <a:off x="10301996" y="2711973"/>
            <a:ext cx="80464" cy="2545827"/>
          </a:xfrm>
          <a:prstGeom prst="rect">
            <a:avLst/>
          </a:prstGeom>
          <a:solidFill>
            <a:srgbClr val="2F6DB3"/>
          </a:solidFill>
          <a:ln/>
        </p:spPr>
      </p:sp>
      <p:sp>
        <p:nvSpPr>
          <p:cNvPr id="73" name="rect-71"/>
          <p:cNvSpPr/>
          <p:nvPr/>
        </p:nvSpPr>
        <p:spPr>
          <a:xfrm>
            <a:off x="10413751" y="2880749"/>
            <a:ext cx="80464" cy="2377051"/>
          </a:xfrm>
          <a:prstGeom prst="rect">
            <a:avLst/>
          </a:prstGeom>
          <a:solidFill>
            <a:srgbClr val="2F6DB3"/>
          </a:solidFill>
          <a:ln/>
        </p:spPr>
      </p:sp>
      <p:sp>
        <p:nvSpPr>
          <p:cNvPr id="74" name="rect-72"/>
          <p:cNvSpPr/>
          <p:nvPr/>
        </p:nvSpPr>
        <p:spPr>
          <a:xfrm>
            <a:off x="10525506" y="3067926"/>
            <a:ext cx="80464" cy="2189874"/>
          </a:xfrm>
          <a:prstGeom prst="rect">
            <a:avLst/>
          </a:prstGeom>
          <a:solidFill>
            <a:srgbClr val="2F6DB3"/>
          </a:solidFill>
          <a:ln/>
        </p:spPr>
      </p:sp>
      <p:sp>
        <p:nvSpPr>
          <p:cNvPr id="75" name="rect-73"/>
          <p:cNvSpPr/>
          <p:nvPr/>
        </p:nvSpPr>
        <p:spPr>
          <a:xfrm>
            <a:off x="10637261" y="2942791"/>
            <a:ext cx="80464" cy="2315009"/>
          </a:xfrm>
          <a:prstGeom prst="rect">
            <a:avLst/>
          </a:prstGeom>
          <a:solidFill>
            <a:srgbClr val="C63F2B"/>
          </a:solidFill>
          <a:ln/>
        </p:spPr>
      </p:sp>
      <p:sp>
        <p:nvSpPr>
          <p:cNvPr id="76" name="rect-74"/>
          <p:cNvSpPr/>
          <p:nvPr/>
        </p:nvSpPr>
        <p:spPr>
          <a:xfrm>
            <a:off x="10749016" y="2845521"/>
            <a:ext cx="80464" cy="2412279"/>
          </a:xfrm>
          <a:prstGeom prst="rect">
            <a:avLst/>
          </a:prstGeom>
          <a:solidFill>
            <a:srgbClr val="C63F2B"/>
          </a:solidFill>
          <a:ln/>
        </p:spPr>
      </p:sp>
      <p:sp>
        <p:nvSpPr>
          <p:cNvPr id="77" name="rect-75"/>
          <p:cNvSpPr/>
          <p:nvPr/>
        </p:nvSpPr>
        <p:spPr>
          <a:xfrm>
            <a:off x="10860771" y="2789789"/>
            <a:ext cx="80464" cy="2468011"/>
          </a:xfrm>
          <a:prstGeom prst="rect">
            <a:avLst/>
          </a:prstGeom>
          <a:solidFill>
            <a:srgbClr val="C63F2B"/>
          </a:solidFill>
          <a:ln/>
        </p:spPr>
      </p:sp>
      <p:sp>
        <p:nvSpPr>
          <p:cNvPr id="78" name="rect-76"/>
          <p:cNvSpPr/>
          <p:nvPr/>
        </p:nvSpPr>
        <p:spPr>
          <a:xfrm>
            <a:off x="10972526" y="2919656"/>
            <a:ext cx="80464" cy="2338144"/>
          </a:xfrm>
          <a:prstGeom prst="rect">
            <a:avLst/>
          </a:prstGeom>
          <a:solidFill>
            <a:srgbClr val="C63F2B"/>
          </a:solidFill>
          <a:ln/>
        </p:spPr>
      </p:sp>
      <p:sp>
        <p:nvSpPr>
          <p:cNvPr id="79" name="rect-77"/>
          <p:cNvSpPr/>
          <p:nvPr/>
        </p:nvSpPr>
        <p:spPr>
          <a:xfrm>
            <a:off x="11084281" y="2842367"/>
            <a:ext cx="80464" cy="2415433"/>
          </a:xfrm>
          <a:prstGeom prst="rect">
            <a:avLst/>
          </a:prstGeom>
          <a:solidFill>
            <a:srgbClr val="C63F2B"/>
          </a:solidFill>
          <a:ln/>
        </p:spPr>
      </p:sp>
      <p:sp>
        <p:nvSpPr>
          <p:cNvPr id="80" name="rect-78"/>
          <p:cNvSpPr/>
          <p:nvPr/>
        </p:nvSpPr>
        <p:spPr>
          <a:xfrm>
            <a:off x="11196036" y="2938584"/>
            <a:ext cx="80464" cy="2319216"/>
          </a:xfrm>
          <a:prstGeom prst="rect">
            <a:avLst/>
          </a:prstGeom>
          <a:solidFill>
            <a:srgbClr val="C63F2B"/>
          </a:solidFill>
          <a:ln/>
        </p:spPr>
      </p:sp>
      <p:sp>
        <p:nvSpPr>
          <p:cNvPr id="81" name="rect-79"/>
          <p:cNvSpPr/>
          <p:nvPr/>
        </p:nvSpPr>
        <p:spPr>
          <a:xfrm>
            <a:off x="11307790" y="2779799"/>
            <a:ext cx="80464" cy="2478001"/>
          </a:xfrm>
          <a:prstGeom prst="rect">
            <a:avLst/>
          </a:prstGeom>
          <a:solidFill>
            <a:srgbClr val="2F6DB3"/>
          </a:solidFill>
          <a:ln/>
        </p:spPr>
      </p:sp>
      <p:sp>
        <p:nvSpPr>
          <p:cNvPr id="82" name="rect-80"/>
          <p:cNvSpPr/>
          <p:nvPr/>
        </p:nvSpPr>
        <p:spPr>
          <a:xfrm>
            <a:off x="11419545" y="3109463"/>
            <a:ext cx="80464" cy="2148337"/>
          </a:xfrm>
          <a:prstGeom prst="rect">
            <a:avLst/>
          </a:prstGeom>
          <a:solidFill>
            <a:srgbClr val="2F6DB3"/>
          </a:solidFill>
          <a:ln/>
        </p:spPr>
      </p:sp>
      <p:sp>
        <p:nvSpPr>
          <p:cNvPr id="83" name="rect-81"/>
          <p:cNvSpPr/>
          <p:nvPr/>
        </p:nvSpPr>
        <p:spPr>
          <a:xfrm>
            <a:off x="11531300" y="2797150"/>
            <a:ext cx="80464" cy="2460650"/>
          </a:xfrm>
          <a:prstGeom prst="rect">
            <a:avLst/>
          </a:prstGeom>
          <a:solidFill>
            <a:srgbClr val="2F6DB3"/>
          </a:solidFill>
          <a:ln/>
        </p:spPr>
      </p:sp>
      <p:sp>
        <p:nvSpPr>
          <p:cNvPr id="84" name="line-82"/>
          <p:cNvSpPr/>
          <p:nvPr/>
        </p:nvSpPr>
        <p:spPr>
          <a:xfrm>
            <a:off x="8274762" y="2057400"/>
            <a:ext cx="0" cy="3200400"/>
          </a:xfrm>
          <a:prstGeom prst="line">
            <a:avLst/>
          </a:prstGeom>
          <a:noFill/>
          <a:ln w="12700">
            <a:solidFill>
              <a:srgbClr val="1C2126"/>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B949C"/>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(red), the recent rate is 87.2%: −1.45 pp. Those days hold 38% of recent decisions, so they stay in.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4361F"/>
          </a:solidFill>
          <a:ln/>
        </p:spPr>
      </p:sp>
      <p:sp>
        <p:nvSpPr>
          <p:cNvPr id="5" name="rect-3"/>
          <p:cNvSpPr/>
          <p:nvPr/>
        </p:nvSpPr>
        <p:spPr>
          <a:xfrm>
            <a:off x="4406862" y="1508760"/>
            <a:ext cx="180150" cy="292608"/>
          </a:xfrm>
          <a:prstGeom prst="rect">
            <a:avLst/>
          </a:prstGeom>
          <a:solidFill>
            <a:srgbClr val="2F6DB3"/>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4361F"/>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4361F"/>
          </a:solidFill>
          <a:ln/>
        </p:spPr>
      </p:sp>
      <p:sp>
        <p:nvSpPr>
          <p:cNvPr id="12" name="rect-10"/>
          <p:cNvSpPr/>
          <p:nvPr/>
        </p:nvSpPr>
        <p:spPr>
          <a:xfrm>
            <a:off x="5727965" y="2423160"/>
            <a:ext cx="312261" cy="292608"/>
          </a:xfrm>
          <a:prstGeom prst="rect">
            <a:avLst/>
          </a:prstGeom>
          <a:solidFill>
            <a:srgbClr val="2F6DB3"/>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2F6DB3"/>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2F6DB3"/>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2F6DB3"/>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2F6DB3"/>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2F6DB3"/>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2F6DB3"/>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C2126"/>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C2126"/>
            </a:solidFill>
            <a:prstDash val="solid"/>
          </a:ln>
        </p:spPr>
      </p:sp>
      <p:sp>
        <p:nvSpPr>
          <p:cNvPr id="33" name="rect-31"/>
          <p:cNvSpPr/>
          <p:nvPr/>
        </p:nvSpPr>
        <p:spPr>
          <a:xfrm>
            <a:off x="3566160" y="5715000"/>
            <a:ext cx="201168" cy="164592"/>
          </a:xfrm>
          <a:prstGeom prst="rect">
            <a:avLst/>
          </a:prstGeom>
          <a:solidFill>
            <a:srgbClr val="B4361F"/>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2F6DB3"/>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FFFFF"/>
          </a:solidFill>
          <a:ln w="9525">
            <a:solidFill>
              <a:srgbClr val="DFE3E7"/>
            </a:solidFill>
            <a:prstDash val="solid"/>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1C2126"/>
                </a:solidFill>
                <a:latin typeface="Arial" pitchFamily="34" charset="0"/>
                <a:ea typeface="Arial" pitchFamily="34" charset="-122"/>
                <a:cs typeface="Arial" pitchFamily="34" charset="-120"/>
              </a:rPr>
              <a:t>How to read the bars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No document type, no reason code: −0.60 pp, all outside the windows, so it is a slower, continuous shift (mostly Mexican documents).</a:t>
            </a:r>
            <a:endParaRPr lang="en-US" sz="1250" dirty="0"/>
          </a:p>
          <a:p>
            <a:pPr algn="l" marL="152400" indent="-152400">
              <a:buSzPct val="100000"/>
              <a:buChar char="•"/>
            </a:pPr>
            <a:r>
              <a:rPr lang="en-US" sz="1250" dirty="0">
                <a:solidFill>
                  <a:srgbClr val="1C2126"/>
                </a:solidFill>
                <a:latin typeface="Arial" pitchFamily="34" charset="0"/>
                <a:ea typeface="Arial" pitchFamily="34" charset="-122"/>
                <a:cs typeface="Arial" pitchFamily="34" charset="-120"/>
              </a:rPr>
              <a:t>Face match: 2.77% → 2.41% of decisions. Not a cause of the drop, but a large loss from before the drop.</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298 recent unsuccessful decisions had two or more failed checks. A primary reason prevents double counts. A fix for that reason does not by itself get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C2126"/>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What we know and what we do not know</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C2126"/>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8F1E6"/>
          </a:solidFill>
          <a:ln w="9525">
            <a:solidFill>
              <a:srgbClr val="EAD9BE"/>
            </a:solidFill>
            <a:prstDash val="solid"/>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8F5B00"/>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C2126"/>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9636D"/>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the rate still fell −1.45 pp (88.7% → 87.2%); they hold 38% of recent decisions. Sensitivity range 1,055–1,130 across window, signature and baseline variants. Without the 1,068 failures that match the patterns, the rate is 86.99%. That is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Impostors; poor light on the selfie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Data behind each: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plan in four tracks: fix and measure, test, learn, build</a:t>
            </a:r>
            <a:endParaRPr lang="en-US" sz="2600" dirty="0"/>
          </a:p>
        </p:txBody>
      </p:sp>
      <p:sp>
        <p:nvSpPr>
          <p:cNvPr id="3" name="rect-1"/>
          <p:cNvSpPr/>
          <p:nvPr/>
        </p:nvSpPr>
        <p:spPr>
          <a:xfrm>
            <a:off x="548640" y="1325880"/>
            <a:ext cx="2103120" cy="347472"/>
          </a:xfrm>
          <a:prstGeom prst="roundRect">
            <a:avLst>
              <a:gd name="adj" fmla="val 13158"/>
            </a:avLst>
          </a:prstGeom>
          <a:solidFill>
            <a:srgbClr val="1C2126"/>
          </a:solidFill>
          <a:ln/>
        </p:spPr>
      </p:sp>
      <p:sp>
        <p:nvSpPr>
          <p:cNvPr id="4" name="text-2"/>
          <p:cNvSpPr txBox="1"/>
          <p:nvPr/>
        </p:nvSpPr>
        <p:spPr>
          <a:xfrm>
            <a:off x="658368" y="1389888"/>
            <a:ext cx="1883664" cy="237744"/>
          </a:xfrm>
          <a:prstGeom prst="rect">
            <a:avLst/>
          </a:prstGeom>
          <a:noFill/>
          <a:ln/>
        </p:spPr>
        <p:txBody>
          <a:bodyPr wrap="square" lIns="0" tIns="0" rIns="0" bIns="0" rtlCol="0" anchor="t"/>
          <a:lstStyle/>
          <a:p>
            <a:pPr algn="l" indent="0" marL="0">
              <a:buNone/>
            </a:pPr>
            <a:r>
              <a:rPr lang="en-US" sz="1050" dirty="0">
                <a:solidFill>
                  <a:srgbClr val="FFFFFF"/>
                </a:solidFill>
                <a:latin typeface="Arial" pitchFamily="34" charset="0"/>
                <a:ea typeface="Arial" pitchFamily="34" charset="-122"/>
                <a:cs typeface="Arial" pitchFamily="34" charset="-120"/>
              </a:rPr>
              <a:t>Track</a:t>
            </a:r>
            <a:endParaRPr lang="en-US" sz="1050" dirty="0"/>
          </a:p>
        </p:txBody>
      </p:sp>
      <p:sp>
        <p:nvSpPr>
          <p:cNvPr id="5" name="rect-3"/>
          <p:cNvSpPr/>
          <p:nvPr/>
        </p:nvSpPr>
        <p:spPr>
          <a:xfrm>
            <a:off x="2724912" y="1325880"/>
            <a:ext cx="2192960" cy="347472"/>
          </a:xfrm>
          <a:prstGeom prst="roundRect">
            <a:avLst>
              <a:gd name="adj" fmla="val 13158"/>
            </a:avLst>
          </a:prstGeom>
          <a:solidFill>
            <a:srgbClr val="EEF3FA"/>
          </a:solidFill>
          <a:ln w="9525">
            <a:solidFill>
              <a:srgbClr val="D3E0F2"/>
            </a:solidFill>
            <a:prstDash val="solid"/>
          </a:ln>
        </p:spPr>
      </p:sp>
      <p:sp>
        <p:nvSpPr>
          <p:cNvPr id="6" name="text-4"/>
          <p:cNvSpPr txBox="1"/>
          <p:nvPr/>
        </p:nvSpPr>
        <p:spPr>
          <a:xfrm>
            <a:off x="2816352"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P0 · Weeks 0–2 · Measure and stabilise</a:t>
            </a:r>
            <a:endParaRPr lang="en-US" sz="1000" dirty="0"/>
          </a:p>
        </p:txBody>
      </p:sp>
      <p:sp>
        <p:nvSpPr>
          <p:cNvPr id="7" name="rect-5"/>
          <p:cNvSpPr/>
          <p:nvPr/>
        </p:nvSpPr>
        <p:spPr>
          <a:xfrm>
            <a:off x="4991024" y="1325880"/>
            <a:ext cx="2192960" cy="347472"/>
          </a:xfrm>
          <a:prstGeom prst="roundRect">
            <a:avLst>
              <a:gd name="adj" fmla="val 13158"/>
            </a:avLst>
          </a:prstGeom>
          <a:solidFill>
            <a:srgbClr val="EEF3FA"/>
          </a:solidFill>
          <a:ln w="9525">
            <a:solidFill>
              <a:srgbClr val="D3E0F2"/>
            </a:solidFill>
            <a:prstDash val="solid"/>
          </a:ln>
        </p:spPr>
      </p:sp>
      <p:sp>
        <p:nvSpPr>
          <p:cNvPr id="8" name="text-6"/>
          <p:cNvSpPr txBox="1"/>
          <p:nvPr/>
        </p:nvSpPr>
        <p:spPr>
          <a:xfrm>
            <a:off x="5082464"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P1 · Weeks 2–6 · Test the main fixes</a:t>
            </a:r>
            <a:endParaRPr lang="en-US" sz="1000" dirty="0"/>
          </a:p>
        </p:txBody>
      </p:sp>
      <p:sp>
        <p:nvSpPr>
          <p:cNvPr id="9" name="rect-7"/>
          <p:cNvSpPr/>
          <p:nvPr/>
        </p:nvSpPr>
        <p:spPr>
          <a:xfrm>
            <a:off x="7257136" y="1325880"/>
            <a:ext cx="2192960" cy="347472"/>
          </a:xfrm>
          <a:prstGeom prst="roundRect">
            <a:avLst>
              <a:gd name="adj" fmla="val 13158"/>
            </a:avLst>
          </a:prstGeom>
          <a:solidFill>
            <a:srgbClr val="EEF3FA"/>
          </a:solidFill>
          <a:ln w="9525">
            <a:solidFill>
              <a:srgbClr val="D3E0F2"/>
            </a:solidFill>
            <a:prstDash val="solid"/>
          </a:ln>
        </p:spPr>
      </p:sp>
      <p:sp>
        <p:nvSpPr>
          <p:cNvPr id="10" name="text-8"/>
          <p:cNvSpPr txBox="1"/>
          <p:nvPr/>
        </p:nvSpPr>
        <p:spPr>
          <a:xfrm>
            <a:off x="7348576"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P2 · Weeks 6–13 · Scale what works</a:t>
            </a:r>
            <a:endParaRPr lang="en-US" sz="1000" dirty="0"/>
          </a:p>
        </p:txBody>
      </p:sp>
      <p:sp>
        <p:nvSpPr>
          <p:cNvPr id="11" name="rect-9"/>
          <p:cNvSpPr/>
          <p:nvPr/>
        </p:nvSpPr>
        <p:spPr>
          <a:xfrm>
            <a:off x="9523247" y="1325880"/>
            <a:ext cx="2192960" cy="347472"/>
          </a:xfrm>
          <a:prstGeom prst="roundRect">
            <a:avLst>
              <a:gd name="adj" fmla="val 13158"/>
            </a:avLst>
          </a:prstGeom>
          <a:solidFill>
            <a:srgbClr val="F8F1E6"/>
          </a:solidFill>
          <a:ln w="9525">
            <a:solidFill>
              <a:srgbClr val="EAD9BE"/>
            </a:solidFill>
            <a:prstDash val="solid"/>
          </a:ln>
        </p:spPr>
      </p:sp>
      <p:sp>
        <p:nvSpPr>
          <p:cNvPr id="12" name="text-10"/>
          <p:cNvSpPr txBox="1"/>
          <p:nvPr/>
        </p:nvSpPr>
        <p:spPr>
          <a:xfrm>
            <a:off x="9614687" y="1389888"/>
            <a:ext cx="2010080" cy="237744"/>
          </a:xfrm>
          <a:prstGeom prst="rect">
            <a:avLst/>
          </a:prstGeom>
          <a:noFill/>
          <a:ln/>
        </p:spPr>
        <p:txBody>
          <a:bodyPr wrap="square" lIns="0" tIns="0" rIns="0" bIns="0" rtlCol="0" anchor="t"/>
          <a:lstStyle/>
          <a:p>
            <a:pPr algn="l" indent="0" marL="0">
              <a:buNone/>
            </a:pPr>
            <a:r>
              <a:rPr lang="en-US" sz="1000" dirty="0">
                <a:solidFill>
                  <a:srgbClr val="8F5B00"/>
                </a:solidFill>
                <a:latin typeface="Arial" pitchFamily="34" charset="0"/>
                <a:ea typeface="Arial" pitchFamily="34" charset="-122"/>
                <a:cs typeface="Arial" pitchFamily="34" charset="-120"/>
              </a:rPr>
              <a:t>P3 · Next two quarters · Platform work (large)</a:t>
            </a:r>
            <a:endParaRPr lang="en-US" sz="1000" dirty="0"/>
          </a:p>
        </p:txBody>
      </p:sp>
      <p:sp>
        <p:nvSpPr>
          <p:cNvPr id="13" name="rect-11"/>
          <p:cNvSpPr/>
          <p:nvPr/>
        </p:nvSpPr>
        <p:spPr>
          <a:xfrm>
            <a:off x="548640" y="1746504"/>
            <a:ext cx="2103120" cy="1197864"/>
          </a:xfrm>
          <a:prstGeom prst="roundRect">
            <a:avLst>
              <a:gd name="adj" fmla="val 3817"/>
            </a:avLst>
          </a:prstGeom>
          <a:solidFill>
            <a:srgbClr val="FFFFFF"/>
          </a:solidFill>
          <a:ln w="9525">
            <a:solidFill>
              <a:srgbClr val="DFE3E7"/>
            </a:solidFill>
            <a:prstDash val="solid"/>
          </a:ln>
        </p:spPr>
      </p:sp>
      <p:sp>
        <p:nvSpPr>
          <p:cNvPr id="14" name="text-12"/>
          <p:cNvSpPr txBox="1"/>
          <p:nvPr/>
        </p:nvSpPr>
        <p:spPr>
          <a:xfrm>
            <a:off x="658368" y="1801368"/>
            <a:ext cx="1883664" cy="1106424"/>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Fix and measure</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Obvious fixes and the instruments to see them work. Cheap, start now.</a:t>
            </a:r>
            <a:endParaRPr lang="en-US" sz="1100" dirty="0"/>
          </a:p>
        </p:txBody>
      </p:sp>
      <p:sp>
        <p:nvSpPr>
          <p:cNvPr id="15" name="rect-13"/>
          <p:cNvSpPr/>
          <p:nvPr/>
        </p:nvSpPr>
        <p:spPr>
          <a:xfrm>
            <a:off x="2724912" y="1746504"/>
            <a:ext cx="2192960" cy="1197864"/>
          </a:xfrm>
          <a:prstGeom prst="roundRect">
            <a:avLst>
              <a:gd name="adj" fmla="val 3817"/>
            </a:avLst>
          </a:prstGeom>
          <a:solidFill>
            <a:srgbClr val="FFFFFF"/>
          </a:solidFill>
          <a:ln w="9525">
            <a:solidFill>
              <a:srgbClr val="DFE3E7"/>
            </a:solidFill>
            <a:prstDash val="solid"/>
          </a:ln>
        </p:spPr>
      </p:sp>
      <p:sp>
        <p:nvSpPr>
          <p:cNvPr id="16" name="text-14"/>
          <p:cNvSpPr txBox="1"/>
          <p:nvPr/>
        </p:nvSpPr>
        <p:spPr>
          <a:xfrm>
            <a:off x="2816352" y="1801368"/>
            <a:ext cx="2010080" cy="1106424"/>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Minimum funnel instrumentation</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Hold and retry on TECHNICAL_ERROR</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Daily, then hourly, alerts per reason code</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Reconcile the control findings</a:t>
            </a:r>
            <a:endParaRPr lang="en-US" sz="950" dirty="0"/>
          </a:p>
          <a:p>
            <a:pPr algn="l" indent="0" marL="0">
              <a:buNone/>
            </a:pPr>
            <a:r>
              <a:rPr lang="en-US" sz="950" dirty="0">
                <a:solidFill>
                  <a:srgbClr val="1C2126"/>
                </a:solidFill>
                <a:latin typeface="Arial" pitchFamily="34" charset="0"/>
                <a:ea typeface="Arial" pitchFamily="34" charset="-122"/>
                <a:cs typeface="Arial" pitchFamily="34" charset="-120"/>
              </a:rPr>
              <a:t>• Report the headline with its breakdown</a:t>
            </a:r>
            <a:endParaRPr lang="en-US" sz="950" dirty="0"/>
          </a:p>
        </p:txBody>
      </p:sp>
      <p:sp>
        <p:nvSpPr>
          <p:cNvPr id="17" name="rect-15"/>
          <p:cNvSpPr/>
          <p:nvPr/>
        </p:nvSpPr>
        <p:spPr>
          <a:xfrm>
            <a:off x="4991024" y="1746504"/>
            <a:ext cx="2192960" cy="1197864"/>
          </a:xfrm>
          <a:prstGeom prst="roundRect">
            <a:avLst>
              <a:gd name="adj" fmla="val 3817"/>
            </a:avLst>
          </a:prstGeom>
          <a:solidFill>
            <a:srgbClr val="FFFFFF"/>
          </a:solidFill>
          <a:ln w="9525">
            <a:solidFill>
              <a:srgbClr val="DFE3E7"/>
            </a:solidFill>
            <a:prstDash val="solid"/>
          </a:ln>
        </p:spPr>
      </p:sp>
      <p:sp>
        <p:nvSpPr>
          <p:cNvPr id="18" name="text-16"/>
          <p:cNvSpPr txBox="1"/>
          <p:nvPr/>
        </p:nvSpPr>
        <p:spPr>
          <a:xfrm>
            <a:off x="5082464"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Velocity and device checks before the vendor call</a:t>
            </a:r>
            <a:endParaRPr lang="en-US" sz="950" dirty="0"/>
          </a:p>
        </p:txBody>
      </p:sp>
      <p:sp>
        <p:nvSpPr>
          <p:cNvPr id="19" name="rect-17"/>
          <p:cNvSpPr/>
          <p:nvPr/>
        </p:nvSpPr>
        <p:spPr>
          <a:xfrm>
            <a:off x="7257136" y="1746504"/>
            <a:ext cx="2192960" cy="1197864"/>
          </a:xfrm>
          <a:prstGeom prst="roundRect">
            <a:avLst>
              <a:gd name="adj" fmla="val 3817"/>
            </a:avLst>
          </a:prstGeom>
          <a:solidFill>
            <a:srgbClr val="FFFFFF"/>
          </a:solidFill>
          <a:ln w="9525">
            <a:solidFill>
              <a:srgbClr val="DFE3E7"/>
            </a:solidFill>
            <a:prstDash val="solid"/>
          </a:ln>
        </p:spPr>
      </p:sp>
      <p:sp>
        <p:nvSpPr>
          <p:cNvPr id="20" name="text-18"/>
          <p:cNvSpPr txBox="1"/>
          <p:nvPr/>
        </p:nvSpPr>
        <p:spPr>
          <a:xfrm>
            <a:off x="7348576"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Invite recoverable applicants back</a:t>
            </a:r>
            <a:endParaRPr lang="en-US" sz="950" dirty="0"/>
          </a:p>
        </p:txBody>
      </p:sp>
      <p:sp>
        <p:nvSpPr>
          <p:cNvPr id="21" name="rect-19"/>
          <p:cNvSpPr/>
          <p:nvPr/>
        </p:nvSpPr>
        <p:spPr>
          <a:xfrm>
            <a:off x="9523247" y="1746504"/>
            <a:ext cx="2192960" cy="1197864"/>
          </a:xfrm>
          <a:prstGeom prst="roundRect">
            <a:avLst>
              <a:gd name="adj" fmla="val 3817"/>
            </a:avLst>
          </a:prstGeom>
          <a:solidFill>
            <a:srgbClr val="FFFFFF"/>
          </a:solidFill>
          <a:ln w="9525">
            <a:solidFill>
              <a:srgbClr val="DFE3E7"/>
            </a:solidFill>
            <a:prstDash val="solid"/>
          </a:ln>
        </p:spPr>
      </p:sp>
      <p:sp>
        <p:nvSpPr>
          <p:cNvPr id="22" name="rect-20"/>
          <p:cNvSpPr/>
          <p:nvPr/>
        </p:nvSpPr>
        <p:spPr>
          <a:xfrm>
            <a:off x="548640" y="3017520"/>
            <a:ext cx="2103120" cy="566928"/>
          </a:xfrm>
          <a:prstGeom prst="roundRect">
            <a:avLst>
              <a:gd name="adj" fmla="val 8065"/>
            </a:avLst>
          </a:prstGeom>
          <a:solidFill>
            <a:srgbClr val="FFFFFF"/>
          </a:solidFill>
          <a:ln w="9525">
            <a:solidFill>
              <a:srgbClr val="DFE3E7"/>
            </a:solidFill>
            <a:prstDash val="solid"/>
          </a:ln>
        </p:spPr>
      </p:sp>
      <p:sp>
        <p:nvSpPr>
          <p:cNvPr id="23" name="text-21"/>
          <p:cNvSpPr txBox="1"/>
          <p:nvPr/>
        </p:nvSpPr>
        <p:spPr>
          <a:xfrm>
            <a:off x="658368" y="3072384"/>
            <a:ext cx="1883664" cy="475488"/>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Test the fixes</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Hypotheses that are quick to try as experiments.</a:t>
            </a:r>
            <a:endParaRPr lang="en-US" sz="1100" dirty="0"/>
          </a:p>
        </p:txBody>
      </p:sp>
      <p:sp>
        <p:nvSpPr>
          <p:cNvPr id="24" name="rect-22"/>
          <p:cNvSpPr/>
          <p:nvPr/>
        </p:nvSpPr>
        <p:spPr>
          <a:xfrm>
            <a:off x="2724912" y="3017520"/>
            <a:ext cx="2192960" cy="566928"/>
          </a:xfrm>
          <a:prstGeom prst="roundRect">
            <a:avLst>
              <a:gd name="adj" fmla="val 8065"/>
            </a:avLst>
          </a:prstGeom>
          <a:solidFill>
            <a:srgbClr val="FFFFFF"/>
          </a:solidFill>
          <a:ln w="9525">
            <a:solidFill>
              <a:srgbClr val="DFE3E7"/>
            </a:solidFill>
            <a:prstDash val="solid"/>
          </a:ln>
        </p:spPr>
      </p:sp>
      <p:sp>
        <p:nvSpPr>
          <p:cNvPr id="25" name="rect-23"/>
          <p:cNvSpPr/>
          <p:nvPr/>
        </p:nvSpPr>
        <p:spPr>
          <a:xfrm>
            <a:off x="4991024" y="3017520"/>
            <a:ext cx="2192960" cy="566928"/>
          </a:xfrm>
          <a:prstGeom prst="roundRect">
            <a:avLst>
              <a:gd name="adj" fmla="val 8065"/>
            </a:avLst>
          </a:prstGeom>
          <a:solidFill>
            <a:srgbClr val="FFFFFF"/>
          </a:solidFill>
          <a:ln w="9525">
            <a:solidFill>
              <a:srgbClr val="DFE3E7"/>
            </a:solidFill>
            <a:prstDash val="solid"/>
          </a:ln>
        </p:spPr>
      </p:sp>
      <p:sp>
        <p:nvSpPr>
          <p:cNvPr id="26" name="text-24"/>
          <p:cNvSpPr txBox="1"/>
          <p:nvPr/>
        </p:nvSpPr>
        <p:spPr>
          <a:xfrm>
            <a:off x="5082464"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Test one guided retake on unclear selfies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Test accepted-document guidance in Mexico</a:t>
            </a:r>
            <a:endParaRPr lang="en-US" sz="950" dirty="0"/>
          </a:p>
        </p:txBody>
      </p:sp>
      <p:sp>
        <p:nvSpPr>
          <p:cNvPr id="27" name="rect-25"/>
          <p:cNvSpPr/>
          <p:nvPr/>
        </p:nvSpPr>
        <p:spPr>
          <a:xfrm>
            <a:off x="7257136" y="3017520"/>
            <a:ext cx="2192960" cy="566928"/>
          </a:xfrm>
          <a:prstGeom prst="roundRect">
            <a:avLst>
              <a:gd name="adj" fmla="val 8065"/>
            </a:avLst>
          </a:prstGeom>
          <a:solidFill>
            <a:srgbClr val="FFFFFF"/>
          </a:solidFill>
          <a:ln w="9525">
            <a:solidFill>
              <a:srgbClr val="DFE3E7"/>
            </a:solidFill>
            <a:prstDash val="solid"/>
          </a:ln>
        </p:spPr>
      </p:sp>
      <p:sp>
        <p:nvSpPr>
          <p:cNvPr id="28" name="text-26"/>
          <p:cNvSpPr txBox="1"/>
          <p:nvPr/>
        </p:nvSpPr>
        <p:spPr>
          <a:xfrm>
            <a:off x="7348576"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On-device capture quality checks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Pilot manual review of face-match warnings</a:t>
            </a:r>
            <a:endParaRPr lang="en-US" sz="950" dirty="0"/>
          </a:p>
        </p:txBody>
      </p:sp>
      <p:sp>
        <p:nvSpPr>
          <p:cNvPr id="29" name="rect-27"/>
          <p:cNvSpPr/>
          <p:nvPr/>
        </p:nvSpPr>
        <p:spPr>
          <a:xfrm>
            <a:off x="9523247" y="3017520"/>
            <a:ext cx="2192960" cy="566928"/>
          </a:xfrm>
          <a:prstGeom prst="roundRect">
            <a:avLst>
              <a:gd name="adj" fmla="val 8065"/>
            </a:avLst>
          </a:prstGeom>
          <a:solidFill>
            <a:srgbClr val="FFFFFF"/>
          </a:solidFill>
          <a:ln w="9525">
            <a:solidFill>
              <a:srgbClr val="DFE3E7"/>
            </a:solidFill>
            <a:prstDash val="solid"/>
          </a:ln>
        </p:spPr>
      </p:sp>
      <p:sp>
        <p:nvSpPr>
          <p:cNvPr id="30" name="rect-28"/>
          <p:cNvSpPr/>
          <p:nvPr/>
        </p:nvSpPr>
        <p:spPr>
          <a:xfrm>
            <a:off x="548640" y="3657600"/>
            <a:ext cx="2103120" cy="777240"/>
          </a:xfrm>
          <a:prstGeom prst="roundRect">
            <a:avLst>
              <a:gd name="adj" fmla="val 5882"/>
            </a:avLst>
          </a:prstGeom>
          <a:solidFill>
            <a:srgbClr val="FFFFFF"/>
          </a:solidFill>
          <a:ln w="9525">
            <a:solidFill>
              <a:srgbClr val="DFE3E7"/>
            </a:solidFill>
            <a:prstDash val="solid"/>
          </a:ln>
        </p:spPr>
      </p:sp>
      <p:sp>
        <p:nvSpPr>
          <p:cNvPr id="31" name="text-29"/>
          <p:cNvSpPr txBox="1"/>
          <p:nvPr/>
        </p:nvSpPr>
        <p:spPr>
          <a:xfrm>
            <a:off x="658368" y="3712464"/>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Learn why</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Investigations and research that run beside the fixes.</a:t>
            </a:r>
            <a:endParaRPr lang="en-US" sz="1100" dirty="0"/>
          </a:p>
        </p:txBody>
      </p:sp>
      <p:sp>
        <p:nvSpPr>
          <p:cNvPr id="32" name="rect-30"/>
          <p:cNvSpPr/>
          <p:nvPr/>
        </p:nvSpPr>
        <p:spPr>
          <a:xfrm>
            <a:off x="2724912" y="3657600"/>
            <a:ext cx="2192960" cy="777240"/>
          </a:xfrm>
          <a:prstGeom prst="roundRect">
            <a:avLst>
              <a:gd name="adj" fmla="val 5882"/>
            </a:avLst>
          </a:prstGeom>
          <a:solidFill>
            <a:srgbClr val="FFFFFF"/>
          </a:solidFill>
          <a:ln w="9525">
            <a:solidFill>
              <a:srgbClr val="DFE3E7"/>
            </a:solidFill>
            <a:prstDash val="solid"/>
          </a:ln>
        </p:spPr>
      </p:sp>
      <p:sp>
        <p:nvSpPr>
          <p:cNvPr id="33" name="text-31"/>
          <p:cNvSpPr txBox="1"/>
          <p:nvPr/>
        </p:nvSpPr>
        <p:spPr>
          <a:xfrm>
            <a:off x="2816352"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Adjudicate a sample of fraud signals</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Diagnose 'no document type' in Mexico</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Confirm vendor incident scope</a:t>
            </a:r>
            <a:endParaRPr lang="en-US" sz="950" dirty="0"/>
          </a:p>
        </p:txBody>
      </p:sp>
      <p:sp>
        <p:nvSpPr>
          <p:cNvPr id="34" name="rect-32"/>
          <p:cNvSpPr/>
          <p:nvPr/>
        </p:nvSpPr>
        <p:spPr>
          <a:xfrm>
            <a:off x="4991024" y="3657600"/>
            <a:ext cx="2192960" cy="777240"/>
          </a:xfrm>
          <a:prstGeom prst="roundRect">
            <a:avLst>
              <a:gd name="adj" fmla="val 5882"/>
            </a:avLst>
          </a:prstGeom>
          <a:solidFill>
            <a:srgbClr val="FFFFFF"/>
          </a:solidFill>
          <a:ln w="9525">
            <a:solidFill>
              <a:srgbClr val="DFE3E7"/>
            </a:solidFill>
            <a:prstDash val="solid"/>
          </a:ln>
        </p:spPr>
      </p:sp>
      <p:sp>
        <p:nvSpPr>
          <p:cNvPr id="35" name="text-33"/>
          <p:cNvSpPr txBox="1"/>
          <p:nvPr/>
        </p:nvSpPr>
        <p:spPr>
          <a:xfrm>
            <a:off x="5082464"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Watch and ask people who failed the capture</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Decide on the vendor: bake-off on a sample</a:t>
            </a:r>
            <a:endParaRPr lang="en-US" sz="950" dirty="0"/>
          </a:p>
        </p:txBody>
      </p:sp>
      <p:sp>
        <p:nvSpPr>
          <p:cNvPr id="36" name="rect-34"/>
          <p:cNvSpPr/>
          <p:nvPr/>
        </p:nvSpPr>
        <p:spPr>
          <a:xfrm>
            <a:off x="7257136" y="3657600"/>
            <a:ext cx="2192960" cy="777240"/>
          </a:xfrm>
          <a:prstGeom prst="roundRect">
            <a:avLst>
              <a:gd name="adj" fmla="val 5882"/>
            </a:avLst>
          </a:prstGeom>
          <a:solidFill>
            <a:srgbClr val="FFFFFF"/>
          </a:solidFill>
          <a:ln w="9525">
            <a:solidFill>
              <a:srgbClr val="DFE3E7"/>
            </a:solidFill>
            <a:prstDash val="solid"/>
          </a:ln>
        </p:spPr>
      </p:sp>
      <p:sp>
        <p:nvSpPr>
          <p:cNvPr id="37" name="rect-35"/>
          <p:cNvSpPr/>
          <p:nvPr/>
        </p:nvSpPr>
        <p:spPr>
          <a:xfrm>
            <a:off x="9523247" y="3657600"/>
            <a:ext cx="2192960" cy="777240"/>
          </a:xfrm>
          <a:prstGeom prst="roundRect">
            <a:avLst>
              <a:gd name="adj" fmla="val 5882"/>
            </a:avLst>
          </a:prstGeom>
          <a:solidFill>
            <a:srgbClr val="FFFFFF"/>
          </a:solidFill>
          <a:ln w="9525">
            <a:solidFill>
              <a:srgbClr val="DFE3E7"/>
            </a:solidFill>
            <a:prstDash val="solid"/>
          </a:ln>
        </p:spPr>
      </p:sp>
      <p:sp>
        <p:nvSpPr>
          <p:cNvPr id="38" name="rect-36"/>
          <p:cNvSpPr/>
          <p:nvPr/>
        </p:nvSpPr>
        <p:spPr>
          <a:xfrm>
            <a:off x="548640" y="4507992"/>
            <a:ext cx="2103120" cy="777240"/>
          </a:xfrm>
          <a:prstGeom prst="roundRect">
            <a:avLst>
              <a:gd name="adj" fmla="val 5882"/>
            </a:avLst>
          </a:prstGeom>
          <a:solidFill>
            <a:srgbClr val="FFFFFF"/>
          </a:solidFill>
          <a:ln w="9525">
            <a:solidFill>
              <a:srgbClr val="DFE3E7"/>
            </a:solidFill>
            <a:prstDash val="solid"/>
          </a:ln>
        </p:spPr>
      </p:sp>
      <p:sp>
        <p:nvSpPr>
          <p:cNvPr id="39" name="text-37"/>
          <p:cNvSpPr txBox="1"/>
          <p:nvPr/>
        </p:nvSpPr>
        <p:spPr>
          <a:xfrm>
            <a:off x="658368" y="4562856"/>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Build later</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Platform work that needs a quarter or more.</a:t>
            </a:r>
            <a:endParaRPr lang="en-US" sz="1100" dirty="0"/>
          </a:p>
        </p:txBody>
      </p:sp>
      <p:sp>
        <p:nvSpPr>
          <p:cNvPr id="40" name="rect-38"/>
          <p:cNvSpPr/>
          <p:nvPr/>
        </p:nvSpPr>
        <p:spPr>
          <a:xfrm>
            <a:off x="2724912" y="4507992"/>
            <a:ext cx="2192960" cy="777240"/>
          </a:xfrm>
          <a:prstGeom prst="roundRect">
            <a:avLst>
              <a:gd name="adj" fmla="val 5882"/>
            </a:avLst>
          </a:prstGeom>
          <a:solidFill>
            <a:srgbClr val="FFFFFF"/>
          </a:solidFill>
          <a:ln w="9525">
            <a:solidFill>
              <a:srgbClr val="DFE3E7"/>
            </a:solidFill>
            <a:prstDash val="solid"/>
          </a:ln>
        </p:spPr>
      </p:sp>
      <p:sp>
        <p:nvSpPr>
          <p:cNvPr id="41" name="rect-39"/>
          <p:cNvSpPr/>
          <p:nvPr/>
        </p:nvSpPr>
        <p:spPr>
          <a:xfrm>
            <a:off x="4991024" y="4507992"/>
            <a:ext cx="2192960" cy="777240"/>
          </a:xfrm>
          <a:prstGeom prst="roundRect">
            <a:avLst>
              <a:gd name="adj" fmla="val 5882"/>
            </a:avLst>
          </a:prstGeom>
          <a:solidFill>
            <a:srgbClr val="FFFFFF"/>
          </a:solidFill>
          <a:ln w="9525">
            <a:solidFill>
              <a:srgbClr val="DFE3E7"/>
            </a:solidFill>
            <a:prstDash val="solid"/>
          </a:ln>
        </p:spPr>
      </p:sp>
      <p:sp>
        <p:nvSpPr>
          <p:cNvPr id="42" name="rect-40"/>
          <p:cNvSpPr/>
          <p:nvPr/>
        </p:nvSpPr>
        <p:spPr>
          <a:xfrm>
            <a:off x="7257136" y="4507992"/>
            <a:ext cx="2192960" cy="777240"/>
          </a:xfrm>
          <a:prstGeom prst="roundRect">
            <a:avLst>
              <a:gd name="adj" fmla="val 5882"/>
            </a:avLst>
          </a:prstGeom>
          <a:solidFill>
            <a:srgbClr val="FFFFFF"/>
          </a:solidFill>
          <a:ln w="9525">
            <a:solidFill>
              <a:srgbClr val="DFE3E7"/>
            </a:solidFill>
            <a:prstDash val="solid"/>
          </a:ln>
        </p:spPr>
      </p:sp>
      <p:sp>
        <p:nvSpPr>
          <p:cNvPr id="43" name="rect-41"/>
          <p:cNvSpPr/>
          <p:nvPr/>
        </p:nvSpPr>
        <p:spPr>
          <a:xfrm>
            <a:off x="9523247" y="4507992"/>
            <a:ext cx="2192960" cy="777240"/>
          </a:xfrm>
          <a:prstGeom prst="roundRect">
            <a:avLst>
              <a:gd name="adj" fmla="val 5882"/>
            </a:avLst>
          </a:prstGeom>
          <a:solidFill>
            <a:srgbClr val="FFFFFF"/>
          </a:solidFill>
          <a:ln w="9525">
            <a:solidFill>
              <a:srgbClr val="DFE3E7"/>
            </a:solidFill>
            <a:prstDash val="solid"/>
          </a:ln>
        </p:spPr>
      </p:sp>
      <p:sp>
        <p:nvSpPr>
          <p:cNvPr id="44" name="text-42"/>
          <p:cNvSpPr txBox="1"/>
          <p:nvPr/>
        </p:nvSpPr>
        <p:spPr>
          <a:xfrm>
            <a:off x="9614687" y="4562856"/>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KYC orchestration and decision layer</a:t>
            </a:r>
            <a:endParaRPr lang="en-US" sz="950" dirty="0"/>
          </a:p>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Government registry checks (INE, RENAPER)</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Second verification vendor for failover</a:t>
            </a:r>
            <a:endParaRPr lang="en-US" sz="950" dirty="0"/>
          </a:p>
        </p:txBody>
      </p:sp>
      <p:sp>
        <p:nvSpPr>
          <p:cNvPr id="45" name="text-43"/>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 = conditional on a Phase 0 finding. Owners, evidence, acceptance criteria and guardrails per action are in the dashboard (What to do). Effort sizes are assumptions.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Phase 0, weeks 0–2: measure and stabilise before we optimise</a:t>
            </a:r>
            <a:endParaRPr lang="en-US" sz="2600" dirty="0"/>
          </a:p>
        </p:txBody>
      </p:sp>
      <p:sp>
        <p:nvSpPr>
          <p:cNvPr id="3" name="rect-1"/>
          <p:cNvSpPr/>
          <p:nvPr/>
        </p:nvSpPr>
        <p:spPr>
          <a:xfrm>
            <a:off x="548640" y="1371600"/>
            <a:ext cx="2670048" cy="2103120"/>
          </a:xfrm>
          <a:prstGeom prst="roundRect">
            <a:avLst>
              <a:gd name="adj" fmla="val 3478"/>
            </a:avLst>
          </a:prstGeom>
          <a:solidFill>
            <a:srgbClr val="FFFFFF"/>
          </a:solidFill>
          <a:ln w="9525">
            <a:solidFill>
              <a:srgbClr val="DFE3E7"/>
            </a:solidFill>
            <a:prstDash val="solid"/>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EEF3FA"/>
          </a:solidFill>
          <a:ln w="9525">
            <a:solidFill>
              <a:srgbClr val="D3E0F2"/>
            </a:solidFill>
            <a:prstDash val="solid"/>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FFFFF"/>
          </a:solidFill>
          <a:ln w="9525">
            <a:solidFill>
              <a:srgbClr val="DFE3E7"/>
            </a:solidFill>
            <a:prstDash val="solid"/>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On replay, alerts fire on the first day of every incident window. False alerts in the prior period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FFFFF"/>
          </a:solidFill>
          <a:ln w="9525">
            <a:solidFill>
              <a:srgbClr val="DFE3E7"/>
            </a:solidFill>
            <a:prstDash val="solid"/>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FFFFF"/>
          </a:solidFill>
          <a:ln w="9525">
            <a:solidFill>
              <a:srgbClr val="DFE3E7"/>
            </a:solidFill>
            <a:prstDash val="solid"/>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FFFFF"/>
          </a:solidFill>
          <a:ln w="9525">
            <a:solidFill>
              <a:srgbClr val="DFE3E7"/>
            </a:solidFill>
            <a:prstDash val="solid"/>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FFFFF"/>
          </a:solidFill>
          <a:ln w="9525">
            <a:solidFill>
              <a:srgbClr val="DFE3E7"/>
            </a:solidFill>
            <a:prstDash val="solid"/>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FFFFF"/>
          </a:solidFill>
          <a:ln w="9525">
            <a:solidFill>
              <a:srgbClr val="DFE3E7"/>
            </a:solidFill>
            <a:prstDash val="solid"/>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Effort sizes are assumptions (S ≤ 2 engineer-weeks, M = 2–6). Owners are role-based examples, not named people. Later phases: P1 weeks 2–6, P2 weeks 6–13, P3 the next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Recovery scenarios: +0.9 pp to +4.3 pp on repeated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FFFFF"/>
          </a:solidFill>
          <a:ln w="9525">
            <a:solidFill>
              <a:srgbClr val="DFE3E7"/>
            </a:solidFill>
            <a:prstDash val="solid"/>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EEF3FA"/>
          </a:solidFill>
          <a:ln w="9525">
            <a:solidFill>
              <a:srgbClr val="D3E0F2"/>
            </a:solidFill>
            <a:prstDash val="solid"/>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FFFFF"/>
          </a:solidFill>
          <a:ln w="9525">
            <a:solidFill>
              <a:srgbClr val="DFE3E7"/>
            </a:solidFill>
            <a:prstDash val="solid"/>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FFFFF"/>
          </a:solidFill>
          <a:ln w="9525">
            <a:solidFill>
              <a:srgbClr val="DFE3E7"/>
            </a:solidFill>
            <a:prstDash val="solid"/>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9E8E4"/>
          </a:solidFill>
          <a:ln w="9525">
            <a:solidFill>
              <a:srgbClr val="EDCAC2"/>
            </a:solidFill>
            <a:prstDash val="solid"/>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4361F"/>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If all control findings are confirmed: approvals per 30 days that we may need to reverse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1C2126"/>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failed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FFFFF"/>
          </a:solidFill>
          <a:ln w="9525">
            <a:solidFill>
              <a:srgbClr val="DFE3E7"/>
            </a:solidFill>
            <a:prstDash val="solid"/>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EEF3FA"/>
          </a:solidFill>
          <a:ln w="9525">
            <a:solidFill>
              <a:srgbClr val="D3E0F2"/>
            </a:solidFill>
            <a:prstDash val="solid"/>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things to confirm with the team before we act</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headline is approval among recorded decisions. If rows are latest attempts, we cannot see earlier failures and retries, and the first-pass rate is lower than shown. If rows are final decisions, the warnings can be out of date.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brief defines the pass rate as people who start and finish. Without starts, completion and abandonment cannot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Whether Phase 0 instrumentation is a prerequisite or a check on current data; how we read the volume effect; the completion metric 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0"/>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E5E9EC"/>
                </a:solidFill>
                <a:latin typeface="Georgia" pitchFamily="34" charset="0"/>
                <a:ea typeface="Georgia" pitchFamily="34" charset="-122"/>
                <a:cs typeface="Georgia" pitchFamily="34" charset="-120"/>
              </a:rPr>
              <a:t>Appendix: evidence and method</a:t>
            </a:r>
            <a:endParaRPr lang="en-US" sz="3400" dirty="0"/>
          </a:p>
        </p:txBody>
      </p:sp>
      <p:sp>
        <p:nvSpPr>
          <p:cNvPr id="3" name="text-1"/>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A1ABB4"/>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 the start-to-finish completion rate: starts, abandonment and attempts are not in the data</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All days are present.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We count it as approved until it is reconciled.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This is the country that issued the document. It is not always the residence or the account market.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Mandatory data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Page or part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a mismatch with the issuer country,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Base: failures that match the window’s pattern, minus the count expected at the prior-period rate for the window’s volume.</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The old method counts every failure of the pattern on the day. That includes failures that also occur on normal days.</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surge after a fix: V2 scans unavailable; Jumio Go customers possibly saw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Pictures of the accepted documents, shown to Mexican applicants before capture, increase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One guided retake after BAD_QUALITY or FACE_NOT_FULLY_VISIBLE from liveness increases eventual approval and does not increase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start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With the recent Mexican approval rate (78.8%) as a stand-in baseline, the sample is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If about 5% of the eligible group is approved later without a retake (not measurable yet), the sample is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Mexico analyst salaries × time per case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Implementation cost of the repeated-cause actions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Sources S1–S14: the dashboard (What we gain) gives each figure, period and link.</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first-year value of a cohort comes in over the next year. It is not revenue recognised in the next 12 months. Past vendor and paid-acquisition spend on not-approved applicants is already spent. Only a fix of the cause stops future spend.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C2126"/>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acknowledgement. Decisions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Warnings cleared in manual review that the extract does not show.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A difference in the export field map.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confirmation.</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separate capability that returns the document type, with UNSUPPORTED as one value.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Mandatory data not present; automation level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Jumio Support enables it on request.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After a callback, retry the retrieval from 40 seconds, with longer intervals each time, for at most 10 failures in a row.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PII fields need an updated data agreement (DPA) and are off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2026-10-15T10:31:06Z</dcterms:created>
  <dcterms:modified xsi:type="dcterms:W3CDTF">2026-10-15T10:31:06Z</dcterms:modified>
</cp:coreProperties>
</file>