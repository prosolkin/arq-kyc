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cutive narrative" id="{82709ad5-fe47-dfa5-e36e-e19894498fd8}">
          <p14:sldIdLst>
            <p14:sldId id="256"/>
            <p14:sldId id="257"/>
            <p14:sldId id="258"/>
            <p14:sldId id="259"/>
            <p14:sldId id="260"/>
            <p14:sldId id="261"/>
            <p14:sldId id="262"/>
            <p14:sldId id="263"/>
            <p14:sldId id="264"/>
            <p14:sldId id="265"/>
            <p14:sldId id="266"/>
            <p14:sldId id="267"/>
          </p14:sldIdLst>
        </p14:section>
        <p14:section name="Appendix" id="{c03b33a0-9c40-c3df-ba7b-2ad5d279a3a4}">
          <p14:sldIdLst>
            <p14:sldId id="268"/>
            <p14:sldId id="269"/>
            <p14:sldId id="270"/>
            <p14:sldId id="271"/>
            <p14:sldId id="272"/>
            <p14:sldId id="273"/>
            <p14:sldId id="274"/>
            <p14:sldId id="275"/>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answer the brief in one pass. The headline metric is approval among recorded decisions; the start-to-finish funnel the brief describes cannot be measured from these extracts, and the deck says so up front.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seven points follow the order an executive needs: what is measurable, what changed, the arithmetic, what is still hypothesis, what to do first, what is needed, and how success is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defines pass rate as people who start and finish KYC. The extracts hold one recorded decision per user with a date only, so the headline is approval among recorded decisions. Completion, eventual approval and abandonment need new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 fell for two reasons: fewer decisions in the recent period, and a lower approval rate. Only the rate effect is about KYC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unsuccessful decision gets one primary reason in check order, so effects add up to the total change. Red is the part above baseline inside the four date windows (base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Attribution is observed minus expected at the prior-period rate of the same signature. Dates only: no intraday matching. Other failures on those days are not attributed.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is established. Each row names the evidence, the strongest alternative, and the investigation and the decision it enables.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0 is mostly measurement and investigation, plus one remediation (hold and retry) that is worth doing whatever the root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tests the leading fixes; Phase 2 scales what works; Phase 3 is large platform and commercial work. Conditional items say what they depend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population is observed; every multiplier is an assumption. Populations do not overlap. Incident-type benefits occur only when a comparable incident recurs. Control-gap reversals are shown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is small in Phase 0. Verification is per action (acceptance criteria) and per experiment (eventual approval per person within 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not asked in the submission; they are the answers that would change the findings. Each row says what changes with the answer, so the first conversation can settle them in order. 1. Does each row hold a user's first, latest or final KYC attempt, and does the date mark the submission or the vendor's decision? Who would know: Data platform or whoever produced the extract. 2. Is there any record, even weekly counts, of people who opened KYC and never submitted? Who would know: Mobile and platform engineering (app analytics, API logs). 3. What happens today after a TECHNICAL_ERROR or a liveness failure: does the user see the vendor's outcome, get a retake, or enter a review queue? Who would know: Product and the onboarding squad; the vendor integration owner. 4. Which vendor product tier and data centre does ARQ use, and did ARQ receive incident notices for Sep 1, 2 and 6, 2023? Who would know: Vendor management; the vendor's account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Evidence appendix: definitions, validation, composition, Mexico, incident sensitivity, experiments, value model, operating model, control findings, vendor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Proposed KPI registry entries. Unavailable metrics list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checks recomputed on every build. Raw files are hashed to show they were not modified.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Classes describe who could act on a group of vendor reasons. They are not adjudicated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all Mexican-document decisions. No reason code is the largest and grew; the cause is not established.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baseline-based variants plus the old method (every matching failure, no baseline) for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Assignment by person avoids counting repeat attempts as independent users. Sample sizes use stand-in baselines and must be recomputed after Phase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preset is derived from a published price, salary or fintech benchmark, fetched on the research date; the dashboard lists every source with its figure and fetch status. Low, Mid and High are the ends and middle of each input’s range, not pessimistic and optimistic cases. Cautious takes the end that weakens the case. Finance should replace each preset with ARQ’s own number; the value model recomputes immediately.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Central scenario: 634 recoverable approvals per 30 days (range 233–1,093). Cohort value = recoverable × activation rate × first-year value per activated customer. Break-even = (build cost ÷ 12 + run cost per month) ÷ (recoverable × activation rate). Vendor spend = decisions × billable transactions per decision × cost per transaction. These are illustrations on market-based inputs, not forecasts and not ARQ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Role-based example functions, not ARQ’s organisation. Relevant to a company KPI platform: definitions, owners, versions, freshness, access and adoption.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approval record is not an enabled account; a blank field is not proof a check never ran. Legal obligations are not asserted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Kept separate from the 2023 diagnosis. Each row lists prerequisites and what is not verified for ARQ.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8229600" cy="228600"/>
          </a:xfrm>
          <a:prstGeom prst="rect">
            <a:avLst/>
          </a:prstGeom>
          <a:noFill/>
          <a:ln/>
        </p:spPr>
        <p:txBody>
          <a:bodyPr wrap="square" lIns="0" tIns="0" rIns="0" bIns="0" rtlCol="0" anchor="ctr"/>
          <a:lstStyle/>
          <a:p>
            <a:pPr indent="0" marL="0">
              <a:buNone/>
            </a:pPr>
            <a:r>
              <a:rPr lang="en-US" sz="900" dirty="0">
                <a:solidFill>
                  <a:srgbClr val="8A9497"/>
                </a:solidFill>
                <a:latin typeface="Arial" pitchFamily="34" charset="0"/>
                <a:ea typeface="Arial" pitchFamily="34" charset="-122"/>
                <a:cs typeface="Arial" pitchFamily="34" charset="-120"/>
              </a:rPr>
              <a:t>KYC approval-rate diagnosis · 2023 extracts (Jul 25 – Sep 22) · Case-study submission</a:t>
            </a:r>
            <a:endParaRPr lang="en-US" sz="9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F4C4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rect-0"/>
          <p:cNvSpPr/>
          <p:nvPr/>
        </p:nvSpPr>
        <p:spPr>
          <a:xfrm>
            <a:off x="0" y="0"/>
            <a:ext cx="12191695" cy="6858000"/>
          </a:xfrm>
          <a:prstGeom prst="rect">
            <a:avLst/>
          </a:prstGeom>
          <a:solidFill>
            <a:srgbClr val="0F4C4D"/>
          </a:solidFill>
          <a:ln/>
        </p:spPr>
      </p:sp>
      <p:sp>
        <p:nvSpPr>
          <p:cNvPr id="3" name="text-1"/>
          <p:cNvSpPr txBox="1"/>
          <p:nvPr/>
        </p:nvSpPr>
        <p:spPr>
          <a:xfrm>
            <a:off x="548640" y="1143000"/>
            <a:ext cx="8686800" cy="365760"/>
          </a:xfrm>
          <a:prstGeom prst="rect">
            <a:avLst/>
          </a:prstGeom>
          <a:noFill/>
          <a:ln/>
        </p:spPr>
        <p:txBody>
          <a:bodyPr wrap="square" lIns="0" tIns="0" rIns="0" bIns="0" rtlCol="0" anchor="t"/>
          <a:lstStyle/>
          <a:p>
            <a:pPr algn="l" indent="0" marL="0">
              <a:buNone/>
            </a:pPr>
            <a:r>
              <a:rPr lang="en-US" sz="1400" dirty="0">
                <a:solidFill>
                  <a:srgbClr val="BFD6D5"/>
                </a:solidFill>
                <a:latin typeface="Arial" pitchFamily="34" charset="0"/>
                <a:ea typeface="Arial" pitchFamily="34" charset="-122"/>
                <a:cs typeface="Arial" pitchFamily="34" charset="-120"/>
              </a:rPr>
              <a:t>Product Owner case study · KYC onboarding</a:t>
            </a:r>
            <a:endParaRPr lang="en-US" sz="1400" dirty="0"/>
          </a:p>
        </p:txBody>
      </p:sp>
      <p:sp>
        <p:nvSpPr>
          <p:cNvPr id="4" name="text-2"/>
          <p:cNvSpPr txBox="1"/>
          <p:nvPr/>
        </p:nvSpPr>
        <p:spPr>
          <a:xfrm>
            <a:off x="548640" y="1645920"/>
            <a:ext cx="10424160" cy="1737360"/>
          </a:xfrm>
          <a:prstGeom prst="rect">
            <a:avLst/>
          </a:prstGeom>
          <a:noFill/>
          <a:ln/>
        </p:spPr>
        <p:txBody>
          <a:bodyPr wrap="square" lIns="0" tIns="0" rIns="0" bIns="0" rtlCol="0" anchor="t"/>
          <a:lstStyle/>
          <a:p>
            <a:pPr algn="l" indent="0" marL="0">
              <a:buNone/>
            </a:pPr>
            <a:r>
              <a:rPr lang="en-US" sz="3400" dirty="0">
                <a:solidFill>
                  <a:srgbClr val="FFFFFF"/>
                </a:solidFill>
                <a:latin typeface="Georgia" pitchFamily="34" charset="0"/>
                <a:ea typeface="Georgia" pitchFamily="34" charset="-122"/>
                <a:cs typeface="Georgia" pitchFamily="34" charset="-120"/>
              </a:rPr>
              <a:t>KYC approval fell 5.4 points in a month. Most of the arithmetic is known; most of the causes are not yet.</a:t>
            </a:r>
            <a:endParaRPr lang="en-US" sz="3400" dirty="0"/>
          </a:p>
        </p:txBody>
      </p:sp>
      <p:sp>
        <p:nvSpPr>
          <p:cNvPr id="5" name="text-3"/>
          <p:cNvSpPr txBox="1"/>
          <p:nvPr/>
        </p:nvSpPr>
        <p:spPr>
          <a:xfrm>
            <a:off x="548640" y="3657600"/>
            <a:ext cx="10058400" cy="822960"/>
          </a:xfrm>
          <a:prstGeom prst="rect">
            <a:avLst/>
          </a:prstGeom>
          <a:noFill/>
          <a:ln/>
        </p:spPr>
        <p:txBody>
          <a:bodyPr wrap="square" lIns="0" tIns="0" rIns="0" bIns="0" rtlCol="0" anchor="t"/>
          <a:lstStyle/>
          <a:p>
            <a:pPr algn="l" indent="0" marL="0">
              <a:buNone/>
            </a:pPr>
            <a:r>
              <a:rPr lang="en-US" sz="1800" dirty="0">
                <a:solidFill>
                  <a:srgbClr val="DCEAE9"/>
                </a:solidFill>
                <a:latin typeface="Arial" pitchFamily="34" charset="0"/>
                <a:ea typeface="Arial" pitchFamily="34" charset="-122"/>
                <a:cs typeface="Arial" pitchFamily="34" charset="-120"/>
              </a:rPr>
              <a:t>What the 2023 extracts show, what remains a hypothesis, and what to do first.</a:t>
            </a:r>
            <a:endParaRPr lang="en-US" sz="1800" dirty="0"/>
          </a:p>
        </p:txBody>
      </p:sp>
      <p:sp>
        <p:nvSpPr>
          <p:cNvPr id="6" name="text-4"/>
          <p:cNvSpPr txBox="1"/>
          <p:nvPr/>
        </p:nvSpPr>
        <p:spPr>
          <a:xfrm>
            <a:off x="548640" y="5120640"/>
            <a:ext cx="10972800" cy="1005840"/>
          </a:xfrm>
          <a:prstGeom prst="rect">
            <a:avLst/>
          </a:prstGeom>
          <a:noFill/>
          <a:ln/>
        </p:spPr>
        <p:txBody>
          <a:bodyPr wrap="square" lIns="0" tIns="0" rIns="0" bIns="0" rtlCol="0" anchor="t"/>
          <a:lstStyle/>
          <a:p>
            <a:pPr algn="l" indent="0" marL="0">
              <a:spcAft>
                <a:spcPts val="400"/>
              </a:spcAft>
              <a:buNone/>
            </a:pPr>
            <a:r>
              <a:rPr lang="en-US" sz="1200" dirty="0">
                <a:solidFill>
                  <a:srgbClr val="BFD6D5"/>
                </a:solidFill>
                <a:latin typeface="Arial" pitchFamily="34" charset="0"/>
                <a:ea typeface="Arial" pitchFamily="34" charset="-122"/>
                <a:cs typeface="Arial" pitchFamily="34" charset="-120"/>
              </a:rPr>
              <a:t>Data: KYC_summary and KYC_details extracts, 52,075 recorded decisions, Jul 25 – Sep 22, 2023 (prior period Jul 25 – Aug 23; recent period Aug 24 – Sep 22).</a:t>
            </a:r>
            <a:endParaRPr lang="en-US" sz="1200" dirty="0"/>
          </a:p>
          <a:p>
            <a:pPr algn="l" indent="0" marL="0">
              <a:buNone/>
            </a:pPr>
            <a:r>
              <a:rPr lang="en-US" sz="1200" dirty="0">
                <a:solidFill>
                  <a:srgbClr val="BFD6D5"/>
                </a:solidFill>
                <a:latin typeface="Arial" pitchFamily="34" charset="0"/>
                <a:ea typeface="Arial" pitchFamily="34" charset="-122"/>
                <a:cs typeface="Arial" pitchFamily="34" charset="-120"/>
              </a:rPr>
              <a:t>Vendor research dated Oct 13, 2026. Case-study submission; it contains fraud-control and compliance findings from the extract.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The answer in seven points</a:t>
            </a:r>
            <a:endParaRPr lang="en-US" sz="2600" dirty="0"/>
          </a:p>
        </p:txBody>
      </p:sp>
      <p:sp>
        <p:nvSpPr>
          <p:cNvPr id="3" name="rect-1"/>
          <p:cNvSpPr/>
          <p:nvPr/>
        </p:nvSpPr>
        <p:spPr>
          <a:xfrm>
            <a:off x="548640" y="1362456"/>
            <a:ext cx="384048" cy="384048"/>
          </a:xfrm>
          <a:prstGeom prst="roundRect">
            <a:avLst>
              <a:gd name="adj" fmla="val 50000"/>
            </a:avLst>
          </a:prstGeom>
          <a:solidFill>
            <a:srgbClr val="0F4C4D"/>
          </a:solidFill>
          <a:ln/>
        </p:spPr>
      </p:sp>
      <p:sp>
        <p:nvSpPr>
          <p:cNvPr id="4" name="text-2"/>
          <p:cNvSpPr txBox="1"/>
          <p:nvPr/>
        </p:nvSpPr>
        <p:spPr>
          <a:xfrm>
            <a:off x="548640" y="1417320"/>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1</a:t>
            </a:r>
            <a:endParaRPr lang="en-US" sz="1300" dirty="0"/>
          </a:p>
        </p:txBody>
      </p:sp>
      <p:sp>
        <p:nvSpPr>
          <p:cNvPr id="5" name="text-3"/>
          <p:cNvSpPr txBox="1"/>
          <p:nvPr/>
        </p:nvSpPr>
        <p:spPr>
          <a:xfrm>
            <a:off x="1097280" y="1371600"/>
            <a:ext cx="2377440" cy="566928"/>
          </a:xfrm>
          <a:prstGeom prst="rect">
            <a:avLst/>
          </a:prstGeom>
          <a:noFill/>
          <a:ln/>
        </p:spPr>
        <p:txBody>
          <a:bodyPr wrap="square" lIns="0" tIns="0" rIns="0" bIns="0" rtlCol="0" anchor="t"/>
          <a:lstStyle/>
          <a:p>
            <a:pPr algn="l" indent="0" marL="0">
              <a:buNone/>
            </a:pPr>
            <a:r>
              <a:rPr lang="en-US" sz="1400" dirty="0">
                <a:solidFill>
                  <a:srgbClr val="0F4C4D"/>
                </a:solidFill>
                <a:latin typeface="Arial" pitchFamily="34" charset="0"/>
                <a:ea typeface="Arial" pitchFamily="34" charset="-122"/>
                <a:cs typeface="Arial" pitchFamily="34" charset="-120"/>
              </a:rPr>
              <a:t>What is measurable</a:t>
            </a:r>
            <a:endParaRPr lang="en-US" sz="1400" dirty="0"/>
          </a:p>
        </p:txBody>
      </p:sp>
      <p:sp>
        <p:nvSpPr>
          <p:cNvPr id="6" name="text-4"/>
          <p:cNvSpPr txBox="1"/>
          <p:nvPr/>
        </p:nvSpPr>
        <p:spPr>
          <a:xfrm>
            <a:off x="3520440" y="1371600"/>
            <a:ext cx="8122615" cy="603504"/>
          </a:xfrm>
          <a:prstGeom prst="rect">
            <a:avLst/>
          </a:prstGeom>
          <a:noFill/>
          <a:ln/>
        </p:spPr>
        <p:txBody>
          <a:bodyPr wrap="square" lIns="0" tIns="0" rIns="0" bIns="0" rtlCol="0" anchor="t"/>
          <a:lstStyle/>
          <a:p>
            <a:pPr algn="l" indent="0" marL="0">
              <a:buNone/>
            </a:pPr>
            <a:r>
              <a:rPr lang="en-US" sz="1250" dirty="0">
                <a:solidFill>
                  <a:srgbClr val="1F2A2E"/>
                </a:solidFill>
                <a:latin typeface="Arial" pitchFamily="34" charset="0"/>
                <a:ea typeface="Arial" pitchFamily="34" charset="-122"/>
                <a:cs typeface="Arial" pitchFamily="34" charset="-120"/>
              </a:rPr>
              <a:t>Approval among recorded decisions, by day, document country and failing check. Not measurable: starts, completion, abandonment, retries, review outcomes, time to completion.</a:t>
            </a:r>
            <a:endParaRPr lang="en-US" sz="1250" dirty="0"/>
          </a:p>
        </p:txBody>
      </p:sp>
      <p:sp>
        <p:nvSpPr>
          <p:cNvPr id="7" name="rect-5"/>
          <p:cNvSpPr/>
          <p:nvPr/>
        </p:nvSpPr>
        <p:spPr>
          <a:xfrm>
            <a:off x="548640" y="2029968"/>
            <a:ext cx="384048" cy="384048"/>
          </a:xfrm>
          <a:prstGeom prst="roundRect">
            <a:avLst>
              <a:gd name="adj" fmla="val 50000"/>
            </a:avLst>
          </a:prstGeom>
          <a:solidFill>
            <a:srgbClr val="0F4C4D"/>
          </a:solidFill>
          <a:ln/>
        </p:spPr>
      </p:sp>
      <p:sp>
        <p:nvSpPr>
          <p:cNvPr id="8" name="text-6"/>
          <p:cNvSpPr txBox="1"/>
          <p:nvPr/>
        </p:nvSpPr>
        <p:spPr>
          <a:xfrm>
            <a:off x="548640" y="2084832"/>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2</a:t>
            </a:r>
            <a:endParaRPr lang="en-US" sz="1300" dirty="0"/>
          </a:p>
        </p:txBody>
      </p:sp>
      <p:sp>
        <p:nvSpPr>
          <p:cNvPr id="9" name="text-7"/>
          <p:cNvSpPr txBox="1"/>
          <p:nvPr/>
        </p:nvSpPr>
        <p:spPr>
          <a:xfrm>
            <a:off x="1097280" y="2039112"/>
            <a:ext cx="2377440" cy="566928"/>
          </a:xfrm>
          <a:prstGeom prst="rect">
            <a:avLst/>
          </a:prstGeom>
          <a:noFill/>
          <a:ln/>
        </p:spPr>
        <p:txBody>
          <a:bodyPr wrap="square" lIns="0" tIns="0" rIns="0" bIns="0" rtlCol="0" anchor="t"/>
          <a:lstStyle/>
          <a:p>
            <a:pPr algn="l" indent="0" marL="0">
              <a:buNone/>
            </a:pPr>
            <a:r>
              <a:rPr lang="en-US" sz="1400" dirty="0">
                <a:solidFill>
                  <a:srgbClr val="0F4C4D"/>
                </a:solidFill>
                <a:latin typeface="Arial" pitchFamily="34" charset="0"/>
                <a:ea typeface="Arial" pitchFamily="34" charset="-122"/>
                <a:cs typeface="Arial" pitchFamily="34" charset="-120"/>
              </a:rPr>
              <a:t>What changed</a:t>
            </a:r>
            <a:endParaRPr lang="en-US" sz="1400" dirty="0"/>
          </a:p>
        </p:txBody>
      </p:sp>
      <p:sp>
        <p:nvSpPr>
          <p:cNvPr id="10" name="text-8"/>
          <p:cNvSpPr txBox="1"/>
          <p:nvPr/>
        </p:nvSpPr>
        <p:spPr>
          <a:xfrm>
            <a:off x="3520440" y="2039112"/>
            <a:ext cx="8122615" cy="603504"/>
          </a:xfrm>
          <a:prstGeom prst="rect">
            <a:avLst/>
          </a:prstGeom>
          <a:noFill/>
          <a:ln/>
        </p:spPr>
        <p:txBody>
          <a:bodyPr wrap="square" lIns="0" tIns="0" rIns="0" bIns="0" rtlCol="0" anchor="t"/>
          <a:lstStyle/>
          <a:p>
            <a:pPr algn="l" indent="0" marL="0">
              <a:buNone/>
            </a:pPr>
            <a:r>
              <a:rPr lang="en-US" sz="1250" dirty="0">
                <a:solidFill>
                  <a:srgbClr val="1F2A2E"/>
                </a:solidFill>
                <a:latin typeface="Arial" pitchFamily="34" charset="0"/>
                <a:ea typeface="Arial" pitchFamily="34" charset="-122"/>
                <a:cs typeface="Arial" pitchFamily="34" charset="-120"/>
              </a:rPr>
              <a:t>Approval 88.7% → 83.3% (−5.4 pp). Approvals −2,945: −1,587 from fewer decisions, −1,358 from the lower rate.</a:t>
            </a:r>
            <a:endParaRPr lang="en-US" sz="1250" dirty="0"/>
          </a:p>
        </p:txBody>
      </p:sp>
      <p:sp>
        <p:nvSpPr>
          <p:cNvPr id="11" name="rect-9"/>
          <p:cNvSpPr/>
          <p:nvPr/>
        </p:nvSpPr>
        <p:spPr>
          <a:xfrm>
            <a:off x="548640" y="2697480"/>
            <a:ext cx="384048" cy="384048"/>
          </a:xfrm>
          <a:prstGeom prst="roundRect">
            <a:avLst>
              <a:gd name="adj" fmla="val 50000"/>
            </a:avLst>
          </a:prstGeom>
          <a:solidFill>
            <a:srgbClr val="0F4C4D"/>
          </a:solidFill>
          <a:ln/>
        </p:spPr>
      </p:sp>
      <p:sp>
        <p:nvSpPr>
          <p:cNvPr id="12" name="text-10"/>
          <p:cNvSpPr txBox="1"/>
          <p:nvPr/>
        </p:nvSpPr>
        <p:spPr>
          <a:xfrm>
            <a:off x="548640" y="2752344"/>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3</a:t>
            </a:r>
            <a:endParaRPr lang="en-US" sz="1300" dirty="0"/>
          </a:p>
        </p:txBody>
      </p:sp>
      <p:sp>
        <p:nvSpPr>
          <p:cNvPr id="13" name="text-11"/>
          <p:cNvSpPr txBox="1"/>
          <p:nvPr/>
        </p:nvSpPr>
        <p:spPr>
          <a:xfrm>
            <a:off x="1097280" y="2706624"/>
            <a:ext cx="2377440" cy="566928"/>
          </a:xfrm>
          <a:prstGeom prst="rect">
            <a:avLst/>
          </a:prstGeom>
          <a:noFill/>
          <a:ln/>
        </p:spPr>
        <p:txBody>
          <a:bodyPr wrap="square" lIns="0" tIns="0" rIns="0" bIns="0" rtlCol="0" anchor="t"/>
          <a:lstStyle/>
          <a:p>
            <a:pPr algn="l" indent="0" marL="0">
              <a:buNone/>
            </a:pPr>
            <a:r>
              <a:rPr lang="en-US" sz="1400" dirty="0">
                <a:solidFill>
                  <a:srgbClr val="0F4C4D"/>
                </a:solidFill>
                <a:latin typeface="Arial" pitchFamily="34" charset="0"/>
                <a:ea typeface="Arial" pitchFamily="34" charset="-122"/>
                <a:cs typeface="Arial" pitchFamily="34" charset="-120"/>
              </a:rPr>
              <a:t>Arithmetic drivers</a:t>
            </a:r>
            <a:endParaRPr lang="en-US" sz="1400" dirty="0"/>
          </a:p>
        </p:txBody>
      </p:sp>
      <p:sp>
        <p:nvSpPr>
          <p:cNvPr id="14" name="text-12"/>
          <p:cNvSpPr txBox="1"/>
          <p:nvPr/>
        </p:nvSpPr>
        <p:spPr>
          <a:xfrm>
            <a:off x="3520440" y="2706624"/>
            <a:ext cx="8122615" cy="603504"/>
          </a:xfrm>
          <a:prstGeom prst="rect">
            <a:avLst/>
          </a:prstGeom>
          <a:noFill/>
          <a:ln/>
        </p:spPr>
        <p:txBody>
          <a:bodyPr wrap="square" lIns="0" tIns="0" rIns="0" bIns="0" rtlCol="0" anchor="t"/>
          <a:lstStyle/>
          <a:p>
            <a:pPr algn="l" indent="0" marL="0">
              <a:buNone/>
            </a:pPr>
            <a:r>
              <a:rPr lang="en-US" sz="1250" dirty="0">
                <a:solidFill>
                  <a:srgbClr val="1F2A2E"/>
                </a:solidFill>
                <a:latin typeface="Arial" pitchFamily="34" charset="0"/>
                <a:ea typeface="Arial" pitchFamily="34" charset="-122"/>
                <a:cs typeface="Arial" pitchFamily="34" charset="-120"/>
              </a:rPr>
              <a:t>Fraud signals −2.05 pp, execution errors −1.62 pp, selfie / liveness −0.95 pp, no document type −0.60 pp. Face match improved (+0.36 pp).</a:t>
            </a:r>
            <a:endParaRPr lang="en-US" sz="1250" dirty="0"/>
          </a:p>
        </p:txBody>
      </p:sp>
      <p:sp>
        <p:nvSpPr>
          <p:cNvPr id="15" name="rect-13"/>
          <p:cNvSpPr/>
          <p:nvPr/>
        </p:nvSpPr>
        <p:spPr>
          <a:xfrm>
            <a:off x="548640" y="3364992"/>
            <a:ext cx="384048" cy="384048"/>
          </a:xfrm>
          <a:prstGeom prst="roundRect">
            <a:avLst>
              <a:gd name="adj" fmla="val 50000"/>
            </a:avLst>
          </a:prstGeom>
          <a:solidFill>
            <a:srgbClr val="0F4C4D"/>
          </a:solidFill>
          <a:ln/>
        </p:spPr>
      </p:sp>
      <p:sp>
        <p:nvSpPr>
          <p:cNvPr id="16" name="text-14"/>
          <p:cNvSpPr txBox="1"/>
          <p:nvPr/>
        </p:nvSpPr>
        <p:spPr>
          <a:xfrm>
            <a:off x="548640" y="3419856"/>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4</a:t>
            </a:r>
            <a:endParaRPr lang="en-US" sz="1300" dirty="0"/>
          </a:p>
        </p:txBody>
      </p:sp>
      <p:sp>
        <p:nvSpPr>
          <p:cNvPr id="17" name="text-15"/>
          <p:cNvSpPr txBox="1"/>
          <p:nvPr/>
        </p:nvSpPr>
        <p:spPr>
          <a:xfrm>
            <a:off x="1097280" y="3374136"/>
            <a:ext cx="2377440" cy="566928"/>
          </a:xfrm>
          <a:prstGeom prst="rect">
            <a:avLst/>
          </a:prstGeom>
          <a:noFill/>
          <a:ln/>
        </p:spPr>
        <p:txBody>
          <a:bodyPr wrap="square" lIns="0" tIns="0" rIns="0" bIns="0" rtlCol="0" anchor="t"/>
          <a:lstStyle/>
          <a:p>
            <a:pPr algn="l" indent="0" marL="0">
              <a:buNone/>
            </a:pPr>
            <a:r>
              <a:rPr lang="en-US" sz="1400" dirty="0">
                <a:solidFill>
                  <a:srgbClr val="0F4C4D"/>
                </a:solidFill>
                <a:latin typeface="Arial" pitchFamily="34" charset="0"/>
                <a:ea typeface="Arial" pitchFamily="34" charset="-122"/>
                <a:cs typeface="Arial" pitchFamily="34" charset="-120"/>
              </a:rPr>
              <a:t>Still hypotheses</a:t>
            </a:r>
            <a:endParaRPr lang="en-US" sz="1400" dirty="0"/>
          </a:p>
        </p:txBody>
      </p:sp>
      <p:sp>
        <p:nvSpPr>
          <p:cNvPr id="18" name="text-16"/>
          <p:cNvSpPr txBox="1"/>
          <p:nvPr/>
        </p:nvSpPr>
        <p:spPr>
          <a:xfrm>
            <a:off x="3520440" y="3374136"/>
            <a:ext cx="8122615" cy="603504"/>
          </a:xfrm>
          <a:prstGeom prst="rect">
            <a:avLst/>
          </a:prstGeom>
          <a:noFill/>
          <a:ln/>
        </p:spPr>
        <p:txBody>
          <a:bodyPr wrap="square" lIns="0" tIns="0" rIns="0" bIns="0" rtlCol="0" anchor="t"/>
          <a:lstStyle/>
          <a:p>
            <a:pPr algn="l" indent="0" marL="0">
              <a:buNone/>
            </a:pPr>
            <a:r>
              <a:rPr lang="en-US" sz="1250" dirty="0">
                <a:solidFill>
                  <a:srgbClr val="1F2A2E"/>
                </a:solidFill>
                <a:latin typeface="Arial" pitchFamily="34" charset="0"/>
                <a:ea typeface="Arial" pitchFamily="34" charset="-122"/>
                <a:cs typeface="Arial" pitchFamily="34" charset="-120"/>
              </a:rPr>
              <a:t>1,057 failures (range 1,055–1,130) sit above baseline in four date windows. Fraud signals are not adjudicated; the execution errors are unattributed; vendor incidents on Sep 1 and 6 are documented, but impact on ARQ is not.</a:t>
            </a:r>
            <a:endParaRPr lang="en-US" sz="1250" dirty="0"/>
          </a:p>
        </p:txBody>
      </p:sp>
      <p:sp>
        <p:nvSpPr>
          <p:cNvPr id="19" name="rect-17"/>
          <p:cNvSpPr/>
          <p:nvPr/>
        </p:nvSpPr>
        <p:spPr>
          <a:xfrm>
            <a:off x="548640" y="4032504"/>
            <a:ext cx="384048" cy="384048"/>
          </a:xfrm>
          <a:prstGeom prst="roundRect">
            <a:avLst>
              <a:gd name="adj" fmla="val 50000"/>
            </a:avLst>
          </a:prstGeom>
          <a:solidFill>
            <a:srgbClr val="0F4C4D"/>
          </a:solidFill>
          <a:ln/>
        </p:spPr>
      </p:sp>
      <p:sp>
        <p:nvSpPr>
          <p:cNvPr id="20" name="text-18"/>
          <p:cNvSpPr txBox="1"/>
          <p:nvPr/>
        </p:nvSpPr>
        <p:spPr>
          <a:xfrm>
            <a:off x="548640" y="4087368"/>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5</a:t>
            </a:r>
            <a:endParaRPr lang="en-US" sz="1300" dirty="0"/>
          </a:p>
        </p:txBody>
      </p:sp>
      <p:sp>
        <p:nvSpPr>
          <p:cNvPr id="21" name="text-19"/>
          <p:cNvSpPr txBox="1"/>
          <p:nvPr/>
        </p:nvSpPr>
        <p:spPr>
          <a:xfrm>
            <a:off x="1097280" y="4041648"/>
            <a:ext cx="2377440" cy="566928"/>
          </a:xfrm>
          <a:prstGeom prst="rect">
            <a:avLst/>
          </a:prstGeom>
          <a:noFill/>
          <a:ln/>
        </p:spPr>
        <p:txBody>
          <a:bodyPr wrap="square" lIns="0" tIns="0" rIns="0" bIns="0" rtlCol="0" anchor="t"/>
          <a:lstStyle/>
          <a:p>
            <a:pPr algn="l" indent="0" marL="0">
              <a:buNone/>
            </a:pPr>
            <a:r>
              <a:rPr lang="en-US" sz="1400" dirty="0">
                <a:solidFill>
                  <a:srgbClr val="0F4C4D"/>
                </a:solidFill>
                <a:latin typeface="Arial" pitchFamily="34" charset="0"/>
                <a:ea typeface="Arial" pitchFamily="34" charset="-122"/>
                <a:cs typeface="Arial" pitchFamily="34" charset="-120"/>
              </a:rPr>
              <a:t>First (Phase 0, weeks 0–2)</a:t>
            </a:r>
            <a:endParaRPr lang="en-US" sz="1400" dirty="0"/>
          </a:p>
        </p:txBody>
      </p:sp>
      <p:sp>
        <p:nvSpPr>
          <p:cNvPr id="22" name="text-20"/>
          <p:cNvSpPr txBox="1"/>
          <p:nvPr/>
        </p:nvSpPr>
        <p:spPr>
          <a:xfrm>
            <a:off x="3520440" y="4041648"/>
            <a:ext cx="8122615" cy="603504"/>
          </a:xfrm>
          <a:prstGeom prst="rect">
            <a:avLst/>
          </a:prstGeom>
          <a:noFill/>
          <a:ln/>
        </p:spPr>
        <p:txBody>
          <a:bodyPr wrap="square" lIns="0" tIns="0" rIns="0" bIns="0" rtlCol="0" anchor="t"/>
          <a:lstStyle/>
          <a:p>
            <a:pPr algn="l" indent="0" marL="0">
              <a:buNone/>
            </a:pPr>
            <a:r>
              <a:rPr lang="en-US" sz="1250" dirty="0">
                <a:solidFill>
                  <a:srgbClr val="1F2A2E"/>
                </a:solidFill>
                <a:latin typeface="Arial" pitchFamily="34" charset="0"/>
                <a:ea typeface="Arial" pitchFamily="34" charset="-122"/>
                <a:cs typeface="Arial" pitchFamily="34" charset="-120"/>
              </a:rPr>
              <a:t>Instrument the funnel; hold and retry execution errors; alert per reason code; reconcile control findings; adjudicate fraud samples; diagnose Mexican "no document type" with the vendor.</a:t>
            </a:r>
            <a:endParaRPr lang="en-US" sz="1250" dirty="0"/>
          </a:p>
        </p:txBody>
      </p:sp>
      <p:sp>
        <p:nvSpPr>
          <p:cNvPr id="23" name="rect-21"/>
          <p:cNvSpPr/>
          <p:nvPr/>
        </p:nvSpPr>
        <p:spPr>
          <a:xfrm>
            <a:off x="548640" y="4700016"/>
            <a:ext cx="384048" cy="384048"/>
          </a:xfrm>
          <a:prstGeom prst="roundRect">
            <a:avLst>
              <a:gd name="adj" fmla="val 50000"/>
            </a:avLst>
          </a:prstGeom>
          <a:solidFill>
            <a:srgbClr val="0F4C4D"/>
          </a:solidFill>
          <a:ln/>
        </p:spPr>
      </p:sp>
      <p:sp>
        <p:nvSpPr>
          <p:cNvPr id="24" name="text-22"/>
          <p:cNvSpPr txBox="1"/>
          <p:nvPr/>
        </p:nvSpPr>
        <p:spPr>
          <a:xfrm>
            <a:off x="548640" y="4754880"/>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6</a:t>
            </a:r>
            <a:endParaRPr lang="en-US" sz="1300" dirty="0"/>
          </a:p>
        </p:txBody>
      </p:sp>
      <p:sp>
        <p:nvSpPr>
          <p:cNvPr id="25" name="text-23"/>
          <p:cNvSpPr txBox="1"/>
          <p:nvPr/>
        </p:nvSpPr>
        <p:spPr>
          <a:xfrm>
            <a:off x="1097280" y="4709160"/>
            <a:ext cx="2377440" cy="566928"/>
          </a:xfrm>
          <a:prstGeom prst="rect">
            <a:avLst/>
          </a:prstGeom>
          <a:noFill/>
          <a:ln/>
        </p:spPr>
        <p:txBody>
          <a:bodyPr wrap="square" lIns="0" tIns="0" rIns="0" bIns="0" rtlCol="0" anchor="t"/>
          <a:lstStyle/>
          <a:p>
            <a:pPr algn="l" indent="0" marL="0">
              <a:buNone/>
            </a:pPr>
            <a:r>
              <a:rPr lang="en-US" sz="1400" dirty="0">
                <a:solidFill>
                  <a:srgbClr val="0F4C4D"/>
                </a:solidFill>
                <a:latin typeface="Arial" pitchFamily="34" charset="0"/>
                <a:ea typeface="Arial" pitchFamily="34" charset="-122"/>
                <a:cs typeface="Arial" pitchFamily="34" charset="-120"/>
              </a:rPr>
              <a:t>Needed</a:t>
            </a:r>
            <a:endParaRPr lang="en-US" sz="1400" dirty="0"/>
          </a:p>
        </p:txBody>
      </p:sp>
      <p:sp>
        <p:nvSpPr>
          <p:cNvPr id="26" name="text-24"/>
          <p:cNvSpPr txBox="1"/>
          <p:nvPr/>
        </p:nvSpPr>
        <p:spPr>
          <a:xfrm>
            <a:off x="3520440" y="4709160"/>
            <a:ext cx="8122615" cy="603504"/>
          </a:xfrm>
          <a:prstGeom prst="rect">
            <a:avLst/>
          </a:prstGeom>
          <a:noFill/>
          <a:ln/>
        </p:spPr>
        <p:txBody>
          <a:bodyPr wrap="square" lIns="0" tIns="0" rIns="0" bIns="0" rtlCol="0" anchor="t"/>
          <a:lstStyle/>
          <a:p>
            <a:pPr algn="l" indent="0" marL="0">
              <a:buNone/>
            </a:pPr>
            <a:r>
              <a:rPr lang="en-US" sz="1250" dirty="0">
                <a:solidFill>
                  <a:srgbClr val="1F2A2E"/>
                </a:solidFill>
                <a:latin typeface="Arial" pitchFamily="34" charset="0"/>
                <a:ea typeface="Arial" pitchFamily="34" charset="-122"/>
                <a:cs typeface="Arial" pitchFamily="34" charset="-120"/>
              </a:rPr>
              <a:t>Event schema with privacy sign-off; vendor case access and incident reports; Risk and Compliance time; one medium and several small engineering items (sizes to confirm).</a:t>
            </a:r>
            <a:endParaRPr lang="en-US" sz="1250" dirty="0"/>
          </a:p>
        </p:txBody>
      </p:sp>
      <p:sp>
        <p:nvSpPr>
          <p:cNvPr id="27" name="rect-25"/>
          <p:cNvSpPr/>
          <p:nvPr/>
        </p:nvSpPr>
        <p:spPr>
          <a:xfrm>
            <a:off x="548640" y="5367528"/>
            <a:ext cx="384048" cy="384048"/>
          </a:xfrm>
          <a:prstGeom prst="roundRect">
            <a:avLst>
              <a:gd name="adj" fmla="val 50000"/>
            </a:avLst>
          </a:prstGeom>
          <a:solidFill>
            <a:srgbClr val="0F4C4D"/>
          </a:solidFill>
          <a:ln/>
        </p:spPr>
      </p:sp>
      <p:sp>
        <p:nvSpPr>
          <p:cNvPr id="28" name="text-26"/>
          <p:cNvSpPr txBox="1"/>
          <p:nvPr/>
        </p:nvSpPr>
        <p:spPr>
          <a:xfrm>
            <a:off x="548640" y="5422392"/>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7</a:t>
            </a:r>
            <a:endParaRPr lang="en-US" sz="1300" dirty="0"/>
          </a:p>
        </p:txBody>
      </p:sp>
      <p:sp>
        <p:nvSpPr>
          <p:cNvPr id="29" name="text-27"/>
          <p:cNvSpPr txBox="1"/>
          <p:nvPr/>
        </p:nvSpPr>
        <p:spPr>
          <a:xfrm>
            <a:off x="1097280" y="5376672"/>
            <a:ext cx="2377440" cy="566928"/>
          </a:xfrm>
          <a:prstGeom prst="rect">
            <a:avLst/>
          </a:prstGeom>
          <a:noFill/>
          <a:ln/>
        </p:spPr>
        <p:txBody>
          <a:bodyPr wrap="square" lIns="0" tIns="0" rIns="0" bIns="0" rtlCol="0" anchor="t"/>
          <a:lstStyle/>
          <a:p>
            <a:pPr algn="l" indent="0" marL="0">
              <a:buNone/>
            </a:pPr>
            <a:r>
              <a:rPr lang="en-US" sz="1400" dirty="0">
                <a:solidFill>
                  <a:srgbClr val="0F4C4D"/>
                </a:solidFill>
                <a:latin typeface="Arial" pitchFamily="34" charset="0"/>
                <a:ea typeface="Arial" pitchFamily="34" charset="-122"/>
                <a:cs typeface="Arial" pitchFamily="34" charset="-120"/>
              </a:rPr>
              <a:t>Verification</a:t>
            </a:r>
            <a:endParaRPr lang="en-US" sz="1400" dirty="0"/>
          </a:p>
        </p:txBody>
      </p:sp>
      <p:sp>
        <p:nvSpPr>
          <p:cNvPr id="30" name="text-28"/>
          <p:cNvSpPr txBox="1"/>
          <p:nvPr/>
        </p:nvSpPr>
        <p:spPr>
          <a:xfrm>
            <a:off x="3520440" y="5376672"/>
            <a:ext cx="8122615" cy="603504"/>
          </a:xfrm>
          <a:prstGeom prst="rect">
            <a:avLst/>
          </a:prstGeom>
          <a:noFill/>
          <a:ln/>
        </p:spPr>
        <p:txBody>
          <a:bodyPr wrap="square" lIns="0" tIns="0" rIns="0" bIns="0" rtlCol="0" anchor="t"/>
          <a:lstStyle/>
          <a:p>
            <a:pPr algn="l" indent="0" marL="0">
              <a:buNone/>
            </a:pPr>
            <a:r>
              <a:rPr lang="en-US" sz="1250" dirty="0">
                <a:solidFill>
                  <a:srgbClr val="1F2A2E"/>
                </a:solidFill>
                <a:latin typeface="Arial" pitchFamily="34" charset="0"/>
                <a:ea typeface="Arial" pitchFamily="34" charset="-122"/>
                <a:cs typeface="Arial" pitchFamily="34" charset="-120"/>
              </a:rPr>
              <a:t>Acceptance criteria per action; experiments on eventual approval per person within 7 days. Scenarios for recurring causes: +0.9 pp to +4.3 pp, not forecasts. Confirmed control gaps could cost up to 2.3 pp.</a:t>
            </a:r>
            <a:endParaRPr lang="en-US" sz="12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We can measure approval among recorded decisions, not the start-to-finish funnel</a:t>
            </a:r>
            <a:endParaRPr lang="en-US" sz="2600" dirty="0"/>
          </a:p>
        </p:txBody>
      </p:sp>
      <p:sp>
        <p:nvSpPr>
          <p:cNvPr id="3" name="rect-1"/>
          <p:cNvSpPr/>
          <p:nvPr/>
        </p:nvSpPr>
        <p:spPr>
          <a:xfrm>
            <a:off x="548640" y="1371600"/>
            <a:ext cx="3749040" cy="4434840"/>
          </a:xfrm>
          <a:prstGeom prst="roundRect">
            <a:avLst>
              <a:gd name="adj" fmla="val 1951"/>
            </a:avLst>
          </a:prstGeom>
          <a:solidFill>
            <a:srgbClr val="DCEAE9"/>
          </a:solidFill>
          <a:ln/>
        </p:spPr>
      </p:sp>
      <p:sp>
        <p:nvSpPr>
          <p:cNvPr id="4" name="text-2"/>
          <p:cNvSpPr txBox="1"/>
          <p:nvPr/>
        </p:nvSpPr>
        <p:spPr>
          <a:xfrm>
            <a:off x="777240" y="1536192"/>
            <a:ext cx="3291840" cy="4206240"/>
          </a:xfrm>
          <a:prstGeom prst="rect">
            <a:avLst/>
          </a:prstGeom>
          <a:noFill/>
          <a:ln/>
        </p:spPr>
        <p:txBody>
          <a:bodyPr wrap="square" lIns="0" tIns="0" rIns="0" bIns="0" rtlCol="0" anchor="t"/>
          <a:lstStyle/>
          <a:p>
            <a:pPr algn="l" indent="0" marL="0">
              <a:spcAft>
                <a:spcPts val="600"/>
              </a:spcAft>
              <a:buNone/>
            </a:pPr>
            <a:r>
              <a:rPr lang="en-US" sz="1400" b="1" dirty="0">
                <a:solidFill>
                  <a:srgbClr val="0F4C4D"/>
                </a:solidFill>
                <a:latin typeface="Arial" pitchFamily="34" charset="0"/>
                <a:ea typeface="Arial" pitchFamily="34" charset="-122"/>
                <a:cs typeface="Arial" pitchFamily="34" charset="-120"/>
              </a:rPr>
              <a:t>Headline metric</a:t>
            </a:r>
            <a:endParaRPr lang="en-US" sz="1400" dirty="0"/>
          </a:p>
          <a:p>
            <a:pPr algn="l" indent="0" marL="0">
              <a:spcAft>
                <a:spcPts val="1000"/>
              </a:spcAft>
              <a:buNone/>
            </a:pPr>
            <a:r>
              <a:rPr lang="en-US" sz="1400" dirty="0">
                <a:solidFill>
                  <a:srgbClr val="1F2A2E"/>
                </a:solidFill>
                <a:latin typeface="Arial" pitchFamily="34" charset="0"/>
                <a:ea typeface="Arial" pitchFamily="34" charset="-122"/>
                <a:cs typeface="Arial" pitchFamily="34" charset="-120"/>
              </a:rPr>
              <a:t>Approval rate = approved (PASSED or APPROVED) ÷ recorded decisions.</a:t>
            </a:r>
            <a:endParaRPr lang="en-US" sz="1400" dirty="0"/>
          </a:p>
          <a:p>
            <a:pPr algn="l" indent="0" marL="0">
              <a:spcAft>
                <a:spcPts val="1000"/>
              </a:spcAft>
              <a:buNone/>
            </a:pPr>
            <a:r>
              <a:rPr lang="en-US" sz="1400" dirty="0">
                <a:solidFill>
                  <a:srgbClr val="1F2A2E"/>
                </a:solidFill>
                <a:latin typeface="Arial" pitchFamily="34" charset="0"/>
                <a:ea typeface="Arial" pitchFamily="34" charset="-122"/>
                <a:cs typeface="Arial" pitchFamily="34" charset="-120"/>
              </a:rPr>
              <a:t>Prior period 88.7%, recent 83.3%.</a:t>
            </a:r>
            <a:endParaRPr lang="en-US" sz="1400" dirty="0"/>
          </a:p>
          <a:p>
            <a:pPr algn="l" indent="0" marL="0">
              <a:spcAft>
                <a:spcPts val="1000"/>
              </a:spcAft>
              <a:buNone/>
            </a:pPr>
            <a:r>
              <a:rPr lang="en-US" sz="1200" dirty="0">
                <a:solidFill>
                  <a:srgbClr val="5C686C"/>
                </a:solidFill>
                <a:latin typeface="Arial" pitchFamily="34" charset="0"/>
                <a:ea typeface="Arial" pitchFamily="34" charset="-122"/>
                <a:cs typeface="Arial" pitchFamily="34" charset="-120"/>
              </a:rPr>
              <a:t>WARNING counts as not approved and not as a confirmed rejection. Its later review outcome is not in the data.</a:t>
            </a:r>
            <a:endParaRPr lang="en-US" sz="1400" dirty="0"/>
          </a:p>
          <a:p>
            <a:pPr algn="l" indent="0" marL="0">
              <a:buNone/>
            </a:pPr>
            <a:r>
              <a:rPr lang="en-US" sz="1200" dirty="0">
                <a:solidFill>
                  <a:srgbClr val="5C686C"/>
                </a:solidFill>
                <a:latin typeface="Arial" pitchFamily="34" charset="0"/>
                <a:ea typeface="Arial" pitchFamily="34" charset="-122"/>
                <a:cs typeface="Arial" pitchFamily="34" charset="-120"/>
              </a:rPr>
              <a:t>Each record is one user; the extract does not say whether it is a first, latest or final attempt, nor what event its date marks.</a:t>
            </a:r>
            <a:endParaRPr lang="en-US" sz="1400" dirty="0"/>
          </a:p>
        </p:txBody>
      </p:sp>
      <p:graphicFrame>
        <p:nvGraphicFramePr>
          <p:cNvPr id="4" name="table-3"/>
          <p:cNvGraphicFramePr>
            <a:graphicFrameLocks noGrp="1"/>
          </p:cNvGraphicFramePr>
          <p:nvPr>
            <p:extLst>
              <p:ext uri="{D42A27DB-BD31-4B8C-83A1-F6EECF244321}">
                <p14:modId xmlns:p14="http://schemas.microsoft.com/office/powerpoint/2010/main" val="1579011935"/>
              </p:ext>
            </p:extLst>
          </p:nvPr>
        </p:nvGraphicFramePr>
        <p:xfrm>
          <a:off x="4572000" y="1371600"/>
          <a:ext cx="4206240" cy="914400"/>
        </p:xfrm>
        <a:graphic>
          <a:graphicData uri="http://schemas.openxmlformats.org/drawingml/2006/table">
            <a:tbl>
              <a:tblPr/>
              <a:tblGrid>
                <a:gridCol w="1920240"/>
                <a:gridCol w="914400"/>
                <a:gridCol w="685800"/>
                <a:gridCol w="685800"/>
              </a:tblGrid>
              <a:tr h="0">
                <a:tc>
                  <a:txBody>
                    <a:bodyPr/>
                    <a:lstStyle/>
                    <a:p>
                      <a:pPr indent="0" marL="0">
                        <a:buNone/>
                      </a:pPr>
                      <a:r>
                        <a:rPr lang="en-US" sz="1100" b="1" dirty="0">
                          <a:solidFill>
                            <a:srgbClr val="FFFFFF"/>
                          </a:solidFill>
                          <a:latin typeface="Arial" pitchFamily="34" charset="0"/>
                          <a:ea typeface="Arial" pitchFamily="34" charset="-122"/>
                          <a:cs typeface="Arial" pitchFamily="34" charset="-120"/>
                        </a:rPr>
                        <a:t>Metric</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Status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Prior</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Recent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Approval rate among recorded decisions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b="1" dirty="0">
                          <a:solidFill>
                            <a:srgbClr val="0F4C4D"/>
                          </a:solidFill>
                          <a:latin typeface="Arial" pitchFamily="34" charset="0"/>
                          <a:ea typeface="Arial" pitchFamily="34" charset="-122"/>
                          <a:cs typeface="Arial" pitchFamily="34" charset="-120"/>
                        </a:rPr>
                        <a:t>Available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88.7%</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83.3%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Unresolved warning rate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b="1" dirty="0">
                          <a:solidFill>
                            <a:srgbClr val="0F4C4D"/>
                          </a:solidFill>
                          <a:latin typeface="Arial" pitchFamily="34" charset="0"/>
                          <a:ea typeface="Arial" pitchFamily="34" charset="-122"/>
                          <a:cs typeface="Arial" pitchFamily="34" charset="-120"/>
                        </a:rPr>
                        <a:t>Available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0.7%</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1.1%</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Completion rate (start to terminal state)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b="1" dirty="0">
                          <a:solidFill>
                            <a:srgbClr val="B93A2C"/>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Eventual approval within 7 days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b="1" dirty="0">
                          <a:solidFill>
                            <a:srgbClr val="B93A2C"/>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Abandonment rate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b="1" dirty="0">
                          <a:solidFill>
                            <a:srgbClr val="B93A2C"/>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Retry rate and retry approval</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b="1" dirty="0">
                          <a:solidFill>
                            <a:srgbClr val="B93A2C"/>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Manual-review outcomes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b="1" dirty="0">
                          <a:solidFill>
                            <a:srgbClr val="B93A2C"/>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Time to completion</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b="1" dirty="0">
                          <a:solidFill>
                            <a:srgbClr val="B93A2C"/>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6" name="text-4"/>
          <p:cNvSpPr txBox="1"/>
          <p:nvPr/>
        </p:nvSpPr>
        <p:spPr>
          <a:xfrm>
            <a:off x="9052560" y="1371600"/>
            <a:ext cx="2606040" cy="4480560"/>
          </a:xfrm>
          <a:prstGeom prst="rect">
            <a:avLst/>
          </a:prstGeom>
          <a:noFill/>
          <a:ln/>
        </p:spPr>
        <p:txBody>
          <a:bodyPr wrap="square" lIns="0" tIns="0" rIns="0" bIns="0" rtlCol="0" anchor="t"/>
          <a:lstStyle/>
          <a:p>
            <a:pPr algn="l" indent="0" marL="0">
              <a:spcAft>
                <a:spcPts val="600"/>
              </a:spcAft>
              <a:buNone/>
            </a:pPr>
            <a:r>
              <a:rPr lang="en-US" sz="1300" b="1" dirty="0">
                <a:solidFill>
                  <a:srgbClr val="0F4C4D"/>
                </a:solidFill>
                <a:latin typeface="Arial" pitchFamily="34" charset="0"/>
                <a:ea typeface="Arial" pitchFamily="34" charset="-122"/>
                <a:cs typeface="Arial" pitchFamily="34" charset="-120"/>
              </a:rPr>
              <a:t>To measure the funnel, log</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kyc_started</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document_selected</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document_captured</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selfie_captured</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kyc_submitted</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vendor_result</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kyc_decided</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review_completed</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account_enabled</a:t>
            </a:r>
            <a:endParaRPr lang="en-US" sz="1300" dirty="0"/>
          </a:p>
          <a:p>
            <a:pPr algn="l" indent="0" marL="0">
              <a:buNone/>
            </a:pPr>
            <a:r>
              <a:rPr lang="en-US" sz="1150" dirty="0">
                <a:solidFill>
                  <a:srgbClr val="5C686C"/>
                </a:solidFill>
                <a:latin typeface="Arial" pitchFamily="34" charset="0"/>
                <a:ea typeface="Arial" pitchFamily="34" charset="-122"/>
                <a:cs typeface="Arial" pitchFamily="34" charset="-120"/>
              </a:rPr>
              <a:t>with person, session and attempt ids, timestamps and app/SDK version.</a:t>
            </a:r>
            <a:endParaRPr lang="en-US" sz="1300" dirty="0"/>
          </a:p>
        </p:txBody>
      </p:sp>
      <p:sp>
        <p:nvSpPr>
          <p:cNvPr id="7" name="text-5"/>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Do not read the approval rate as completion: people who never submit, and approvals after retry or review, are invisible here. Whether true completion is lower or higher cannot be determined from these extracts.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Approval fell from 88.7% to 83.3%: 2,945 fewer approvals</a:t>
            </a:r>
            <a:endParaRPr lang="en-US" sz="2600" dirty="0"/>
          </a:p>
        </p:txBody>
      </p:sp>
      <p:sp>
        <p:nvSpPr>
          <p:cNvPr id="3" name="rect-1"/>
          <p:cNvSpPr/>
          <p:nvPr/>
        </p:nvSpPr>
        <p:spPr>
          <a:xfrm>
            <a:off x="548640" y="1371600"/>
            <a:ext cx="3566160" cy="1234440"/>
          </a:xfrm>
          <a:prstGeom prst="roundRect">
            <a:avLst>
              <a:gd name="adj" fmla="val 5926"/>
            </a:avLst>
          </a:prstGeom>
          <a:solidFill>
            <a:srgbClr val="F3F6F6"/>
          </a:solidFill>
          <a:ln/>
        </p:spPr>
      </p:sp>
      <p:sp>
        <p:nvSpPr>
          <p:cNvPr id="4" name="text-2"/>
          <p:cNvSpPr txBox="1"/>
          <p:nvPr/>
        </p:nvSpPr>
        <p:spPr>
          <a:xfrm>
            <a:off x="731520" y="1499616"/>
            <a:ext cx="3200400" cy="566928"/>
          </a:xfrm>
          <a:prstGeom prst="rect">
            <a:avLst/>
          </a:prstGeom>
          <a:noFill/>
          <a:ln/>
        </p:spPr>
        <p:txBody>
          <a:bodyPr wrap="square" lIns="0" tIns="0" rIns="0" bIns="0" rtlCol="0" anchor="t"/>
          <a:lstStyle/>
          <a:p>
            <a:pPr algn="l" indent="0" marL="0">
              <a:buNone/>
            </a:pPr>
            <a:r>
              <a:rPr lang="en-US" sz="2800" dirty="0">
                <a:solidFill>
                  <a:srgbClr val="1F2A2E"/>
                </a:solidFill>
                <a:latin typeface="Georgia" pitchFamily="34" charset="0"/>
                <a:ea typeface="Georgia" pitchFamily="34" charset="-122"/>
                <a:cs typeface="Georgia" pitchFamily="34" charset="-120"/>
              </a:rPr>
              <a:t>88.7% → 83.3%</a:t>
            </a:r>
            <a:endParaRPr lang="en-US" sz="2800" dirty="0"/>
          </a:p>
        </p:txBody>
      </p:sp>
      <p:sp>
        <p:nvSpPr>
          <p:cNvPr id="5" name="text-3"/>
          <p:cNvSpPr txBox="1"/>
          <p:nvPr/>
        </p:nvSpPr>
        <p:spPr>
          <a:xfrm>
            <a:off x="731520" y="2103120"/>
            <a:ext cx="3200400" cy="45720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Approval among recorded decisions, prior → recent period (−5.4 pp)</a:t>
            </a:r>
            <a:endParaRPr lang="en-US" sz="1150" dirty="0"/>
          </a:p>
        </p:txBody>
      </p:sp>
      <p:sp>
        <p:nvSpPr>
          <p:cNvPr id="6" name="rect-4"/>
          <p:cNvSpPr/>
          <p:nvPr/>
        </p:nvSpPr>
        <p:spPr>
          <a:xfrm>
            <a:off x="548640" y="2743200"/>
            <a:ext cx="3566160" cy="1234440"/>
          </a:xfrm>
          <a:prstGeom prst="roundRect">
            <a:avLst>
              <a:gd name="adj" fmla="val 5926"/>
            </a:avLst>
          </a:prstGeom>
          <a:solidFill>
            <a:srgbClr val="F3F6F6"/>
          </a:solidFill>
          <a:ln/>
        </p:spPr>
      </p:sp>
      <p:sp>
        <p:nvSpPr>
          <p:cNvPr id="7" name="text-5"/>
          <p:cNvSpPr txBox="1"/>
          <p:nvPr/>
        </p:nvSpPr>
        <p:spPr>
          <a:xfrm>
            <a:off x="731520" y="2871216"/>
            <a:ext cx="3200400" cy="566928"/>
          </a:xfrm>
          <a:prstGeom prst="rect">
            <a:avLst/>
          </a:prstGeom>
          <a:noFill/>
          <a:ln/>
        </p:spPr>
        <p:txBody>
          <a:bodyPr wrap="square" lIns="0" tIns="0" rIns="0" bIns="0" rtlCol="0" anchor="t"/>
          <a:lstStyle/>
          <a:p>
            <a:pPr algn="l" indent="0" marL="0">
              <a:buNone/>
            </a:pPr>
            <a:r>
              <a:rPr lang="en-US" sz="2800" dirty="0">
                <a:solidFill>
                  <a:srgbClr val="1F2A2E"/>
                </a:solidFill>
                <a:latin typeface="Georgia" pitchFamily="34" charset="0"/>
                <a:ea typeface="Georgia" pitchFamily="34" charset="-122"/>
                <a:cs typeface="Georgia" pitchFamily="34" charset="-120"/>
              </a:rPr>
              <a:t>−2,945</a:t>
            </a:r>
            <a:endParaRPr lang="en-US" sz="2800" dirty="0"/>
          </a:p>
        </p:txBody>
      </p:sp>
      <p:sp>
        <p:nvSpPr>
          <p:cNvPr id="8" name="text-6"/>
          <p:cNvSpPr txBox="1"/>
          <p:nvPr/>
        </p:nvSpPr>
        <p:spPr>
          <a:xfrm>
            <a:off x="731520" y="3474720"/>
            <a:ext cx="3200400" cy="45720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Approvals: −1,587 from fewer decisions at the prior rate, −1,358 from the lower rate</a:t>
            </a:r>
            <a:endParaRPr lang="en-US" sz="1150" dirty="0"/>
          </a:p>
        </p:txBody>
      </p:sp>
      <p:sp>
        <p:nvSpPr>
          <p:cNvPr id="9" name="rect-7"/>
          <p:cNvSpPr/>
          <p:nvPr/>
        </p:nvSpPr>
        <p:spPr>
          <a:xfrm>
            <a:off x="548640" y="4114800"/>
            <a:ext cx="1719072" cy="1234440"/>
          </a:xfrm>
          <a:prstGeom prst="roundRect">
            <a:avLst>
              <a:gd name="adj" fmla="val 5926"/>
            </a:avLst>
          </a:prstGeom>
          <a:solidFill>
            <a:srgbClr val="F3F6F6"/>
          </a:solidFill>
          <a:ln/>
        </p:spPr>
      </p:sp>
      <p:sp>
        <p:nvSpPr>
          <p:cNvPr id="10" name="text-8"/>
          <p:cNvSpPr txBox="1"/>
          <p:nvPr/>
        </p:nvSpPr>
        <p:spPr>
          <a:xfrm>
            <a:off x="731520" y="4242816"/>
            <a:ext cx="1353312" cy="566928"/>
          </a:xfrm>
          <a:prstGeom prst="rect">
            <a:avLst/>
          </a:prstGeom>
          <a:noFill/>
          <a:ln/>
        </p:spPr>
        <p:txBody>
          <a:bodyPr wrap="square" lIns="0" tIns="0" rIns="0" bIns="0" rtlCol="0" anchor="t"/>
          <a:lstStyle/>
          <a:p>
            <a:pPr algn="l" indent="0" marL="0">
              <a:buNone/>
            </a:pPr>
            <a:r>
              <a:rPr lang="en-US" sz="2400" dirty="0">
                <a:solidFill>
                  <a:srgbClr val="1F2A2E"/>
                </a:solidFill>
                <a:latin typeface="Georgia" pitchFamily="34" charset="0"/>
                <a:ea typeface="Georgia" pitchFamily="34" charset="-122"/>
                <a:cs typeface="Georgia" pitchFamily="34" charset="-120"/>
              </a:rPr>
              <a:t>78.8%</a:t>
            </a:r>
            <a:endParaRPr lang="en-US" sz="2400" dirty="0"/>
          </a:p>
        </p:txBody>
      </p:sp>
      <p:sp>
        <p:nvSpPr>
          <p:cNvPr id="11" name="text-9"/>
          <p:cNvSpPr txBox="1"/>
          <p:nvPr/>
        </p:nvSpPr>
        <p:spPr>
          <a:xfrm>
            <a:off x="731520" y="4846320"/>
            <a:ext cx="1353312" cy="45720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Mexican documents (was 84.1%)</a:t>
            </a:r>
            <a:endParaRPr lang="en-US" sz="1150" dirty="0"/>
          </a:p>
        </p:txBody>
      </p:sp>
      <p:sp>
        <p:nvSpPr>
          <p:cNvPr id="12" name="rect-10"/>
          <p:cNvSpPr/>
          <p:nvPr/>
        </p:nvSpPr>
        <p:spPr>
          <a:xfrm>
            <a:off x="2395728" y="4114800"/>
            <a:ext cx="1719072" cy="1234440"/>
          </a:xfrm>
          <a:prstGeom prst="roundRect">
            <a:avLst>
              <a:gd name="adj" fmla="val 5926"/>
            </a:avLst>
          </a:prstGeom>
          <a:solidFill>
            <a:srgbClr val="F3F6F6"/>
          </a:solidFill>
          <a:ln/>
        </p:spPr>
      </p:sp>
      <p:sp>
        <p:nvSpPr>
          <p:cNvPr id="13" name="text-11"/>
          <p:cNvSpPr txBox="1"/>
          <p:nvPr/>
        </p:nvSpPr>
        <p:spPr>
          <a:xfrm>
            <a:off x="2578608" y="4242816"/>
            <a:ext cx="1353312" cy="566928"/>
          </a:xfrm>
          <a:prstGeom prst="rect">
            <a:avLst/>
          </a:prstGeom>
          <a:noFill/>
          <a:ln/>
        </p:spPr>
        <p:txBody>
          <a:bodyPr wrap="square" lIns="0" tIns="0" rIns="0" bIns="0" rtlCol="0" anchor="t"/>
          <a:lstStyle/>
          <a:p>
            <a:pPr algn="l" indent="0" marL="0">
              <a:buNone/>
            </a:pPr>
            <a:r>
              <a:rPr lang="en-US" sz="2400" dirty="0">
                <a:solidFill>
                  <a:srgbClr val="1F2A2E"/>
                </a:solidFill>
                <a:latin typeface="Georgia" pitchFamily="34" charset="0"/>
                <a:ea typeface="Georgia" pitchFamily="34" charset="-122"/>
                <a:cs typeface="Georgia" pitchFamily="34" charset="-120"/>
              </a:rPr>
              <a:t>89.1%</a:t>
            </a:r>
            <a:endParaRPr lang="en-US" sz="2400" dirty="0"/>
          </a:p>
        </p:txBody>
      </p:sp>
      <p:sp>
        <p:nvSpPr>
          <p:cNvPr id="14" name="text-12"/>
          <p:cNvSpPr txBox="1"/>
          <p:nvPr/>
        </p:nvSpPr>
        <p:spPr>
          <a:xfrm>
            <a:off x="2578608" y="4846320"/>
            <a:ext cx="1353312" cy="45720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Argentine documents (was 94.9%)</a:t>
            </a:r>
            <a:endParaRPr lang="en-US" sz="1150" dirty="0"/>
          </a:p>
        </p:txBody>
      </p:sp>
      <p:sp>
        <p:nvSpPr>
          <p:cNvPr id="15" name="text-13"/>
          <p:cNvSpPr txBox="1"/>
          <p:nvPr/>
        </p:nvSpPr>
        <p:spPr>
          <a:xfrm>
            <a:off x="4480560" y="1371600"/>
            <a:ext cx="7162495" cy="27432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Daily approval rate, all documents (red = incident window days)</a:t>
            </a:r>
            <a:endParaRPr lang="en-US" sz="1150" dirty="0"/>
          </a:p>
        </p:txBody>
      </p:sp>
      <p:sp>
        <p:nvSpPr>
          <p:cNvPr id="16" name="line-14"/>
          <p:cNvSpPr/>
          <p:nvPr/>
        </p:nvSpPr>
        <p:spPr>
          <a:xfrm>
            <a:off x="4892040" y="5257800"/>
            <a:ext cx="6751015" cy="0"/>
          </a:xfrm>
          <a:prstGeom prst="line">
            <a:avLst/>
          </a:prstGeom>
          <a:noFill/>
          <a:ln w="9525">
            <a:solidFill>
              <a:srgbClr val="D5DCDD"/>
            </a:solidFill>
            <a:prstDash val="solid"/>
          </a:ln>
        </p:spPr>
      </p:sp>
      <p:sp>
        <p:nvSpPr>
          <p:cNvPr id="17" name="text-15"/>
          <p:cNvSpPr txBox="1"/>
          <p:nvPr/>
        </p:nvSpPr>
        <p:spPr>
          <a:xfrm>
            <a:off x="4480560" y="5166360"/>
            <a:ext cx="365760" cy="182880"/>
          </a:xfrm>
          <a:prstGeom prst="rect">
            <a:avLst/>
          </a:prstGeom>
          <a:noFill/>
          <a:ln/>
        </p:spPr>
        <p:txBody>
          <a:bodyPr wrap="square" lIns="0" tIns="0" rIns="0" bIns="0" rtlCol="0" anchor="t"/>
          <a:lstStyle/>
          <a:p>
            <a:pPr algn="r" indent="0" marL="0">
              <a:buNone/>
            </a:pPr>
            <a:r>
              <a:rPr lang="en-US" sz="950" dirty="0">
                <a:solidFill>
                  <a:srgbClr val="8A9497"/>
                </a:solidFill>
                <a:latin typeface="Arial" pitchFamily="34" charset="0"/>
                <a:ea typeface="Arial" pitchFamily="34" charset="-122"/>
                <a:cs typeface="Arial" pitchFamily="34" charset="-120"/>
              </a:rPr>
              <a:t>40%</a:t>
            </a:r>
            <a:endParaRPr lang="en-US" sz="950" dirty="0"/>
          </a:p>
        </p:txBody>
      </p:sp>
      <p:sp>
        <p:nvSpPr>
          <p:cNvPr id="18" name="line-16"/>
          <p:cNvSpPr/>
          <p:nvPr/>
        </p:nvSpPr>
        <p:spPr>
          <a:xfrm>
            <a:off x="4892040" y="4206240"/>
            <a:ext cx="6751015" cy="0"/>
          </a:xfrm>
          <a:prstGeom prst="line">
            <a:avLst/>
          </a:prstGeom>
          <a:noFill/>
          <a:ln w="9525">
            <a:solidFill>
              <a:srgbClr val="D5DCDD"/>
            </a:solidFill>
            <a:prstDash val="solid"/>
          </a:ln>
        </p:spPr>
      </p:sp>
      <p:sp>
        <p:nvSpPr>
          <p:cNvPr id="19" name="text-17"/>
          <p:cNvSpPr txBox="1"/>
          <p:nvPr/>
        </p:nvSpPr>
        <p:spPr>
          <a:xfrm>
            <a:off x="4480560" y="4114800"/>
            <a:ext cx="365760" cy="182880"/>
          </a:xfrm>
          <a:prstGeom prst="rect">
            <a:avLst/>
          </a:prstGeom>
          <a:noFill/>
          <a:ln/>
        </p:spPr>
        <p:txBody>
          <a:bodyPr wrap="square" lIns="0" tIns="0" rIns="0" bIns="0" rtlCol="0" anchor="t"/>
          <a:lstStyle/>
          <a:p>
            <a:pPr algn="r" indent="0" marL="0">
              <a:buNone/>
            </a:pPr>
            <a:r>
              <a:rPr lang="en-US" sz="950" dirty="0">
                <a:solidFill>
                  <a:srgbClr val="8A9497"/>
                </a:solidFill>
                <a:latin typeface="Arial" pitchFamily="34" charset="0"/>
                <a:ea typeface="Arial" pitchFamily="34" charset="-122"/>
                <a:cs typeface="Arial" pitchFamily="34" charset="-120"/>
              </a:rPr>
              <a:t>60%</a:t>
            </a:r>
            <a:endParaRPr lang="en-US" sz="950" dirty="0"/>
          </a:p>
        </p:txBody>
      </p:sp>
      <p:sp>
        <p:nvSpPr>
          <p:cNvPr id="20" name="line-18"/>
          <p:cNvSpPr/>
          <p:nvPr/>
        </p:nvSpPr>
        <p:spPr>
          <a:xfrm>
            <a:off x="4892040" y="3154680"/>
            <a:ext cx="6751015" cy="0"/>
          </a:xfrm>
          <a:prstGeom prst="line">
            <a:avLst/>
          </a:prstGeom>
          <a:noFill/>
          <a:ln w="9525">
            <a:solidFill>
              <a:srgbClr val="D5DCDD"/>
            </a:solidFill>
            <a:prstDash val="solid"/>
          </a:ln>
        </p:spPr>
      </p:sp>
      <p:sp>
        <p:nvSpPr>
          <p:cNvPr id="21" name="text-19"/>
          <p:cNvSpPr txBox="1"/>
          <p:nvPr/>
        </p:nvSpPr>
        <p:spPr>
          <a:xfrm>
            <a:off x="4480560" y="3063240"/>
            <a:ext cx="365760" cy="182880"/>
          </a:xfrm>
          <a:prstGeom prst="rect">
            <a:avLst/>
          </a:prstGeom>
          <a:noFill/>
          <a:ln/>
        </p:spPr>
        <p:txBody>
          <a:bodyPr wrap="square" lIns="0" tIns="0" rIns="0" bIns="0" rtlCol="0" anchor="t"/>
          <a:lstStyle/>
          <a:p>
            <a:pPr algn="r" indent="0" marL="0">
              <a:buNone/>
            </a:pPr>
            <a:r>
              <a:rPr lang="en-US" sz="950" dirty="0">
                <a:solidFill>
                  <a:srgbClr val="8A9497"/>
                </a:solidFill>
                <a:latin typeface="Arial" pitchFamily="34" charset="0"/>
                <a:ea typeface="Arial" pitchFamily="34" charset="-122"/>
                <a:cs typeface="Arial" pitchFamily="34" charset="-120"/>
              </a:rPr>
              <a:t>80%</a:t>
            </a:r>
            <a:endParaRPr lang="en-US" sz="950" dirty="0"/>
          </a:p>
        </p:txBody>
      </p:sp>
      <p:sp>
        <p:nvSpPr>
          <p:cNvPr id="22" name="line-20"/>
          <p:cNvSpPr/>
          <p:nvPr/>
        </p:nvSpPr>
        <p:spPr>
          <a:xfrm>
            <a:off x="4892040" y="2103120"/>
            <a:ext cx="6751015" cy="0"/>
          </a:xfrm>
          <a:prstGeom prst="line">
            <a:avLst/>
          </a:prstGeom>
          <a:noFill/>
          <a:ln w="9525">
            <a:solidFill>
              <a:srgbClr val="D5DCDD"/>
            </a:solidFill>
            <a:prstDash val="solid"/>
          </a:ln>
        </p:spPr>
      </p:sp>
      <p:sp>
        <p:nvSpPr>
          <p:cNvPr id="23" name="text-21"/>
          <p:cNvSpPr txBox="1"/>
          <p:nvPr/>
        </p:nvSpPr>
        <p:spPr>
          <a:xfrm>
            <a:off x="4480560" y="2011680"/>
            <a:ext cx="365760" cy="182880"/>
          </a:xfrm>
          <a:prstGeom prst="rect">
            <a:avLst/>
          </a:prstGeom>
          <a:noFill/>
          <a:ln/>
        </p:spPr>
        <p:txBody>
          <a:bodyPr wrap="square" lIns="0" tIns="0" rIns="0" bIns="0" rtlCol="0" anchor="t"/>
          <a:lstStyle/>
          <a:p>
            <a:pPr algn="r" indent="0" marL="0">
              <a:buNone/>
            </a:pPr>
            <a:r>
              <a:rPr lang="en-US" sz="950" dirty="0">
                <a:solidFill>
                  <a:srgbClr val="8A9497"/>
                </a:solidFill>
                <a:latin typeface="Arial" pitchFamily="34" charset="0"/>
                <a:ea typeface="Arial" pitchFamily="34" charset="-122"/>
                <a:cs typeface="Arial" pitchFamily="34" charset="-120"/>
              </a:rPr>
              <a:t>100%</a:t>
            </a:r>
            <a:endParaRPr lang="en-US" sz="950" dirty="0"/>
          </a:p>
        </p:txBody>
      </p:sp>
      <p:sp>
        <p:nvSpPr>
          <p:cNvPr id="24" name="rect-22"/>
          <p:cNvSpPr/>
          <p:nvPr/>
        </p:nvSpPr>
        <p:spPr>
          <a:xfrm>
            <a:off x="4937760" y="2687262"/>
            <a:ext cx="80464" cy="2570538"/>
          </a:xfrm>
          <a:prstGeom prst="rect">
            <a:avLst/>
          </a:prstGeom>
          <a:solidFill>
            <a:srgbClr val="0F4C4D"/>
          </a:solidFill>
          <a:ln/>
        </p:spPr>
      </p:sp>
      <p:sp>
        <p:nvSpPr>
          <p:cNvPr id="25" name="rect-23"/>
          <p:cNvSpPr/>
          <p:nvPr/>
        </p:nvSpPr>
        <p:spPr>
          <a:xfrm>
            <a:off x="5049515" y="2568961"/>
            <a:ext cx="80464" cy="2688839"/>
          </a:xfrm>
          <a:prstGeom prst="rect">
            <a:avLst/>
          </a:prstGeom>
          <a:solidFill>
            <a:srgbClr val="0F4C4D"/>
          </a:solidFill>
          <a:ln/>
        </p:spPr>
      </p:sp>
      <p:sp>
        <p:nvSpPr>
          <p:cNvPr id="26" name="rect-24"/>
          <p:cNvSpPr/>
          <p:nvPr/>
        </p:nvSpPr>
        <p:spPr>
          <a:xfrm>
            <a:off x="5161270" y="2629952"/>
            <a:ext cx="80464" cy="2627848"/>
          </a:xfrm>
          <a:prstGeom prst="rect">
            <a:avLst/>
          </a:prstGeom>
          <a:solidFill>
            <a:srgbClr val="0F4C4D"/>
          </a:solidFill>
          <a:ln/>
        </p:spPr>
      </p:sp>
      <p:sp>
        <p:nvSpPr>
          <p:cNvPr id="27" name="rect-25"/>
          <p:cNvSpPr/>
          <p:nvPr/>
        </p:nvSpPr>
        <p:spPr>
          <a:xfrm>
            <a:off x="5273025" y="2888110"/>
            <a:ext cx="80464" cy="2369690"/>
          </a:xfrm>
          <a:prstGeom prst="rect">
            <a:avLst/>
          </a:prstGeom>
          <a:solidFill>
            <a:srgbClr val="0F4C4D"/>
          </a:solidFill>
          <a:ln/>
        </p:spPr>
      </p:sp>
      <p:sp>
        <p:nvSpPr>
          <p:cNvPr id="28" name="rect-26"/>
          <p:cNvSpPr/>
          <p:nvPr/>
        </p:nvSpPr>
        <p:spPr>
          <a:xfrm>
            <a:off x="5384780" y="2805036"/>
            <a:ext cx="80464" cy="2452764"/>
          </a:xfrm>
          <a:prstGeom prst="rect">
            <a:avLst/>
          </a:prstGeom>
          <a:solidFill>
            <a:srgbClr val="0F4C4D"/>
          </a:solidFill>
          <a:ln/>
        </p:spPr>
      </p:sp>
      <p:sp>
        <p:nvSpPr>
          <p:cNvPr id="29" name="rect-27"/>
          <p:cNvSpPr/>
          <p:nvPr/>
        </p:nvSpPr>
        <p:spPr>
          <a:xfrm>
            <a:off x="5496535" y="2715654"/>
            <a:ext cx="80464" cy="2542146"/>
          </a:xfrm>
          <a:prstGeom prst="rect">
            <a:avLst/>
          </a:prstGeom>
          <a:solidFill>
            <a:srgbClr val="0F4C4D"/>
          </a:solidFill>
          <a:ln/>
        </p:spPr>
      </p:sp>
      <p:sp>
        <p:nvSpPr>
          <p:cNvPr id="30" name="rect-28"/>
          <p:cNvSpPr/>
          <p:nvPr/>
        </p:nvSpPr>
        <p:spPr>
          <a:xfrm>
            <a:off x="5608290" y="2708293"/>
            <a:ext cx="80464" cy="2549507"/>
          </a:xfrm>
          <a:prstGeom prst="rect">
            <a:avLst/>
          </a:prstGeom>
          <a:solidFill>
            <a:srgbClr val="0F4C4D"/>
          </a:solidFill>
          <a:ln/>
        </p:spPr>
      </p:sp>
      <p:sp>
        <p:nvSpPr>
          <p:cNvPr id="31" name="rect-29"/>
          <p:cNvSpPr/>
          <p:nvPr/>
        </p:nvSpPr>
        <p:spPr>
          <a:xfrm>
            <a:off x="5720044" y="2576848"/>
            <a:ext cx="80464" cy="2680952"/>
          </a:xfrm>
          <a:prstGeom prst="rect">
            <a:avLst/>
          </a:prstGeom>
          <a:solidFill>
            <a:srgbClr val="0F4C4D"/>
          </a:solidFill>
          <a:ln/>
        </p:spPr>
      </p:sp>
      <p:sp>
        <p:nvSpPr>
          <p:cNvPr id="32" name="rect-30"/>
          <p:cNvSpPr/>
          <p:nvPr/>
        </p:nvSpPr>
        <p:spPr>
          <a:xfrm>
            <a:off x="5831799" y="2737211"/>
            <a:ext cx="80464" cy="2520589"/>
          </a:xfrm>
          <a:prstGeom prst="rect">
            <a:avLst/>
          </a:prstGeom>
          <a:solidFill>
            <a:srgbClr val="0F4C4D"/>
          </a:solidFill>
          <a:ln/>
        </p:spPr>
      </p:sp>
      <p:sp>
        <p:nvSpPr>
          <p:cNvPr id="33" name="rect-31"/>
          <p:cNvSpPr/>
          <p:nvPr/>
        </p:nvSpPr>
        <p:spPr>
          <a:xfrm>
            <a:off x="5943554" y="2740365"/>
            <a:ext cx="80464" cy="2517435"/>
          </a:xfrm>
          <a:prstGeom prst="rect">
            <a:avLst/>
          </a:prstGeom>
          <a:solidFill>
            <a:srgbClr val="0F4C4D"/>
          </a:solidFill>
          <a:ln/>
        </p:spPr>
      </p:sp>
      <p:sp>
        <p:nvSpPr>
          <p:cNvPr id="34" name="rect-32"/>
          <p:cNvSpPr/>
          <p:nvPr/>
        </p:nvSpPr>
        <p:spPr>
          <a:xfrm>
            <a:off x="6055309" y="2815026"/>
            <a:ext cx="80464" cy="2442774"/>
          </a:xfrm>
          <a:prstGeom prst="rect">
            <a:avLst/>
          </a:prstGeom>
          <a:solidFill>
            <a:srgbClr val="0F4C4D"/>
          </a:solidFill>
          <a:ln/>
        </p:spPr>
      </p:sp>
      <p:sp>
        <p:nvSpPr>
          <p:cNvPr id="35" name="rect-33"/>
          <p:cNvSpPr/>
          <p:nvPr/>
        </p:nvSpPr>
        <p:spPr>
          <a:xfrm>
            <a:off x="6167064" y="2602611"/>
            <a:ext cx="80464" cy="2655189"/>
          </a:xfrm>
          <a:prstGeom prst="rect">
            <a:avLst/>
          </a:prstGeom>
          <a:solidFill>
            <a:srgbClr val="0F4C4D"/>
          </a:solidFill>
          <a:ln/>
        </p:spPr>
      </p:sp>
      <p:sp>
        <p:nvSpPr>
          <p:cNvPr id="36" name="rect-34"/>
          <p:cNvSpPr/>
          <p:nvPr/>
        </p:nvSpPr>
        <p:spPr>
          <a:xfrm>
            <a:off x="6278819" y="2621013"/>
            <a:ext cx="80464" cy="2636787"/>
          </a:xfrm>
          <a:prstGeom prst="rect">
            <a:avLst/>
          </a:prstGeom>
          <a:solidFill>
            <a:srgbClr val="0F4C4D"/>
          </a:solidFill>
          <a:ln/>
        </p:spPr>
      </p:sp>
      <p:sp>
        <p:nvSpPr>
          <p:cNvPr id="37" name="rect-35"/>
          <p:cNvSpPr/>
          <p:nvPr/>
        </p:nvSpPr>
        <p:spPr>
          <a:xfrm>
            <a:off x="6390574" y="2664127"/>
            <a:ext cx="80464" cy="2593673"/>
          </a:xfrm>
          <a:prstGeom prst="rect">
            <a:avLst/>
          </a:prstGeom>
          <a:solidFill>
            <a:srgbClr val="0F4C4D"/>
          </a:solidFill>
          <a:ln/>
        </p:spPr>
      </p:sp>
      <p:sp>
        <p:nvSpPr>
          <p:cNvPr id="38" name="rect-36"/>
          <p:cNvSpPr/>
          <p:nvPr/>
        </p:nvSpPr>
        <p:spPr>
          <a:xfrm>
            <a:off x="6502329" y="2725118"/>
            <a:ext cx="80464" cy="2532682"/>
          </a:xfrm>
          <a:prstGeom prst="rect">
            <a:avLst/>
          </a:prstGeom>
          <a:solidFill>
            <a:srgbClr val="0F4C4D"/>
          </a:solidFill>
          <a:ln/>
        </p:spPr>
      </p:sp>
      <p:sp>
        <p:nvSpPr>
          <p:cNvPr id="39" name="rect-37"/>
          <p:cNvSpPr/>
          <p:nvPr/>
        </p:nvSpPr>
        <p:spPr>
          <a:xfrm>
            <a:off x="6614084" y="2701458"/>
            <a:ext cx="80464" cy="2556342"/>
          </a:xfrm>
          <a:prstGeom prst="rect">
            <a:avLst/>
          </a:prstGeom>
          <a:solidFill>
            <a:srgbClr val="0F4C4D"/>
          </a:solidFill>
          <a:ln/>
        </p:spPr>
      </p:sp>
      <p:sp>
        <p:nvSpPr>
          <p:cNvPr id="40" name="rect-38"/>
          <p:cNvSpPr/>
          <p:nvPr/>
        </p:nvSpPr>
        <p:spPr>
          <a:xfrm>
            <a:off x="6725839" y="2697777"/>
            <a:ext cx="80464" cy="2560023"/>
          </a:xfrm>
          <a:prstGeom prst="rect">
            <a:avLst/>
          </a:prstGeom>
          <a:solidFill>
            <a:srgbClr val="0F4C4D"/>
          </a:solidFill>
          <a:ln/>
        </p:spPr>
      </p:sp>
      <p:sp>
        <p:nvSpPr>
          <p:cNvPr id="41" name="rect-39"/>
          <p:cNvSpPr/>
          <p:nvPr/>
        </p:nvSpPr>
        <p:spPr>
          <a:xfrm>
            <a:off x="6837594" y="2727221"/>
            <a:ext cx="80464" cy="2530579"/>
          </a:xfrm>
          <a:prstGeom prst="rect">
            <a:avLst/>
          </a:prstGeom>
          <a:solidFill>
            <a:srgbClr val="0F4C4D"/>
          </a:solidFill>
          <a:ln/>
        </p:spPr>
      </p:sp>
      <p:sp>
        <p:nvSpPr>
          <p:cNvPr id="42" name="rect-40"/>
          <p:cNvSpPr/>
          <p:nvPr/>
        </p:nvSpPr>
        <p:spPr>
          <a:xfrm>
            <a:off x="6949349" y="2681478"/>
            <a:ext cx="80464" cy="2576322"/>
          </a:xfrm>
          <a:prstGeom prst="rect">
            <a:avLst/>
          </a:prstGeom>
          <a:solidFill>
            <a:srgbClr val="0F4C4D"/>
          </a:solidFill>
          <a:ln/>
        </p:spPr>
      </p:sp>
      <p:sp>
        <p:nvSpPr>
          <p:cNvPr id="43" name="rect-41"/>
          <p:cNvSpPr/>
          <p:nvPr/>
        </p:nvSpPr>
        <p:spPr>
          <a:xfrm>
            <a:off x="7061103" y="2767180"/>
            <a:ext cx="80464" cy="2490620"/>
          </a:xfrm>
          <a:prstGeom prst="rect">
            <a:avLst/>
          </a:prstGeom>
          <a:solidFill>
            <a:srgbClr val="0F4C4D"/>
          </a:solidFill>
          <a:ln/>
        </p:spPr>
      </p:sp>
      <p:sp>
        <p:nvSpPr>
          <p:cNvPr id="44" name="rect-42"/>
          <p:cNvSpPr/>
          <p:nvPr/>
        </p:nvSpPr>
        <p:spPr>
          <a:xfrm>
            <a:off x="7172858" y="2589466"/>
            <a:ext cx="80464" cy="2668334"/>
          </a:xfrm>
          <a:prstGeom prst="rect">
            <a:avLst/>
          </a:prstGeom>
          <a:solidFill>
            <a:srgbClr val="0F4C4D"/>
          </a:solidFill>
          <a:ln/>
        </p:spPr>
      </p:sp>
      <p:sp>
        <p:nvSpPr>
          <p:cNvPr id="45" name="rect-43"/>
          <p:cNvSpPr/>
          <p:nvPr/>
        </p:nvSpPr>
        <p:spPr>
          <a:xfrm>
            <a:off x="7284613" y="2633632"/>
            <a:ext cx="80464" cy="2624168"/>
          </a:xfrm>
          <a:prstGeom prst="rect">
            <a:avLst/>
          </a:prstGeom>
          <a:solidFill>
            <a:srgbClr val="0F4C4D"/>
          </a:solidFill>
          <a:ln/>
        </p:spPr>
      </p:sp>
      <p:sp>
        <p:nvSpPr>
          <p:cNvPr id="46" name="rect-44"/>
          <p:cNvSpPr/>
          <p:nvPr/>
        </p:nvSpPr>
        <p:spPr>
          <a:xfrm>
            <a:off x="7396368" y="2640467"/>
            <a:ext cx="80464" cy="2617333"/>
          </a:xfrm>
          <a:prstGeom prst="rect">
            <a:avLst/>
          </a:prstGeom>
          <a:solidFill>
            <a:srgbClr val="0F4C4D"/>
          </a:solidFill>
          <a:ln/>
        </p:spPr>
      </p:sp>
      <p:sp>
        <p:nvSpPr>
          <p:cNvPr id="47" name="rect-45"/>
          <p:cNvSpPr/>
          <p:nvPr/>
        </p:nvSpPr>
        <p:spPr>
          <a:xfrm>
            <a:off x="7508123" y="2756665"/>
            <a:ext cx="80464" cy="2501135"/>
          </a:xfrm>
          <a:prstGeom prst="rect">
            <a:avLst/>
          </a:prstGeom>
          <a:solidFill>
            <a:srgbClr val="0F4C4D"/>
          </a:solidFill>
          <a:ln/>
        </p:spPr>
      </p:sp>
      <p:sp>
        <p:nvSpPr>
          <p:cNvPr id="48" name="rect-46"/>
          <p:cNvSpPr/>
          <p:nvPr/>
        </p:nvSpPr>
        <p:spPr>
          <a:xfrm>
            <a:off x="7619878" y="2674643"/>
            <a:ext cx="80464" cy="2583157"/>
          </a:xfrm>
          <a:prstGeom prst="rect">
            <a:avLst/>
          </a:prstGeom>
          <a:solidFill>
            <a:srgbClr val="0F4C4D"/>
          </a:solidFill>
          <a:ln/>
        </p:spPr>
      </p:sp>
      <p:sp>
        <p:nvSpPr>
          <p:cNvPr id="49" name="rect-47"/>
          <p:cNvSpPr/>
          <p:nvPr/>
        </p:nvSpPr>
        <p:spPr>
          <a:xfrm>
            <a:off x="7731633" y="2791366"/>
            <a:ext cx="80464" cy="2466434"/>
          </a:xfrm>
          <a:prstGeom prst="rect">
            <a:avLst/>
          </a:prstGeom>
          <a:solidFill>
            <a:srgbClr val="0F4C4D"/>
          </a:solidFill>
          <a:ln/>
        </p:spPr>
      </p:sp>
      <p:sp>
        <p:nvSpPr>
          <p:cNvPr id="50" name="rect-48"/>
          <p:cNvSpPr/>
          <p:nvPr/>
        </p:nvSpPr>
        <p:spPr>
          <a:xfrm>
            <a:off x="7843388" y="2880223"/>
            <a:ext cx="80464" cy="2377577"/>
          </a:xfrm>
          <a:prstGeom prst="rect">
            <a:avLst/>
          </a:prstGeom>
          <a:solidFill>
            <a:srgbClr val="0F4C4D"/>
          </a:solidFill>
          <a:ln/>
        </p:spPr>
      </p:sp>
      <p:sp>
        <p:nvSpPr>
          <p:cNvPr id="51" name="rect-49"/>
          <p:cNvSpPr/>
          <p:nvPr/>
        </p:nvSpPr>
        <p:spPr>
          <a:xfrm>
            <a:off x="7955143" y="2581580"/>
            <a:ext cx="80464" cy="2676220"/>
          </a:xfrm>
          <a:prstGeom prst="rect">
            <a:avLst/>
          </a:prstGeom>
          <a:solidFill>
            <a:srgbClr val="0F4C4D"/>
          </a:solidFill>
          <a:ln/>
        </p:spPr>
      </p:sp>
      <p:sp>
        <p:nvSpPr>
          <p:cNvPr id="52" name="rect-50"/>
          <p:cNvSpPr/>
          <p:nvPr/>
        </p:nvSpPr>
        <p:spPr>
          <a:xfrm>
            <a:off x="8066898" y="2775593"/>
            <a:ext cx="80464" cy="2482207"/>
          </a:xfrm>
          <a:prstGeom prst="rect">
            <a:avLst/>
          </a:prstGeom>
          <a:solidFill>
            <a:srgbClr val="0F4C4D"/>
          </a:solidFill>
          <a:ln/>
        </p:spPr>
      </p:sp>
      <p:sp>
        <p:nvSpPr>
          <p:cNvPr id="53" name="rect-51"/>
          <p:cNvSpPr/>
          <p:nvPr/>
        </p:nvSpPr>
        <p:spPr>
          <a:xfrm>
            <a:off x="8178653" y="2638890"/>
            <a:ext cx="80464" cy="2618910"/>
          </a:xfrm>
          <a:prstGeom prst="rect">
            <a:avLst/>
          </a:prstGeom>
          <a:solidFill>
            <a:srgbClr val="0F4C4D"/>
          </a:solidFill>
          <a:ln/>
        </p:spPr>
      </p:sp>
      <p:sp>
        <p:nvSpPr>
          <p:cNvPr id="54" name="rect-52"/>
          <p:cNvSpPr/>
          <p:nvPr/>
        </p:nvSpPr>
        <p:spPr>
          <a:xfrm>
            <a:off x="8290408" y="4310870"/>
            <a:ext cx="80464" cy="946930"/>
          </a:xfrm>
          <a:prstGeom prst="rect">
            <a:avLst/>
          </a:prstGeom>
          <a:solidFill>
            <a:srgbClr val="B93A2C"/>
          </a:solidFill>
          <a:ln/>
        </p:spPr>
      </p:sp>
      <p:sp>
        <p:nvSpPr>
          <p:cNvPr id="55" name="rect-53"/>
          <p:cNvSpPr/>
          <p:nvPr/>
        </p:nvSpPr>
        <p:spPr>
          <a:xfrm>
            <a:off x="8402163" y="2628374"/>
            <a:ext cx="80464" cy="2629426"/>
          </a:xfrm>
          <a:prstGeom prst="rect">
            <a:avLst/>
          </a:prstGeom>
          <a:solidFill>
            <a:srgbClr val="0F4C4D"/>
          </a:solidFill>
          <a:ln/>
        </p:spPr>
      </p:sp>
      <p:sp>
        <p:nvSpPr>
          <p:cNvPr id="56" name="rect-54"/>
          <p:cNvSpPr/>
          <p:nvPr/>
        </p:nvSpPr>
        <p:spPr>
          <a:xfrm>
            <a:off x="8513917" y="2642570"/>
            <a:ext cx="80464" cy="2615230"/>
          </a:xfrm>
          <a:prstGeom prst="rect">
            <a:avLst/>
          </a:prstGeom>
          <a:solidFill>
            <a:srgbClr val="0F4C4D"/>
          </a:solidFill>
          <a:ln/>
        </p:spPr>
      </p:sp>
      <p:sp>
        <p:nvSpPr>
          <p:cNvPr id="57" name="rect-55"/>
          <p:cNvSpPr/>
          <p:nvPr/>
        </p:nvSpPr>
        <p:spPr>
          <a:xfrm>
            <a:off x="8625672" y="2788211"/>
            <a:ext cx="80464" cy="2469589"/>
          </a:xfrm>
          <a:prstGeom prst="rect">
            <a:avLst/>
          </a:prstGeom>
          <a:solidFill>
            <a:srgbClr val="0F4C4D"/>
          </a:solidFill>
          <a:ln/>
        </p:spPr>
      </p:sp>
      <p:sp>
        <p:nvSpPr>
          <p:cNvPr id="58" name="rect-56"/>
          <p:cNvSpPr/>
          <p:nvPr/>
        </p:nvSpPr>
        <p:spPr>
          <a:xfrm>
            <a:off x="8737427" y="2725644"/>
            <a:ext cx="80464" cy="2532156"/>
          </a:xfrm>
          <a:prstGeom prst="rect">
            <a:avLst/>
          </a:prstGeom>
          <a:solidFill>
            <a:srgbClr val="0F4C4D"/>
          </a:solidFill>
          <a:ln/>
        </p:spPr>
      </p:sp>
      <p:sp>
        <p:nvSpPr>
          <p:cNvPr id="59" name="rect-57"/>
          <p:cNvSpPr/>
          <p:nvPr/>
        </p:nvSpPr>
        <p:spPr>
          <a:xfrm>
            <a:off x="8849182" y="2838160"/>
            <a:ext cx="80464" cy="2419640"/>
          </a:xfrm>
          <a:prstGeom prst="rect">
            <a:avLst/>
          </a:prstGeom>
          <a:solidFill>
            <a:srgbClr val="0F4C4D"/>
          </a:solidFill>
          <a:ln/>
        </p:spPr>
      </p:sp>
      <p:sp>
        <p:nvSpPr>
          <p:cNvPr id="60" name="rect-58"/>
          <p:cNvSpPr/>
          <p:nvPr/>
        </p:nvSpPr>
        <p:spPr>
          <a:xfrm>
            <a:off x="8960937" y="2704612"/>
            <a:ext cx="80464" cy="2553188"/>
          </a:xfrm>
          <a:prstGeom prst="rect">
            <a:avLst/>
          </a:prstGeom>
          <a:solidFill>
            <a:srgbClr val="0F4C4D"/>
          </a:solidFill>
          <a:ln/>
        </p:spPr>
      </p:sp>
      <p:sp>
        <p:nvSpPr>
          <p:cNvPr id="61" name="rect-59"/>
          <p:cNvSpPr/>
          <p:nvPr/>
        </p:nvSpPr>
        <p:spPr>
          <a:xfrm>
            <a:off x="9072692" y="2668334"/>
            <a:ext cx="80464" cy="2589467"/>
          </a:xfrm>
          <a:prstGeom prst="rect">
            <a:avLst/>
          </a:prstGeom>
          <a:solidFill>
            <a:srgbClr val="0F4C4D"/>
          </a:solidFill>
          <a:ln/>
        </p:spPr>
      </p:sp>
      <p:sp>
        <p:nvSpPr>
          <p:cNvPr id="62" name="rect-60"/>
          <p:cNvSpPr/>
          <p:nvPr/>
        </p:nvSpPr>
        <p:spPr>
          <a:xfrm>
            <a:off x="9184447" y="3670996"/>
            <a:ext cx="80464" cy="1586804"/>
          </a:xfrm>
          <a:prstGeom prst="rect">
            <a:avLst/>
          </a:prstGeom>
          <a:solidFill>
            <a:srgbClr val="B93A2C"/>
          </a:solidFill>
          <a:ln/>
        </p:spPr>
      </p:sp>
      <p:sp>
        <p:nvSpPr>
          <p:cNvPr id="63" name="rect-61"/>
          <p:cNvSpPr/>
          <p:nvPr/>
        </p:nvSpPr>
        <p:spPr>
          <a:xfrm>
            <a:off x="9296202" y="4601101"/>
            <a:ext cx="80464" cy="656699"/>
          </a:xfrm>
          <a:prstGeom prst="rect">
            <a:avLst/>
          </a:prstGeom>
          <a:solidFill>
            <a:srgbClr val="B93A2C"/>
          </a:solidFill>
          <a:ln/>
        </p:spPr>
      </p:sp>
      <p:sp>
        <p:nvSpPr>
          <p:cNvPr id="64" name="rect-62"/>
          <p:cNvSpPr/>
          <p:nvPr/>
        </p:nvSpPr>
        <p:spPr>
          <a:xfrm>
            <a:off x="9407957" y="2893367"/>
            <a:ext cx="80464" cy="2364433"/>
          </a:xfrm>
          <a:prstGeom prst="rect">
            <a:avLst/>
          </a:prstGeom>
          <a:solidFill>
            <a:srgbClr val="0F4C4D"/>
          </a:solidFill>
          <a:ln/>
        </p:spPr>
      </p:sp>
      <p:sp>
        <p:nvSpPr>
          <p:cNvPr id="65" name="rect-63"/>
          <p:cNvSpPr/>
          <p:nvPr/>
        </p:nvSpPr>
        <p:spPr>
          <a:xfrm>
            <a:off x="9519712" y="2707767"/>
            <a:ext cx="80464" cy="2550033"/>
          </a:xfrm>
          <a:prstGeom prst="rect">
            <a:avLst/>
          </a:prstGeom>
          <a:solidFill>
            <a:srgbClr val="0F4C4D"/>
          </a:solidFill>
          <a:ln/>
        </p:spPr>
      </p:sp>
      <p:sp>
        <p:nvSpPr>
          <p:cNvPr id="66" name="rect-64"/>
          <p:cNvSpPr/>
          <p:nvPr/>
        </p:nvSpPr>
        <p:spPr>
          <a:xfrm>
            <a:off x="9631467" y="2706715"/>
            <a:ext cx="80464" cy="2551085"/>
          </a:xfrm>
          <a:prstGeom prst="rect">
            <a:avLst/>
          </a:prstGeom>
          <a:solidFill>
            <a:srgbClr val="0F4C4D"/>
          </a:solidFill>
          <a:ln/>
        </p:spPr>
      </p:sp>
      <p:sp>
        <p:nvSpPr>
          <p:cNvPr id="67" name="rect-65"/>
          <p:cNvSpPr/>
          <p:nvPr/>
        </p:nvSpPr>
        <p:spPr>
          <a:xfrm>
            <a:off x="9743222" y="3066875"/>
            <a:ext cx="80464" cy="2190925"/>
          </a:xfrm>
          <a:prstGeom prst="rect">
            <a:avLst/>
          </a:prstGeom>
          <a:solidFill>
            <a:srgbClr val="B93A2C"/>
          </a:solidFill>
          <a:ln/>
        </p:spPr>
      </p:sp>
      <p:sp>
        <p:nvSpPr>
          <p:cNvPr id="68" name="rect-66"/>
          <p:cNvSpPr/>
          <p:nvPr/>
        </p:nvSpPr>
        <p:spPr>
          <a:xfrm>
            <a:off x="9854976" y="2797150"/>
            <a:ext cx="80464" cy="2460650"/>
          </a:xfrm>
          <a:prstGeom prst="rect">
            <a:avLst/>
          </a:prstGeom>
          <a:solidFill>
            <a:srgbClr val="0F4C4D"/>
          </a:solidFill>
          <a:ln/>
        </p:spPr>
      </p:sp>
      <p:sp>
        <p:nvSpPr>
          <p:cNvPr id="69" name="rect-67"/>
          <p:cNvSpPr/>
          <p:nvPr/>
        </p:nvSpPr>
        <p:spPr>
          <a:xfrm>
            <a:off x="9966731" y="2673591"/>
            <a:ext cx="80464" cy="2584209"/>
          </a:xfrm>
          <a:prstGeom prst="rect">
            <a:avLst/>
          </a:prstGeom>
          <a:solidFill>
            <a:srgbClr val="0F4C4D"/>
          </a:solidFill>
          <a:ln/>
        </p:spPr>
      </p:sp>
      <p:sp>
        <p:nvSpPr>
          <p:cNvPr id="70" name="rect-68"/>
          <p:cNvSpPr/>
          <p:nvPr/>
        </p:nvSpPr>
        <p:spPr>
          <a:xfrm>
            <a:off x="10078486" y="2667282"/>
            <a:ext cx="80464" cy="2590518"/>
          </a:xfrm>
          <a:prstGeom prst="rect">
            <a:avLst/>
          </a:prstGeom>
          <a:solidFill>
            <a:srgbClr val="0F4C4D"/>
          </a:solidFill>
          <a:ln/>
        </p:spPr>
      </p:sp>
      <p:sp>
        <p:nvSpPr>
          <p:cNvPr id="71" name="rect-69"/>
          <p:cNvSpPr/>
          <p:nvPr/>
        </p:nvSpPr>
        <p:spPr>
          <a:xfrm>
            <a:off x="10190241" y="2645725"/>
            <a:ext cx="80464" cy="2612075"/>
          </a:xfrm>
          <a:prstGeom prst="rect">
            <a:avLst/>
          </a:prstGeom>
          <a:solidFill>
            <a:srgbClr val="0F4C4D"/>
          </a:solidFill>
          <a:ln/>
        </p:spPr>
      </p:sp>
      <p:sp>
        <p:nvSpPr>
          <p:cNvPr id="72" name="rect-70"/>
          <p:cNvSpPr/>
          <p:nvPr/>
        </p:nvSpPr>
        <p:spPr>
          <a:xfrm>
            <a:off x="10301996" y="2711973"/>
            <a:ext cx="80464" cy="2545827"/>
          </a:xfrm>
          <a:prstGeom prst="rect">
            <a:avLst/>
          </a:prstGeom>
          <a:solidFill>
            <a:srgbClr val="0F4C4D"/>
          </a:solidFill>
          <a:ln/>
        </p:spPr>
      </p:sp>
      <p:sp>
        <p:nvSpPr>
          <p:cNvPr id="73" name="rect-71"/>
          <p:cNvSpPr/>
          <p:nvPr/>
        </p:nvSpPr>
        <p:spPr>
          <a:xfrm>
            <a:off x="10413751" y="2880749"/>
            <a:ext cx="80464" cy="2377051"/>
          </a:xfrm>
          <a:prstGeom prst="rect">
            <a:avLst/>
          </a:prstGeom>
          <a:solidFill>
            <a:srgbClr val="0F4C4D"/>
          </a:solidFill>
          <a:ln/>
        </p:spPr>
      </p:sp>
      <p:sp>
        <p:nvSpPr>
          <p:cNvPr id="74" name="rect-72"/>
          <p:cNvSpPr/>
          <p:nvPr/>
        </p:nvSpPr>
        <p:spPr>
          <a:xfrm>
            <a:off x="10525506" y="3067926"/>
            <a:ext cx="80464" cy="2189874"/>
          </a:xfrm>
          <a:prstGeom prst="rect">
            <a:avLst/>
          </a:prstGeom>
          <a:solidFill>
            <a:srgbClr val="0F4C4D"/>
          </a:solidFill>
          <a:ln/>
        </p:spPr>
      </p:sp>
      <p:sp>
        <p:nvSpPr>
          <p:cNvPr id="75" name="rect-73"/>
          <p:cNvSpPr/>
          <p:nvPr/>
        </p:nvSpPr>
        <p:spPr>
          <a:xfrm>
            <a:off x="10637261" y="2942791"/>
            <a:ext cx="80464" cy="2315009"/>
          </a:xfrm>
          <a:prstGeom prst="rect">
            <a:avLst/>
          </a:prstGeom>
          <a:solidFill>
            <a:srgbClr val="B93A2C"/>
          </a:solidFill>
          <a:ln/>
        </p:spPr>
      </p:sp>
      <p:sp>
        <p:nvSpPr>
          <p:cNvPr id="76" name="rect-74"/>
          <p:cNvSpPr/>
          <p:nvPr/>
        </p:nvSpPr>
        <p:spPr>
          <a:xfrm>
            <a:off x="10749016" y="2845521"/>
            <a:ext cx="80464" cy="2412279"/>
          </a:xfrm>
          <a:prstGeom prst="rect">
            <a:avLst/>
          </a:prstGeom>
          <a:solidFill>
            <a:srgbClr val="B93A2C"/>
          </a:solidFill>
          <a:ln/>
        </p:spPr>
      </p:sp>
      <p:sp>
        <p:nvSpPr>
          <p:cNvPr id="77" name="rect-75"/>
          <p:cNvSpPr/>
          <p:nvPr/>
        </p:nvSpPr>
        <p:spPr>
          <a:xfrm>
            <a:off x="10860771" y="2789789"/>
            <a:ext cx="80464" cy="2468011"/>
          </a:xfrm>
          <a:prstGeom prst="rect">
            <a:avLst/>
          </a:prstGeom>
          <a:solidFill>
            <a:srgbClr val="B93A2C"/>
          </a:solidFill>
          <a:ln/>
        </p:spPr>
      </p:sp>
      <p:sp>
        <p:nvSpPr>
          <p:cNvPr id="78" name="rect-76"/>
          <p:cNvSpPr/>
          <p:nvPr/>
        </p:nvSpPr>
        <p:spPr>
          <a:xfrm>
            <a:off x="10972526" y="2919656"/>
            <a:ext cx="80464" cy="2338144"/>
          </a:xfrm>
          <a:prstGeom prst="rect">
            <a:avLst/>
          </a:prstGeom>
          <a:solidFill>
            <a:srgbClr val="B93A2C"/>
          </a:solidFill>
          <a:ln/>
        </p:spPr>
      </p:sp>
      <p:sp>
        <p:nvSpPr>
          <p:cNvPr id="79" name="rect-77"/>
          <p:cNvSpPr/>
          <p:nvPr/>
        </p:nvSpPr>
        <p:spPr>
          <a:xfrm>
            <a:off x="11084281" y="2842367"/>
            <a:ext cx="80464" cy="2415433"/>
          </a:xfrm>
          <a:prstGeom prst="rect">
            <a:avLst/>
          </a:prstGeom>
          <a:solidFill>
            <a:srgbClr val="B93A2C"/>
          </a:solidFill>
          <a:ln/>
        </p:spPr>
      </p:sp>
      <p:sp>
        <p:nvSpPr>
          <p:cNvPr id="80" name="rect-78"/>
          <p:cNvSpPr/>
          <p:nvPr/>
        </p:nvSpPr>
        <p:spPr>
          <a:xfrm>
            <a:off x="11196036" y="2938584"/>
            <a:ext cx="80464" cy="2319216"/>
          </a:xfrm>
          <a:prstGeom prst="rect">
            <a:avLst/>
          </a:prstGeom>
          <a:solidFill>
            <a:srgbClr val="B93A2C"/>
          </a:solidFill>
          <a:ln/>
        </p:spPr>
      </p:sp>
      <p:sp>
        <p:nvSpPr>
          <p:cNvPr id="81" name="rect-79"/>
          <p:cNvSpPr/>
          <p:nvPr/>
        </p:nvSpPr>
        <p:spPr>
          <a:xfrm>
            <a:off x="11307790" y="2779799"/>
            <a:ext cx="80464" cy="2478001"/>
          </a:xfrm>
          <a:prstGeom prst="rect">
            <a:avLst/>
          </a:prstGeom>
          <a:solidFill>
            <a:srgbClr val="0F4C4D"/>
          </a:solidFill>
          <a:ln/>
        </p:spPr>
      </p:sp>
      <p:sp>
        <p:nvSpPr>
          <p:cNvPr id="82" name="rect-80"/>
          <p:cNvSpPr/>
          <p:nvPr/>
        </p:nvSpPr>
        <p:spPr>
          <a:xfrm>
            <a:off x="11419545" y="3109463"/>
            <a:ext cx="80464" cy="2148337"/>
          </a:xfrm>
          <a:prstGeom prst="rect">
            <a:avLst/>
          </a:prstGeom>
          <a:solidFill>
            <a:srgbClr val="0F4C4D"/>
          </a:solidFill>
          <a:ln/>
        </p:spPr>
      </p:sp>
      <p:sp>
        <p:nvSpPr>
          <p:cNvPr id="83" name="rect-81"/>
          <p:cNvSpPr/>
          <p:nvPr/>
        </p:nvSpPr>
        <p:spPr>
          <a:xfrm>
            <a:off x="11531300" y="2797150"/>
            <a:ext cx="80464" cy="2460650"/>
          </a:xfrm>
          <a:prstGeom prst="rect">
            <a:avLst/>
          </a:prstGeom>
          <a:solidFill>
            <a:srgbClr val="0F4C4D"/>
          </a:solidFill>
          <a:ln/>
        </p:spPr>
      </p:sp>
      <p:sp>
        <p:nvSpPr>
          <p:cNvPr id="84" name="line-82"/>
          <p:cNvSpPr/>
          <p:nvPr/>
        </p:nvSpPr>
        <p:spPr>
          <a:xfrm>
            <a:off x="8274762" y="2057400"/>
            <a:ext cx="0" cy="3200400"/>
          </a:xfrm>
          <a:prstGeom prst="line">
            <a:avLst/>
          </a:prstGeom>
          <a:noFill/>
          <a:ln w="12700">
            <a:solidFill>
              <a:srgbClr val="1F2A2E"/>
            </a:solidFill>
            <a:prstDash val="dash"/>
          </a:ln>
        </p:spPr>
      </p:sp>
      <p:sp>
        <p:nvSpPr>
          <p:cNvPr id="85" name="text-83"/>
          <p:cNvSpPr txBox="1"/>
          <p:nvPr/>
        </p:nvSpPr>
        <p:spPr>
          <a:xfrm>
            <a:off x="8290408" y="1828800"/>
            <a:ext cx="1828800" cy="228600"/>
          </a:xfrm>
          <a:prstGeom prst="rect">
            <a:avLst/>
          </a:prstGeom>
          <a:noFill/>
          <a:ln/>
        </p:spPr>
        <p:txBody>
          <a:bodyPr wrap="square" lIns="0" tIns="0" rIns="0" bIns="0" rtlCol="0" anchor="t"/>
          <a:lstStyle/>
          <a:p>
            <a:pPr algn="l" indent="0" marL="0">
              <a:buNone/>
            </a:pPr>
            <a:r>
              <a:rPr lang="en-US" sz="1000" dirty="0">
                <a:solidFill>
                  <a:srgbClr val="1F2A2E"/>
                </a:solidFill>
                <a:latin typeface="Arial" pitchFamily="34" charset="0"/>
                <a:ea typeface="Arial" pitchFamily="34" charset="-122"/>
                <a:cs typeface="Arial" pitchFamily="34" charset="-120"/>
              </a:rPr>
              <a:t>Recent period →</a:t>
            </a:r>
            <a:endParaRPr lang="en-US" sz="1000" dirty="0"/>
          </a:p>
        </p:txBody>
      </p:sp>
      <p:sp>
        <p:nvSpPr>
          <p:cNvPr id="86" name="text-84"/>
          <p:cNvSpPr txBox="1"/>
          <p:nvPr/>
        </p:nvSpPr>
        <p:spPr>
          <a:xfrm>
            <a:off x="4892040" y="5312664"/>
            <a:ext cx="1097280" cy="201168"/>
          </a:xfrm>
          <a:prstGeom prst="rect">
            <a:avLst/>
          </a:prstGeom>
          <a:noFill/>
          <a:ln/>
        </p:spPr>
        <p:txBody>
          <a:bodyPr wrap="square" lIns="0" tIns="0" rIns="0" bIns="0" rtlCol="0" anchor="t"/>
          <a:lstStyle/>
          <a:p>
            <a:pPr algn="l" indent="0" marL="0">
              <a:buNone/>
            </a:pPr>
            <a:r>
              <a:rPr lang="en-US" sz="950" dirty="0">
                <a:solidFill>
                  <a:srgbClr val="8A9497"/>
                </a:solidFill>
                <a:latin typeface="Arial" pitchFamily="34" charset="0"/>
                <a:ea typeface="Arial" pitchFamily="34" charset="-122"/>
                <a:cs typeface="Arial" pitchFamily="34" charset="-120"/>
              </a:rPr>
              <a:t>Jul 25</a:t>
            </a:r>
            <a:endParaRPr lang="en-US" sz="950" dirty="0"/>
          </a:p>
        </p:txBody>
      </p:sp>
      <p:sp>
        <p:nvSpPr>
          <p:cNvPr id="87" name="text-85"/>
          <p:cNvSpPr txBox="1"/>
          <p:nvPr/>
        </p:nvSpPr>
        <p:spPr>
          <a:xfrm>
            <a:off x="10545775" y="5312664"/>
            <a:ext cx="1097280" cy="201168"/>
          </a:xfrm>
          <a:prstGeom prst="rect">
            <a:avLst/>
          </a:prstGeom>
          <a:noFill/>
          <a:ln/>
        </p:spPr>
        <p:txBody>
          <a:bodyPr wrap="square" lIns="0" tIns="0" rIns="0" bIns="0" rtlCol="0" anchor="t"/>
          <a:lstStyle/>
          <a:p>
            <a:pPr algn="r" indent="0" marL="0">
              <a:buNone/>
            </a:pPr>
            <a:r>
              <a:rPr lang="en-US" sz="950" dirty="0">
                <a:solidFill>
                  <a:srgbClr val="8A9497"/>
                </a:solidFill>
                <a:latin typeface="Arial" pitchFamily="34" charset="0"/>
                <a:ea typeface="Arial" pitchFamily="34" charset="-122"/>
                <a:cs typeface="Arial" pitchFamily="34" charset="-120"/>
              </a:rPr>
              <a:t>Sep 22</a:t>
            </a:r>
            <a:endParaRPr lang="en-US" sz="950" dirty="0"/>
          </a:p>
        </p:txBody>
      </p:sp>
      <p:sp>
        <p:nvSpPr>
          <p:cNvPr id="88" name="text-86"/>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Country is the document issuing country. Mix barely moved: Mexican documents were 57.3% of decisions, then 56.8%. Columns start at 40%.</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Four reasons explain most of the change; face match improved but remains a large loss</a:t>
            </a:r>
            <a:endParaRPr lang="en-US" sz="2600" dirty="0"/>
          </a:p>
        </p:txBody>
      </p:sp>
      <p:sp>
        <p:nvSpPr>
          <p:cNvPr id="3" name="text-1"/>
          <p:cNvSpPr txBox="1"/>
          <p:nvPr/>
        </p:nvSpPr>
        <p:spPr>
          <a:xfrm>
            <a:off x="548640" y="15453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Fraud signal</a:t>
            </a:r>
            <a:endParaRPr lang="en-US" sz="1200" dirty="0"/>
          </a:p>
        </p:txBody>
      </p:sp>
      <p:sp>
        <p:nvSpPr>
          <p:cNvPr id="4" name="rect-2"/>
          <p:cNvSpPr/>
          <p:nvPr/>
        </p:nvSpPr>
        <p:spPr>
          <a:xfrm>
            <a:off x="4587013" y="1508760"/>
            <a:ext cx="2281906" cy="292608"/>
          </a:xfrm>
          <a:prstGeom prst="rect">
            <a:avLst/>
          </a:prstGeom>
          <a:solidFill>
            <a:srgbClr val="B93A2C"/>
          </a:solidFill>
          <a:ln/>
        </p:spPr>
      </p:sp>
      <p:sp>
        <p:nvSpPr>
          <p:cNvPr id="5" name="rect-3"/>
          <p:cNvSpPr/>
          <p:nvPr/>
        </p:nvSpPr>
        <p:spPr>
          <a:xfrm>
            <a:off x="4406862" y="1508760"/>
            <a:ext cx="180150" cy="292608"/>
          </a:xfrm>
          <a:prstGeom prst="rect">
            <a:avLst/>
          </a:prstGeom>
          <a:solidFill>
            <a:srgbClr val="0F4C4D"/>
          </a:solidFill>
          <a:ln/>
        </p:spPr>
      </p:sp>
      <p:sp>
        <p:nvSpPr>
          <p:cNvPr id="6" name="text-4"/>
          <p:cNvSpPr txBox="1"/>
          <p:nvPr/>
        </p:nvSpPr>
        <p:spPr>
          <a:xfrm>
            <a:off x="3629622" y="1545336"/>
            <a:ext cx="731520" cy="274320"/>
          </a:xfrm>
          <a:prstGeom prst="rect">
            <a:avLst/>
          </a:prstGeom>
          <a:noFill/>
          <a:ln/>
        </p:spPr>
        <p:txBody>
          <a:bodyPr wrap="square" lIns="0" tIns="0" rIns="0" bIns="0" rtlCol="0" anchor="t"/>
          <a:lstStyle/>
          <a:p>
            <a:pPr algn="r" indent="0" marL="0">
              <a:buNone/>
            </a:pPr>
            <a:r>
              <a:rPr lang="en-US" sz="1150" b="1" dirty="0">
                <a:solidFill>
                  <a:srgbClr val="1F2A2E"/>
                </a:solidFill>
                <a:latin typeface="Arial" pitchFamily="34" charset="0"/>
                <a:ea typeface="Arial" pitchFamily="34" charset="-122"/>
                <a:cs typeface="Arial" pitchFamily="34" charset="-120"/>
              </a:rPr>
              <a:t>−2.05 pp</a:t>
            </a:r>
            <a:endParaRPr lang="en-US" sz="1150" dirty="0"/>
          </a:p>
        </p:txBody>
      </p:sp>
      <p:sp>
        <p:nvSpPr>
          <p:cNvPr id="7" name="text-5"/>
          <p:cNvSpPr txBox="1"/>
          <p:nvPr/>
        </p:nvSpPr>
        <p:spPr>
          <a:xfrm>
            <a:off x="548640" y="20025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Execution error</a:t>
            </a:r>
            <a:endParaRPr lang="en-US" sz="1200" dirty="0"/>
          </a:p>
        </p:txBody>
      </p:sp>
      <p:sp>
        <p:nvSpPr>
          <p:cNvPr id="8" name="rect-6"/>
          <p:cNvSpPr/>
          <p:nvPr/>
        </p:nvSpPr>
        <p:spPr>
          <a:xfrm>
            <a:off x="4923293" y="1965960"/>
            <a:ext cx="1945625" cy="292608"/>
          </a:xfrm>
          <a:prstGeom prst="rect">
            <a:avLst/>
          </a:prstGeom>
          <a:solidFill>
            <a:srgbClr val="B93A2C"/>
          </a:solidFill>
          <a:ln/>
        </p:spPr>
      </p:sp>
      <p:sp>
        <p:nvSpPr>
          <p:cNvPr id="9" name="text-7"/>
          <p:cNvSpPr txBox="1"/>
          <p:nvPr/>
        </p:nvSpPr>
        <p:spPr>
          <a:xfrm>
            <a:off x="4146053" y="2002536"/>
            <a:ext cx="731520" cy="274320"/>
          </a:xfrm>
          <a:prstGeom prst="rect">
            <a:avLst/>
          </a:prstGeom>
          <a:noFill/>
          <a:ln/>
        </p:spPr>
        <p:txBody>
          <a:bodyPr wrap="square" lIns="0" tIns="0" rIns="0" bIns="0" rtlCol="0" anchor="t"/>
          <a:lstStyle/>
          <a:p>
            <a:pPr algn="r" indent="0" marL="0">
              <a:buNone/>
            </a:pPr>
            <a:r>
              <a:rPr lang="en-US" sz="1150" b="1" dirty="0">
                <a:solidFill>
                  <a:srgbClr val="1F2A2E"/>
                </a:solidFill>
                <a:latin typeface="Arial" pitchFamily="34" charset="0"/>
                <a:ea typeface="Arial" pitchFamily="34" charset="-122"/>
                <a:cs typeface="Arial" pitchFamily="34" charset="-120"/>
              </a:rPr>
              <a:t>−1.62 pp</a:t>
            </a:r>
            <a:endParaRPr lang="en-US" sz="1150" dirty="0"/>
          </a:p>
        </p:txBody>
      </p:sp>
      <p:sp>
        <p:nvSpPr>
          <p:cNvPr id="10" name="text-8"/>
          <p:cNvSpPr txBox="1"/>
          <p:nvPr/>
        </p:nvSpPr>
        <p:spPr>
          <a:xfrm>
            <a:off x="548640" y="24597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Selfie / liveness</a:t>
            </a:r>
            <a:endParaRPr lang="en-US" sz="1200" dirty="0"/>
          </a:p>
        </p:txBody>
      </p:sp>
      <p:sp>
        <p:nvSpPr>
          <p:cNvPr id="11" name="rect-9"/>
          <p:cNvSpPr/>
          <p:nvPr/>
        </p:nvSpPr>
        <p:spPr>
          <a:xfrm>
            <a:off x="6040226" y="2423160"/>
            <a:ext cx="828692" cy="292608"/>
          </a:xfrm>
          <a:prstGeom prst="rect">
            <a:avLst/>
          </a:prstGeom>
          <a:solidFill>
            <a:srgbClr val="B93A2C"/>
          </a:solidFill>
          <a:ln/>
        </p:spPr>
      </p:sp>
      <p:sp>
        <p:nvSpPr>
          <p:cNvPr id="12" name="rect-10"/>
          <p:cNvSpPr/>
          <p:nvPr/>
        </p:nvSpPr>
        <p:spPr>
          <a:xfrm>
            <a:off x="5727965" y="2423160"/>
            <a:ext cx="312261" cy="292608"/>
          </a:xfrm>
          <a:prstGeom prst="rect">
            <a:avLst/>
          </a:prstGeom>
          <a:solidFill>
            <a:srgbClr val="0F4C4D"/>
          </a:solidFill>
          <a:ln/>
        </p:spPr>
      </p:sp>
      <p:sp>
        <p:nvSpPr>
          <p:cNvPr id="13" name="text-11"/>
          <p:cNvSpPr txBox="1"/>
          <p:nvPr/>
        </p:nvSpPr>
        <p:spPr>
          <a:xfrm>
            <a:off x="4950725" y="2459736"/>
            <a:ext cx="731520" cy="274320"/>
          </a:xfrm>
          <a:prstGeom prst="rect">
            <a:avLst/>
          </a:prstGeom>
          <a:noFill/>
          <a:ln/>
        </p:spPr>
        <p:txBody>
          <a:bodyPr wrap="square" lIns="0" tIns="0" rIns="0" bIns="0" rtlCol="0" anchor="t"/>
          <a:lstStyle/>
          <a:p>
            <a:pPr algn="r" indent="0" marL="0">
              <a:buNone/>
            </a:pPr>
            <a:r>
              <a:rPr lang="en-US" sz="1150" b="1" dirty="0">
                <a:solidFill>
                  <a:srgbClr val="1F2A2E"/>
                </a:solidFill>
                <a:latin typeface="Arial" pitchFamily="34" charset="0"/>
                <a:ea typeface="Arial" pitchFamily="34" charset="-122"/>
                <a:cs typeface="Arial" pitchFamily="34" charset="-120"/>
              </a:rPr>
              <a:t>−0.95 pp</a:t>
            </a:r>
            <a:endParaRPr lang="en-US" sz="1150" dirty="0"/>
          </a:p>
        </p:txBody>
      </p:sp>
      <p:sp>
        <p:nvSpPr>
          <p:cNvPr id="14" name="text-12"/>
          <p:cNvSpPr txBox="1"/>
          <p:nvPr/>
        </p:nvSpPr>
        <p:spPr>
          <a:xfrm>
            <a:off x="548640" y="29169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No document type, no reason code</a:t>
            </a:r>
            <a:endParaRPr lang="en-US" sz="1200" dirty="0"/>
          </a:p>
        </p:txBody>
      </p:sp>
      <p:sp>
        <p:nvSpPr>
          <p:cNvPr id="15" name="rect-13"/>
          <p:cNvSpPr/>
          <p:nvPr/>
        </p:nvSpPr>
        <p:spPr>
          <a:xfrm>
            <a:off x="6148316" y="2880360"/>
            <a:ext cx="720602" cy="292608"/>
          </a:xfrm>
          <a:prstGeom prst="rect">
            <a:avLst/>
          </a:prstGeom>
          <a:solidFill>
            <a:srgbClr val="0F4C4D"/>
          </a:solidFill>
          <a:ln/>
        </p:spPr>
      </p:sp>
      <p:sp>
        <p:nvSpPr>
          <p:cNvPr id="16" name="text-14"/>
          <p:cNvSpPr txBox="1"/>
          <p:nvPr/>
        </p:nvSpPr>
        <p:spPr>
          <a:xfrm>
            <a:off x="5371076" y="2916936"/>
            <a:ext cx="731520" cy="274320"/>
          </a:xfrm>
          <a:prstGeom prst="rect">
            <a:avLst/>
          </a:prstGeom>
          <a:noFill/>
          <a:ln/>
        </p:spPr>
        <p:txBody>
          <a:bodyPr wrap="square" lIns="0" tIns="0" rIns="0" bIns="0" rtlCol="0" anchor="t"/>
          <a:lstStyle/>
          <a:p>
            <a:pPr algn="r" indent="0" marL="0">
              <a:buNone/>
            </a:pPr>
            <a:r>
              <a:rPr lang="en-US" sz="1150" b="1" dirty="0">
                <a:solidFill>
                  <a:srgbClr val="1F2A2E"/>
                </a:solidFill>
                <a:latin typeface="Arial" pitchFamily="34" charset="0"/>
                <a:ea typeface="Arial" pitchFamily="34" charset="-122"/>
                <a:cs typeface="Arial" pitchFamily="34" charset="-120"/>
              </a:rPr>
              <a:t>−0.60 pp</a:t>
            </a:r>
            <a:endParaRPr lang="en-US" sz="1150" dirty="0"/>
          </a:p>
        </p:txBody>
      </p:sp>
      <p:sp>
        <p:nvSpPr>
          <p:cNvPr id="17" name="text-15"/>
          <p:cNvSpPr txBox="1"/>
          <p:nvPr/>
        </p:nvSpPr>
        <p:spPr>
          <a:xfrm>
            <a:off x="548640" y="33741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Screen or paper copy</a:t>
            </a:r>
            <a:endParaRPr lang="en-US" sz="1200" dirty="0"/>
          </a:p>
        </p:txBody>
      </p:sp>
      <p:sp>
        <p:nvSpPr>
          <p:cNvPr id="18" name="rect-16"/>
          <p:cNvSpPr/>
          <p:nvPr/>
        </p:nvSpPr>
        <p:spPr>
          <a:xfrm>
            <a:off x="6460577" y="3337560"/>
            <a:ext cx="408341" cy="292608"/>
          </a:xfrm>
          <a:prstGeom prst="rect">
            <a:avLst/>
          </a:prstGeom>
          <a:solidFill>
            <a:srgbClr val="0F4C4D"/>
          </a:solidFill>
          <a:ln/>
        </p:spPr>
      </p:sp>
      <p:sp>
        <p:nvSpPr>
          <p:cNvPr id="19" name="text-17"/>
          <p:cNvSpPr txBox="1"/>
          <p:nvPr/>
        </p:nvSpPr>
        <p:spPr>
          <a:xfrm>
            <a:off x="5683337" y="3374136"/>
            <a:ext cx="731520" cy="274320"/>
          </a:xfrm>
          <a:prstGeom prst="rect">
            <a:avLst/>
          </a:prstGeom>
          <a:noFill/>
          <a:ln/>
        </p:spPr>
        <p:txBody>
          <a:bodyPr wrap="square" lIns="0" tIns="0" rIns="0" bIns="0" rtlCol="0" anchor="t"/>
          <a:lstStyle/>
          <a:p>
            <a:pPr algn="r" indent="0" marL="0">
              <a:buNone/>
            </a:pPr>
            <a:r>
              <a:rPr lang="en-US" sz="1150" b="1" dirty="0">
                <a:solidFill>
                  <a:srgbClr val="1F2A2E"/>
                </a:solidFill>
                <a:latin typeface="Arial" pitchFamily="34" charset="0"/>
                <a:ea typeface="Arial" pitchFamily="34" charset="-122"/>
                <a:cs typeface="Arial" pitchFamily="34" charset="-120"/>
              </a:rPr>
              <a:t>−0.34 pp</a:t>
            </a:r>
            <a:endParaRPr lang="en-US" sz="1150" dirty="0"/>
          </a:p>
        </p:txBody>
      </p:sp>
      <p:sp>
        <p:nvSpPr>
          <p:cNvPr id="20" name="text-18"/>
          <p:cNvSpPr txBox="1"/>
          <p:nvPr/>
        </p:nvSpPr>
        <p:spPr>
          <a:xfrm>
            <a:off x="548640" y="38313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Unsupported or incomplete document</a:t>
            </a:r>
            <a:endParaRPr lang="en-US" sz="1200" dirty="0"/>
          </a:p>
        </p:txBody>
      </p:sp>
      <p:sp>
        <p:nvSpPr>
          <p:cNvPr id="21" name="rect-19"/>
          <p:cNvSpPr/>
          <p:nvPr/>
        </p:nvSpPr>
        <p:spPr>
          <a:xfrm>
            <a:off x="6664748" y="3794760"/>
            <a:ext cx="204171" cy="292608"/>
          </a:xfrm>
          <a:prstGeom prst="rect">
            <a:avLst/>
          </a:prstGeom>
          <a:solidFill>
            <a:srgbClr val="0F4C4D"/>
          </a:solidFill>
          <a:ln/>
        </p:spPr>
      </p:sp>
      <p:sp>
        <p:nvSpPr>
          <p:cNvPr id="22" name="text-20"/>
          <p:cNvSpPr txBox="1"/>
          <p:nvPr/>
        </p:nvSpPr>
        <p:spPr>
          <a:xfrm>
            <a:off x="5887508" y="3831336"/>
            <a:ext cx="731520" cy="274320"/>
          </a:xfrm>
          <a:prstGeom prst="rect">
            <a:avLst/>
          </a:prstGeom>
          <a:noFill/>
          <a:ln/>
        </p:spPr>
        <p:txBody>
          <a:bodyPr wrap="square" lIns="0" tIns="0" rIns="0" bIns="0" rtlCol="0" anchor="t"/>
          <a:lstStyle/>
          <a:p>
            <a:pPr algn="r" indent="0" marL="0">
              <a:buNone/>
            </a:pPr>
            <a:r>
              <a:rPr lang="en-US" sz="1150" b="1" dirty="0">
                <a:solidFill>
                  <a:srgbClr val="1F2A2E"/>
                </a:solidFill>
                <a:latin typeface="Arial" pitchFamily="34" charset="0"/>
                <a:ea typeface="Arial" pitchFamily="34" charset="-122"/>
                <a:cs typeface="Arial" pitchFamily="34" charset="-120"/>
              </a:rPr>
              <a:t>−0.17 pp</a:t>
            </a:r>
            <a:endParaRPr lang="en-US" sz="1150" dirty="0"/>
          </a:p>
        </p:txBody>
      </p:sp>
      <p:sp>
        <p:nvSpPr>
          <p:cNvPr id="23" name="text-21"/>
          <p:cNvSpPr txBox="1"/>
          <p:nvPr/>
        </p:nvSpPr>
        <p:spPr>
          <a:xfrm>
            <a:off x="548640" y="42885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Other</a:t>
            </a:r>
            <a:endParaRPr lang="en-US" sz="1200" dirty="0"/>
          </a:p>
        </p:txBody>
      </p:sp>
      <p:sp>
        <p:nvSpPr>
          <p:cNvPr id="24" name="rect-22"/>
          <p:cNvSpPr/>
          <p:nvPr/>
        </p:nvSpPr>
        <p:spPr>
          <a:xfrm>
            <a:off x="6832888" y="4251960"/>
            <a:ext cx="36030" cy="292608"/>
          </a:xfrm>
          <a:prstGeom prst="rect">
            <a:avLst/>
          </a:prstGeom>
          <a:solidFill>
            <a:srgbClr val="0F4C4D"/>
          </a:solidFill>
          <a:ln/>
        </p:spPr>
      </p:sp>
      <p:sp>
        <p:nvSpPr>
          <p:cNvPr id="25" name="text-23"/>
          <p:cNvSpPr txBox="1"/>
          <p:nvPr/>
        </p:nvSpPr>
        <p:spPr>
          <a:xfrm>
            <a:off x="6055648" y="4288536"/>
            <a:ext cx="731520" cy="274320"/>
          </a:xfrm>
          <a:prstGeom prst="rect">
            <a:avLst/>
          </a:prstGeom>
          <a:noFill/>
          <a:ln/>
        </p:spPr>
        <p:txBody>
          <a:bodyPr wrap="square" lIns="0" tIns="0" rIns="0" bIns="0" rtlCol="0" anchor="t"/>
          <a:lstStyle/>
          <a:p>
            <a:pPr algn="r" indent="0" marL="0">
              <a:buNone/>
            </a:pPr>
            <a:r>
              <a:rPr lang="en-US" sz="1150" b="1" dirty="0">
                <a:solidFill>
                  <a:srgbClr val="1F2A2E"/>
                </a:solidFill>
                <a:latin typeface="Arial" pitchFamily="34" charset="0"/>
                <a:ea typeface="Arial" pitchFamily="34" charset="-122"/>
                <a:cs typeface="Arial" pitchFamily="34" charset="-120"/>
              </a:rPr>
              <a:t>−0.03 pp</a:t>
            </a:r>
            <a:endParaRPr lang="en-US" sz="1150" dirty="0"/>
          </a:p>
        </p:txBody>
      </p:sp>
      <p:sp>
        <p:nvSpPr>
          <p:cNvPr id="26" name="text-24"/>
          <p:cNvSpPr txBox="1"/>
          <p:nvPr/>
        </p:nvSpPr>
        <p:spPr>
          <a:xfrm>
            <a:off x="548640" y="47457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Image quality</a:t>
            </a:r>
            <a:endParaRPr lang="en-US" sz="1200" dirty="0"/>
          </a:p>
        </p:txBody>
      </p:sp>
      <p:sp>
        <p:nvSpPr>
          <p:cNvPr id="27" name="rect-25"/>
          <p:cNvSpPr/>
          <p:nvPr/>
        </p:nvSpPr>
        <p:spPr>
          <a:xfrm>
            <a:off x="6856908" y="4709160"/>
            <a:ext cx="12010" cy="292608"/>
          </a:xfrm>
          <a:prstGeom prst="rect">
            <a:avLst/>
          </a:prstGeom>
          <a:solidFill>
            <a:srgbClr val="0F4C4D"/>
          </a:solidFill>
          <a:ln/>
        </p:spPr>
      </p:sp>
      <p:sp>
        <p:nvSpPr>
          <p:cNvPr id="28" name="text-26"/>
          <p:cNvSpPr txBox="1"/>
          <p:nvPr/>
        </p:nvSpPr>
        <p:spPr>
          <a:xfrm>
            <a:off x="6079668" y="4745736"/>
            <a:ext cx="731520" cy="274320"/>
          </a:xfrm>
          <a:prstGeom prst="rect">
            <a:avLst/>
          </a:prstGeom>
          <a:noFill/>
          <a:ln/>
        </p:spPr>
        <p:txBody>
          <a:bodyPr wrap="square" lIns="0" tIns="0" rIns="0" bIns="0" rtlCol="0" anchor="t"/>
          <a:lstStyle/>
          <a:p>
            <a:pPr algn="r" indent="0" marL="0">
              <a:buNone/>
            </a:pPr>
            <a:r>
              <a:rPr lang="en-US" sz="1150" b="1" dirty="0">
                <a:solidFill>
                  <a:srgbClr val="1F2A2E"/>
                </a:solidFill>
                <a:latin typeface="Arial" pitchFamily="34" charset="0"/>
                <a:ea typeface="Arial" pitchFamily="34" charset="-122"/>
                <a:cs typeface="Arial" pitchFamily="34" charset="-120"/>
              </a:rPr>
              <a:t>−0.01 pp</a:t>
            </a:r>
            <a:endParaRPr lang="en-US" sz="1150" dirty="0"/>
          </a:p>
        </p:txBody>
      </p:sp>
      <p:sp>
        <p:nvSpPr>
          <p:cNvPr id="29" name="text-27"/>
          <p:cNvSpPr txBox="1"/>
          <p:nvPr/>
        </p:nvSpPr>
        <p:spPr>
          <a:xfrm>
            <a:off x="548640" y="52029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Face match</a:t>
            </a:r>
            <a:endParaRPr lang="en-US" sz="1200" dirty="0"/>
          </a:p>
        </p:txBody>
      </p:sp>
      <p:sp>
        <p:nvSpPr>
          <p:cNvPr id="30" name="rect-28"/>
          <p:cNvSpPr/>
          <p:nvPr/>
        </p:nvSpPr>
        <p:spPr>
          <a:xfrm>
            <a:off x="6868918" y="5166360"/>
            <a:ext cx="432361" cy="292608"/>
          </a:xfrm>
          <a:prstGeom prst="rect">
            <a:avLst/>
          </a:prstGeom>
          <a:solidFill>
            <a:srgbClr val="0F4C4D"/>
          </a:solidFill>
          <a:ln/>
        </p:spPr>
      </p:sp>
      <p:sp>
        <p:nvSpPr>
          <p:cNvPr id="31" name="text-29"/>
          <p:cNvSpPr txBox="1"/>
          <p:nvPr/>
        </p:nvSpPr>
        <p:spPr>
          <a:xfrm>
            <a:off x="7374431" y="5202936"/>
            <a:ext cx="731520" cy="274320"/>
          </a:xfrm>
          <a:prstGeom prst="rect">
            <a:avLst/>
          </a:prstGeom>
          <a:noFill/>
          <a:ln/>
        </p:spPr>
        <p:txBody>
          <a:bodyPr wrap="square" lIns="0" tIns="0" rIns="0" bIns="0" rtlCol="0" anchor="t"/>
          <a:lstStyle/>
          <a:p>
            <a:pPr algn="l" indent="0" marL="0">
              <a:buNone/>
            </a:pPr>
            <a:r>
              <a:rPr lang="en-US" sz="1150" b="1" dirty="0">
                <a:solidFill>
                  <a:srgbClr val="1F2A2E"/>
                </a:solidFill>
                <a:latin typeface="Arial" pitchFamily="34" charset="0"/>
                <a:ea typeface="Arial" pitchFamily="34" charset="-122"/>
                <a:cs typeface="Arial" pitchFamily="34" charset="-120"/>
              </a:rPr>
              <a:t>+0.36 pp</a:t>
            </a:r>
            <a:endParaRPr lang="en-US" sz="1150" dirty="0"/>
          </a:p>
        </p:txBody>
      </p:sp>
      <p:sp>
        <p:nvSpPr>
          <p:cNvPr id="32" name="line-30"/>
          <p:cNvSpPr/>
          <p:nvPr/>
        </p:nvSpPr>
        <p:spPr>
          <a:xfrm>
            <a:off x="6868918" y="1417320"/>
            <a:ext cx="0" cy="4206240"/>
          </a:xfrm>
          <a:prstGeom prst="line">
            <a:avLst/>
          </a:prstGeom>
          <a:noFill/>
          <a:ln w="12700">
            <a:solidFill>
              <a:srgbClr val="1F2A2E"/>
            </a:solidFill>
            <a:prstDash val="solid"/>
          </a:ln>
        </p:spPr>
      </p:sp>
      <p:sp>
        <p:nvSpPr>
          <p:cNvPr id="33" name="rect-31"/>
          <p:cNvSpPr/>
          <p:nvPr/>
        </p:nvSpPr>
        <p:spPr>
          <a:xfrm>
            <a:off x="3566160" y="5715000"/>
            <a:ext cx="201168" cy="164592"/>
          </a:xfrm>
          <a:prstGeom prst="rect">
            <a:avLst/>
          </a:prstGeom>
          <a:solidFill>
            <a:srgbClr val="B93A2C"/>
          </a:solidFill>
          <a:ln/>
        </p:spPr>
      </p:sp>
      <p:sp>
        <p:nvSpPr>
          <p:cNvPr id="34" name="text-32"/>
          <p:cNvSpPr txBox="1"/>
          <p:nvPr/>
        </p:nvSpPr>
        <p:spPr>
          <a:xfrm>
            <a:off x="3840480" y="5687568"/>
            <a:ext cx="2743200" cy="228600"/>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Above baseline in incident windows</a:t>
            </a:r>
            <a:endParaRPr lang="en-US" sz="1050" dirty="0"/>
          </a:p>
        </p:txBody>
      </p:sp>
      <p:sp>
        <p:nvSpPr>
          <p:cNvPr id="35" name="rect-33"/>
          <p:cNvSpPr/>
          <p:nvPr/>
        </p:nvSpPr>
        <p:spPr>
          <a:xfrm>
            <a:off x="6583680" y="5715000"/>
            <a:ext cx="201168" cy="164592"/>
          </a:xfrm>
          <a:prstGeom prst="rect">
            <a:avLst/>
          </a:prstGeom>
          <a:solidFill>
            <a:srgbClr val="0F4C4D"/>
          </a:solidFill>
          <a:ln/>
        </p:spPr>
      </p:sp>
      <p:sp>
        <p:nvSpPr>
          <p:cNvPr id="36" name="text-34"/>
          <p:cNvSpPr txBox="1"/>
          <p:nvPr/>
        </p:nvSpPr>
        <p:spPr>
          <a:xfrm>
            <a:off x="6858000" y="5687568"/>
            <a:ext cx="1828800" cy="228600"/>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Everything else</a:t>
            </a:r>
            <a:endParaRPr lang="en-US" sz="1050" dirty="0"/>
          </a:p>
        </p:txBody>
      </p:sp>
      <p:sp>
        <p:nvSpPr>
          <p:cNvPr id="37" name="rect-35"/>
          <p:cNvSpPr/>
          <p:nvPr/>
        </p:nvSpPr>
        <p:spPr>
          <a:xfrm>
            <a:off x="8138160" y="1417320"/>
            <a:ext cx="3504895" cy="4297680"/>
          </a:xfrm>
          <a:prstGeom prst="roundRect">
            <a:avLst>
              <a:gd name="adj" fmla="val 2087"/>
            </a:avLst>
          </a:prstGeom>
          <a:solidFill>
            <a:srgbClr val="F3F6F6"/>
          </a:solidFill>
          <a:ln/>
        </p:spPr>
      </p:sp>
      <p:sp>
        <p:nvSpPr>
          <p:cNvPr id="38" name="text-36"/>
          <p:cNvSpPr txBox="1"/>
          <p:nvPr/>
        </p:nvSpPr>
        <p:spPr>
          <a:xfrm>
            <a:off x="8321040" y="1572768"/>
            <a:ext cx="3139135" cy="4114800"/>
          </a:xfrm>
          <a:prstGeom prst="rect">
            <a:avLst/>
          </a:prstGeom>
          <a:noFill/>
          <a:ln/>
        </p:spPr>
        <p:txBody>
          <a:bodyPr wrap="square" lIns="0" tIns="0" rIns="0" bIns="0" rtlCol="0" anchor="t"/>
          <a:lstStyle/>
          <a:p>
            <a:pPr algn="l" indent="0" marL="0">
              <a:spcAft>
                <a:spcPts val="800"/>
              </a:spcAft>
              <a:buNone/>
            </a:pPr>
            <a:r>
              <a:rPr lang="en-US" sz="1250" b="1" dirty="0">
                <a:solidFill>
                  <a:srgbClr val="0F4C4D"/>
                </a:solidFill>
                <a:latin typeface="Arial" pitchFamily="34" charset="0"/>
                <a:ea typeface="Arial" pitchFamily="34" charset="-122"/>
                <a:cs typeface="Arial" pitchFamily="34" charset="-120"/>
              </a:rPr>
              <a:t>Reading the bars</a:t>
            </a:r>
            <a:endParaRPr lang="en-US" sz="1250" dirty="0"/>
          </a:p>
          <a:p>
            <a:pPr algn="l" marL="152400" indent="-152400">
              <a:spcAft>
                <a:spcPts val="600"/>
              </a:spcAft>
              <a:buSzPct val="100000"/>
              <a:buChar char="•"/>
            </a:pPr>
            <a:r>
              <a:rPr lang="en-US" sz="1250" dirty="0">
                <a:solidFill>
                  <a:srgbClr val="1F2A2E"/>
                </a:solidFill>
                <a:latin typeface="Arial" pitchFamily="34" charset="0"/>
                <a:ea typeface="Arial" pitchFamily="34" charset="-122"/>
                <a:cs typeface="Arial" pitchFamily="34" charset="-120"/>
              </a:rPr>
              <a:t>Fraud signals: −1.90 pp of −2.05 pp sits in two windows.</a:t>
            </a:r>
            <a:endParaRPr lang="en-US" sz="1250" dirty="0"/>
          </a:p>
          <a:p>
            <a:pPr algn="l" marL="152400" indent="-152400">
              <a:spcAft>
                <a:spcPts val="600"/>
              </a:spcAft>
              <a:buSzPct val="100000"/>
              <a:buChar char="•"/>
            </a:pPr>
            <a:r>
              <a:rPr lang="en-US" sz="1250" dirty="0">
                <a:solidFill>
                  <a:srgbClr val="1F2A2E"/>
                </a:solidFill>
                <a:latin typeface="Arial" pitchFamily="34" charset="0"/>
                <a:ea typeface="Arial" pitchFamily="34" charset="-122"/>
                <a:cs typeface="Arial" pitchFamily="34" charset="-120"/>
              </a:rPr>
              <a:t>Execution errors: almost all of −1.62 pp is on Sep 1–2.</a:t>
            </a:r>
            <a:endParaRPr lang="en-US" sz="1250" dirty="0"/>
          </a:p>
          <a:p>
            <a:pPr algn="l" marL="152400" indent="-152400">
              <a:spcAft>
                <a:spcPts val="600"/>
              </a:spcAft>
              <a:buSzPct val="100000"/>
              <a:buChar char="•"/>
            </a:pPr>
            <a:r>
              <a:rPr lang="en-US" sz="1250" dirty="0">
                <a:solidFill>
                  <a:srgbClr val="1F2A2E"/>
                </a:solidFill>
                <a:latin typeface="Arial" pitchFamily="34" charset="0"/>
                <a:ea typeface="Arial" pitchFamily="34" charset="-122"/>
                <a:cs typeface="Arial" pitchFamily="34" charset="-120"/>
              </a:rPr>
              <a:t>Selfie / liveness: −0.69 pp on Sep 1 and 6, −0.26 pp elsewhere.</a:t>
            </a:r>
            <a:endParaRPr lang="en-US" sz="1250" dirty="0"/>
          </a:p>
          <a:p>
            <a:pPr algn="l" marL="152400" indent="-152400">
              <a:spcAft>
                <a:spcPts val="600"/>
              </a:spcAft>
              <a:buSzPct val="100000"/>
              <a:buChar char="•"/>
            </a:pPr>
            <a:r>
              <a:rPr lang="en-US" sz="1250" dirty="0">
                <a:solidFill>
                  <a:srgbClr val="1F2A2E"/>
                </a:solidFill>
                <a:latin typeface="Arial" pitchFamily="34" charset="0"/>
                <a:ea typeface="Arial" pitchFamily="34" charset="-122"/>
                <a:cs typeface="Arial" pitchFamily="34" charset="-120"/>
              </a:rPr>
              <a:t>No document type, no reason code: −0.60 pp, all outside the windows, so it is a slower, ongoing shift (mostly Mexican documents).</a:t>
            </a:r>
            <a:endParaRPr lang="en-US" sz="1250" dirty="0"/>
          </a:p>
          <a:p>
            <a:pPr algn="l" marL="152400" indent="-152400">
              <a:buSzPct val="100000"/>
              <a:buChar char="•"/>
            </a:pPr>
            <a:r>
              <a:rPr lang="en-US" sz="1250" dirty="0">
                <a:solidFill>
                  <a:srgbClr val="1F2A2E"/>
                </a:solidFill>
                <a:latin typeface="Arial" pitchFamily="34" charset="0"/>
                <a:ea typeface="Arial" pitchFamily="34" charset="-122"/>
                <a:cs typeface="Arial" pitchFamily="34" charset="-120"/>
              </a:rPr>
              <a:t>Face match: 2.77% → 2.41% of decisions. Not a cause of the drop, but a large existing loss.</a:t>
            </a:r>
            <a:endParaRPr lang="en-US" sz="1250" dirty="0"/>
          </a:p>
        </p:txBody>
      </p:sp>
      <p:sp>
        <p:nvSpPr>
          <p:cNvPr id="39" name="text-37"/>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298 recent unsuccessful decisions had two or more failing checks. A primary reason avoids double counting; it does not mean fixing that reason gets the person approved.</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About 1,057 failures sit above baseline in four windows; causes are unconfirmed</a:t>
            </a:r>
            <a:endParaRPr lang="en-US" sz="2600" dirty="0"/>
          </a:p>
        </p:txBody>
      </p:sp>
      <p:graphicFrame>
        <p:nvGraphicFramePr>
          <p:cNvPr id="7" name="table-1"/>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291840"/>
                <a:gridCol w="2743200"/>
                <a:gridCol w="868680"/>
                <a:gridCol w="868680"/>
                <a:gridCol w="1097280"/>
                <a:gridCol w="1234440"/>
                <a:gridCol w="987552"/>
              </a:tblGrid>
              <a:tr h="0">
                <a:tc>
                  <a:txBody>
                    <a:bodyPr/>
                    <a:lstStyle/>
                    <a:p>
                      <a:pPr indent="0" marL="0">
                        <a:buNone/>
                      </a:pPr>
                      <a:r>
                        <a:rPr lang="en-US" sz="1150" b="1" dirty="0">
                          <a:solidFill>
                            <a:srgbClr val="FFFFFF"/>
                          </a:solidFill>
                          <a:latin typeface="Arial" pitchFamily="34" charset="0"/>
                          <a:ea typeface="Arial" pitchFamily="34" charset="-122"/>
                          <a:cs typeface="Arial" pitchFamily="34" charset="-120"/>
                        </a:rPr>
                        <a:t>Window (2023)</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Type</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Observed</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Expected</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Above baseline</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Of recent unsuccessful</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Approval pts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1. Argentina fraud-signal burst, Aug 24</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Suspected additional attack traffic</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376</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2.9</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373</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8.9%</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−1.48 pp</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2. Execution errors at usability, Sep 1–2</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Technical failure affecting applicants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407</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0.1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407</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9.7%</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−1.62 pp</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3. Liveness quality spike, Sep 1 and Sep 6</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Technical failure affecting applicants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174</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0.5</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173</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4.1%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−0.69 pp</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4. Mexico INE fraud-signal cluster, Sep 14–19</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Fraud-signal cluster without extra volume</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111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7.0</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104</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2.5%</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−0.41 pp</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50" b="1" dirty="0">
                          <a:solidFill>
                            <a:srgbClr val="1F2A2E"/>
                          </a:solidFill>
                          <a:latin typeface="Arial" pitchFamily="34" charset="0"/>
                          <a:ea typeface="Arial" pitchFamily="34" charset="-122"/>
                          <a:cs typeface="Arial" pitchFamily="34" charset="-120"/>
                        </a:rPr>
                        <a:t>Total</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b="1" dirty="0">
                          <a:solidFill>
                            <a:srgbClr val="1F2A2E"/>
                          </a:solidFill>
                          <a:latin typeface="Arial" pitchFamily="34" charset="0"/>
                          <a:ea typeface="Arial" pitchFamily="34" charset="-122"/>
                          <a:cs typeface="Arial" pitchFamily="34" charset="-120"/>
                        </a:rPr>
                        <a:t>1,057</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b="1" dirty="0">
                          <a:solidFill>
                            <a:srgbClr val="1F2A2E"/>
                          </a:solidFill>
                          <a:latin typeface="Arial" pitchFamily="34" charset="0"/>
                          <a:ea typeface="Arial" pitchFamily="34" charset="-122"/>
                          <a:cs typeface="Arial" pitchFamily="34" charset="-120"/>
                        </a:rPr>
                        <a:t>25.2%</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b="1" dirty="0">
                          <a:solidFill>
                            <a:srgbClr val="1F2A2E"/>
                          </a:solidFill>
                          <a:latin typeface="Arial" pitchFamily="34" charset="0"/>
                          <a:ea typeface="Arial" pitchFamily="34" charset="-122"/>
                          <a:cs typeface="Arial" pitchFamily="34" charset="-120"/>
                        </a:rPr>
                        <a:t>−4.20 pp</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3886200"/>
            <a:ext cx="5394960" cy="2103120"/>
          </a:xfrm>
          <a:prstGeom prst="rect">
            <a:avLst/>
          </a:prstGeom>
          <a:noFill/>
          <a:ln/>
        </p:spPr>
        <p:txBody>
          <a:bodyPr wrap="square" lIns="0" tIns="0" rIns="0" bIns="0" rtlCol="0" anchor="t"/>
          <a:lstStyle/>
          <a:p>
            <a:pPr algn="l" indent="0" marL="0">
              <a:spcAft>
                <a:spcPts val="600"/>
              </a:spcAft>
              <a:buNone/>
            </a:pPr>
            <a:r>
              <a:rPr lang="en-US" sz="1300" b="1" dirty="0">
                <a:solidFill>
                  <a:srgbClr val="0F4C4D"/>
                </a:solidFill>
                <a:latin typeface="Arial" pitchFamily="34" charset="0"/>
                <a:ea typeface="Arial" pitchFamily="34" charset="-122"/>
                <a:cs typeface="Arial" pitchFamily="34" charset="-120"/>
              </a:rPr>
              <a:t>What is and isn’t known</a:t>
            </a:r>
            <a:endParaRPr lang="en-US" sz="1300" dirty="0"/>
          </a:p>
          <a:p>
            <a:pPr algn="l" marL="152400" indent="-152400">
              <a:spcAft>
                <a:spcPts val="400"/>
              </a:spcAft>
              <a:buSzPct val="100000"/>
              <a:buChar char="•"/>
            </a:pPr>
            <a:r>
              <a:rPr lang="en-US" sz="1200" dirty="0">
                <a:solidFill>
                  <a:srgbClr val="1F2A2E"/>
                </a:solidFill>
                <a:latin typeface="Arial" pitchFamily="34" charset="0"/>
                <a:ea typeface="Arial" pitchFamily="34" charset="-122"/>
                <a:cs typeface="Arial" pitchFamily="34" charset="-120"/>
              </a:rPr>
              <a:t>Argentina, Aug 24: 660 decisions vs a typical 318; 373 of the flagged passed liveness. Suggests attack traffic; not adjudicated.</a:t>
            </a:r>
            <a:endParaRPr lang="en-US" sz="1300" dirty="0"/>
          </a:p>
          <a:p>
            <a:pPr algn="l" marL="152400" indent="-152400">
              <a:spcAft>
                <a:spcPts val="400"/>
              </a:spcAft>
              <a:buSzPct val="100000"/>
              <a:buChar char="•"/>
            </a:pPr>
            <a:r>
              <a:rPr lang="en-US" sz="1200" dirty="0">
                <a:solidFill>
                  <a:srgbClr val="1F2A2E"/>
                </a:solidFill>
                <a:latin typeface="Arial" pitchFamily="34" charset="0"/>
                <a:ea typeface="Arial" pitchFamily="34" charset="-122"/>
                <a:cs typeface="Arial" pitchFamily="34" charset="-120"/>
              </a:rPr>
              <a:t>Sep 1–2: usability TECHNICAL_ERROR, liveness passed in all 407, screening passed in 251. Vendor or ARQ integration: unknown.</a:t>
            </a:r>
            <a:endParaRPr lang="en-US" sz="1300" dirty="0"/>
          </a:p>
          <a:p>
            <a:pPr algn="l" marL="152400" indent="-152400">
              <a:buSzPct val="100000"/>
              <a:buChar char="•"/>
            </a:pPr>
            <a:r>
              <a:rPr lang="en-US" sz="1200" dirty="0">
                <a:solidFill>
                  <a:srgbClr val="1F2A2E"/>
                </a:solidFill>
                <a:latin typeface="Arial" pitchFamily="34" charset="0"/>
                <a:ea typeface="Arial" pitchFamily="34" charset="-122"/>
                <a:cs typeface="Arial" pitchFamily="34" charset="-120"/>
              </a:rPr>
              <a:t>Mexico, Sep 14–19: INE flags without extra volume: fraud, a rule change or a new card version.</a:t>
            </a:r>
            <a:endParaRPr lang="en-US" sz="1300" dirty="0"/>
          </a:p>
        </p:txBody>
      </p:sp>
      <p:sp>
        <p:nvSpPr>
          <p:cNvPr id="5" name="rect-3"/>
          <p:cNvSpPr/>
          <p:nvPr/>
        </p:nvSpPr>
        <p:spPr>
          <a:xfrm>
            <a:off x="6263640" y="3886200"/>
            <a:ext cx="5379415" cy="2057400"/>
          </a:xfrm>
          <a:prstGeom prst="roundRect">
            <a:avLst>
              <a:gd name="adj" fmla="val 3556"/>
            </a:avLst>
          </a:prstGeom>
          <a:solidFill>
            <a:srgbClr val="F6E7D6"/>
          </a:solidFill>
          <a:ln/>
        </p:spPr>
      </p:sp>
      <p:sp>
        <p:nvSpPr>
          <p:cNvPr id="6" name="text-4"/>
          <p:cNvSpPr txBox="1"/>
          <p:nvPr/>
        </p:nvSpPr>
        <p:spPr>
          <a:xfrm>
            <a:off x="6446520" y="4005072"/>
            <a:ext cx="5013655" cy="1920240"/>
          </a:xfrm>
          <a:prstGeom prst="rect">
            <a:avLst/>
          </a:prstGeom>
          <a:noFill/>
          <a:ln/>
        </p:spPr>
        <p:txBody>
          <a:bodyPr wrap="square" lIns="0" tIns="0" rIns="0" bIns="0" rtlCol="0" anchor="t"/>
          <a:lstStyle/>
          <a:p>
            <a:pPr algn="l" indent="0" marL="0">
              <a:spcAft>
                <a:spcPts val="600"/>
              </a:spcAft>
              <a:buNone/>
            </a:pPr>
            <a:r>
              <a:rPr lang="en-US" sz="1300" b="1" dirty="0">
                <a:solidFill>
                  <a:srgbClr val="B8691F"/>
                </a:solidFill>
                <a:latin typeface="Arial" pitchFamily="34" charset="0"/>
                <a:ea typeface="Arial" pitchFamily="34" charset="-122"/>
                <a:cs typeface="Arial" pitchFamily="34" charset="-120"/>
              </a:rPr>
              <a:t>Vendor status page (read Oct 13, 2026)</a:t>
            </a:r>
            <a:endParaRPr lang="en-US" sz="1300" dirty="0"/>
          </a:p>
          <a:p>
            <a:pPr algn="l" indent="0" marL="0">
              <a:spcAft>
                <a:spcPts val="600"/>
              </a:spcAft>
              <a:buNone/>
            </a:pPr>
            <a:r>
              <a:rPr lang="en-US" sz="1200" dirty="0">
                <a:solidFill>
                  <a:srgbClr val="1F2A2E"/>
                </a:solidFill>
                <a:latin typeface="Arial" pitchFamily="34" charset="0"/>
                <a:ea typeface="Arial" pitchFamily="34" charset="-122"/>
                <a:cs typeface="Arial" pitchFamily="34" charset="-120"/>
              </a:rPr>
              <a:t>Liveness incidents on the vendor’s US data centre: Sep 1 (15:38–16:42 and 18:07–22:44 UTC) and Sep 6 (10:00–17:22 UTC). No entry for Sep 2 or for the fraud-signal dates.</a:t>
            </a:r>
            <a:endParaRPr lang="en-US" sz="1300" dirty="0"/>
          </a:p>
          <a:p>
            <a:pPr algn="l" indent="0" marL="0">
              <a:buNone/>
            </a:pPr>
            <a:r>
              <a:rPr lang="en-US" sz="1200" dirty="0">
                <a:solidFill>
                  <a:srgbClr val="5C686C"/>
                </a:solidFill>
                <a:latin typeface="Arial" pitchFamily="34" charset="0"/>
                <a:ea typeface="Arial" pitchFamily="34" charset="-122"/>
                <a:cs typeface="Arial" pitchFamily="34" charset="-120"/>
              </a:rPr>
              <a:t>A documented vendor incident is not confirmation of impact on ARQ.</a:t>
            </a:r>
            <a:endParaRPr lang="en-US" sz="1300" dirty="0"/>
          </a:p>
        </p:txBody>
      </p:sp>
      <p:sp>
        <p:nvSpPr>
          <p:cNvPr id="7" name="text-5"/>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Sensitivity range 1,055–1,130 across window, signature and baseline variants. Removing the 1,068 matching failures gives 86.99%: a descriptive rate, not performance without incidents.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Six hypotheses, each with the step that would settle it</a:t>
            </a:r>
            <a:endParaRPr lang="en-US" sz="2600" dirty="0"/>
          </a:p>
        </p:txBody>
      </p:sp>
      <p:graphicFrame>
        <p:nvGraphicFramePr>
          <p:cNvPr id="8" name="table-1"/>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502920"/>
                <a:gridCol w="3200400"/>
                <a:gridCol w="2606040"/>
                <a:gridCol w="2697480"/>
                <a:gridCol w="2084832"/>
              </a:tblGrid>
              <a:tr h="0">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Hypothesis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Strongest alternative</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Next step</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Decision it enables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H1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Execution errors on Sep 1–2 became rejections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Vendor fault vs ARQ integration or network</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Pull ARQ logs and raw responses; vendor incident report</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Fault owner; SLA question; hold-and-retry either way</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H2</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Liveness failures on Sep 1 and 6 were a vendor fault</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ARQ app or SDK release</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Release log; vendor list of affected transactions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Escalate; test a retake policy</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H3</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Aug 24 Argentina burst was coordinated fraud</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Vendor false positives during a campaign</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Adjudicate a sample; channel and device data</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Pre-vendor velocity controls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H4</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Sep 14–19 INE flags reflect a vendor rule change</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Quieter fraud; new INE card version</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Sample review with the vendor; registry check</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Review vs auto-decline for INE flags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H5</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Mexican "no document type" has several causes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Unsupported documents, capture, configuration, coverage</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Review 100 cases with the vendor; config history</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Picker vs configuration vs escalation</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H6</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Face mismatches partly reflect old ID photos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Impostors; selfie lighting</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Adjudicate NO_MATCH and NOT_POSSIBLE samples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Review queue or registry face check</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4" name="text-2"/>
          <p:cNvSpPr txBox="1"/>
          <p:nvPr/>
        </p:nvSpPr>
        <p:spPr>
          <a:xfrm>
            <a:off x="548640" y="5715000"/>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Evidence for each (from the data): H1 407 TECHNICAL_ERROR rejections; H2 174 liveness quality failures on two days; H3 376 signals with doubled volume; H4 111 INE signals at normal volume; H5 no document type 11.3% → 14.2% of Mexican decisions; H6 face match 2.41% of recent decisions.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Phase 0, weeks 0–2: measure and stabilise before optimising</a:t>
            </a:r>
            <a:endParaRPr lang="en-US" sz="2600" dirty="0"/>
          </a:p>
        </p:txBody>
      </p:sp>
      <p:sp>
        <p:nvSpPr>
          <p:cNvPr id="3" name="rect-1"/>
          <p:cNvSpPr/>
          <p:nvPr/>
        </p:nvSpPr>
        <p:spPr>
          <a:xfrm>
            <a:off x="548640" y="1371600"/>
            <a:ext cx="2670048" cy="2103120"/>
          </a:xfrm>
          <a:prstGeom prst="roundRect">
            <a:avLst>
              <a:gd name="adj" fmla="val 3478"/>
            </a:avLst>
          </a:prstGeom>
          <a:solidFill>
            <a:srgbClr val="F3F6F6"/>
          </a:solidFill>
          <a:ln/>
        </p:spPr>
      </p:sp>
      <p:sp>
        <p:nvSpPr>
          <p:cNvPr id="4" name="text-2"/>
          <p:cNvSpPr txBox="1"/>
          <p:nvPr/>
        </p:nvSpPr>
        <p:spPr>
          <a:xfrm>
            <a:off x="704088" y="1499616"/>
            <a:ext cx="2359152" cy="548640"/>
          </a:xfrm>
          <a:prstGeom prst="rect">
            <a:avLst/>
          </a:prstGeom>
          <a:noFill/>
          <a:ln/>
        </p:spPr>
        <p:txBody>
          <a:bodyPr wrap="square" lIns="0" tIns="0" rIns="0" bIns="0" rtlCol="0" anchor="t"/>
          <a:lstStyle/>
          <a:p>
            <a:pPr algn="l" indent="0" marL="0">
              <a:buNone/>
            </a:pPr>
            <a:r>
              <a:rPr lang="en-US" sz="1250" b="1" dirty="0">
                <a:solidFill>
                  <a:srgbClr val="0F4C4D"/>
                </a:solidFill>
                <a:latin typeface="Arial" pitchFamily="34" charset="0"/>
                <a:ea typeface="Arial" pitchFamily="34" charset="-122"/>
                <a:cs typeface="Arial" pitchFamily="34" charset="-120"/>
              </a:rPr>
              <a:t>Minimum funnel instrumentation</a:t>
            </a:r>
            <a:endParaRPr lang="en-US" sz="1250" dirty="0"/>
          </a:p>
        </p:txBody>
      </p:sp>
      <p:sp>
        <p:nvSpPr>
          <p:cNvPr id="5" name="text-3"/>
          <p:cNvSpPr txBox="1"/>
          <p:nvPr/>
        </p:nvSpPr>
        <p:spPr>
          <a:xfrm>
            <a:off x="704088" y="2084832"/>
            <a:ext cx="2359152" cy="274320"/>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Data &amp; Analytics · Measure · M</a:t>
            </a:r>
            <a:endParaRPr lang="en-US" sz="1000" dirty="0"/>
          </a:p>
        </p:txBody>
      </p:sp>
      <p:sp>
        <p:nvSpPr>
          <p:cNvPr id="6" name="text-4"/>
          <p:cNvSpPr txBox="1"/>
          <p:nvPr/>
        </p:nvSpPr>
        <p:spPr>
          <a:xfrm>
            <a:off x="704088" y="2468880"/>
            <a:ext cx="2359152" cy="960120"/>
          </a:xfrm>
          <a:prstGeom prst="rect">
            <a:avLst/>
          </a:prstGeom>
          <a:noFill/>
          <a:ln/>
        </p:spPr>
        <p:txBody>
          <a:bodyPr wrap="square" lIns="0" tIns="0" rIns="0" bIns="0" rtlCol="0" anchor="t"/>
          <a:lstStyle/>
          <a:p>
            <a:pPr algn="l" indent="0" marL="0">
              <a:buNone/>
            </a:pPr>
            <a:r>
              <a:rPr lang="en-US" sz="1050" dirty="0">
                <a:solidFill>
                  <a:srgbClr val="1F2A2E"/>
                </a:solidFill>
                <a:latin typeface="Arial" pitchFamily="34" charset="0"/>
                <a:ea typeface="Arial" pitchFamily="34" charset="-122"/>
                <a:cs typeface="Arial" pitchFamily="34" charset="-120"/>
              </a:rPr>
              <a:t>Done when: Events for 99% of sessions in a daily reconciliation against vendor transactions; dashboards show first cohort.</a:t>
            </a:r>
            <a:endParaRPr lang="en-US" sz="1050" dirty="0"/>
          </a:p>
        </p:txBody>
      </p:sp>
      <p:sp>
        <p:nvSpPr>
          <p:cNvPr id="7" name="rect-5"/>
          <p:cNvSpPr/>
          <p:nvPr/>
        </p:nvSpPr>
        <p:spPr>
          <a:xfrm>
            <a:off x="3355848" y="1371600"/>
            <a:ext cx="2670048" cy="2103120"/>
          </a:xfrm>
          <a:prstGeom prst="roundRect">
            <a:avLst>
              <a:gd name="adj" fmla="val 3478"/>
            </a:avLst>
          </a:prstGeom>
          <a:solidFill>
            <a:srgbClr val="DCEAE9"/>
          </a:solidFill>
          <a:ln/>
        </p:spPr>
      </p:sp>
      <p:sp>
        <p:nvSpPr>
          <p:cNvPr id="8" name="text-6"/>
          <p:cNvSpPr txBox="1"/>
          <p:nvPr/>
        </p:nvSpPr>
        <p:spPr>
          <a:xfrm>
            <a:off x="3511296" y="1499616"/>
            <a:ext cx="2359152" cy="548640"/>
          </a:xfrm>
          <a:prstGeom prst="rect">
            <a:avLst/>
          </a:prstGeom>
          <a:noFill/>
          <a:ln/>
        </p:spPr>
        <p:txBody>
          <a:bodyPr wrap="square" lIns="0" tIns="0" rIns="0" bIns="0" rtlCol="0" anchor="t"/>
          <a:lstStyle/>
          <a:p>
            <a:pPr algn="l" indent="0" marL="0">
              <a:buNone/>
            </a:pPr>
            <a:r>
              <a:rPr lang="en-US" sz="1250" b="1" dirty="0">
                <a:solidFill>
                  <a:srgbClr val="0F4C4D"/>
                </a:solidFill>
                <a:latin typeface="Arial" pitchFamily="34" charset="0"/>
                <a:ea typeface="Arial" pitchFamily="34" charset="-122"/>
                <a:cs typeface="Arial" pitchFamily="34" charset="-120"/>
              </a:rPr>
              <a:t>Hold and retry on TECHNICAL_ERROR</a:t>
            </a:r>
            <a:endParaRPr lang="en-US" sz="1250" dirty="0"/>
          </a:p>
        </p:txBody>
      </p:sp>
      <p:sp>
        <p:nvSpPr>
          <p:cNvPr id="9" name="text-7"/>
          <p:cNvSpPr txBox="1"/>
          <p:nvPr/>
        </p:nvSpPr>
        <p:spPr>
          <a:xfrm>
            <a:off x="3511296" y="2084832"/>
            <a:ext cx="2359152" cy="274320"/>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Engineering · Onboarding platform · Remediate · S</a:t>
            </a:r>
            <a:endParaRPr lang="en-US" sz="1000" dirty="0"/>
          </a:p>
        </p:txBody>
      </p:sp>
      <p:sp>
        <p:nvSpPr>
          <p:cNvPr id="10" name="text-8"/>
          <p:cNvSpPr txBox="1"/>
          <p:nvPr/>
        </p:nvSpPr>
        <p:spPr>
          <a:xfrm>
            <a:off x="3511296" y="2468880"/>
            <a:ext cx="2359152" cy="960120"/>
          </a:xfrm>
          <a:prstGeom prst="rect">
            <a:avLst/>
          </a:prstGeom>
          <a:noFill/>
          <a:ln/>
        </p:spPr>
        <p:txBody>
          <a:bodyPr wrap="square" lIns="0" tIns="0" rIns="0" bIns="0" rtlCol="0" anchor="t"/>
          <a:lstStyle/>
          <a:p>
            <a:pPr algn="l" indent="0" marL="0">
              <a:buNone/>
            </a:pPr>
            <a:r>
              <a:rPr lang="en-US" sz="1050" dirty="0">
                <a:solidFill>
                  <a:srgbClr val="1F2A2E"/>
                </a:solidFill>
                <a:latin typeface="Arial" pitchFamily="34" charset="0"/>
                <a:ea typeface="Arial" pitchFamily="34" charset="-122"/>
                <a:cs typeface="Arial" pitchFamily="34" charset="-120"/>
              </a:rPr>
              <a:t>Done when: Zero final rejections with TECHNICAL_ERROR over 4 weeks; 95% of held cases resolved within 24 hours.</a:t>
            </a:r>
            <a:endParaRPr lang="en-US" sz="1050" dirty="0"/>
          </a:p>
        </p:txBody>
      </p:sp>
      <p:sp>
        <p:nvSpPr>
          <p:cNvPr id="11" name="rect-9"/>
          <p:cNvSpPr/>
          <p:nvPr/>
        </p:nvSpPr>
        <p:spPr>
          <a:xfrm>
            <a:off x="6163056" y="1371600"/>
            <a:ext cx="2670048" cy="2103120"/>
          </a:xfrm>
          <a:prstGeom prst="roundRect">
            <a:avLst>
              <a:gd name="adj" fmla="val 3478"/>
            </a:avLst>
          </a:prstGeom>
          <a:solidFill>
            <a:srgbClr val="F3F6F6"/>
          </a:solidFill>
          <a:ln/>
        </p:spPr>
      </p:sp>
      <p:sp>
        <p:nvSpPr>
          <p:cNvPr id="12" name="text-10"/>
          <p:cNvSpPr txBox="1"/>
          <p:nvPr/>
        </p:nvSpPr>
        <p:spPr>
          <a:xfrm>
            <a:off x="6318504" y="1499616"/>
            <a:ext cx="2359152" cy="548640"/>
          </a:xfrm>
          <a:prstGeom prst="rect">
            <a:avLst/>
          </a:prstGeom>
          <a:noFill/>
          <a:ln/>
        </p:spPr>
        <p:txBody>
          <a:bodyPr wrap="square" lIns="0" tIns="0" rIns="0" bIns="0" rtlCol="0" anchor="t"/>
          <a:lstStyle/>
          <a:p>
            <a:pPr algn="l" indent="0" marL="0">
              <a:buNone/>
            </a:pPr>
            <a:r>
              <a:rPr lang="en-US" sz="1250" b="1" dirty="0">
                <a:solidFill>
                  <a:srgbClr val="0F4C4D"/>
                </a:solidFill>
                <a:latin typeface="Arial" pitchFamily="34" charset="0"/>
                <a:ea typeface="Arial" pitchFamily="34" charset="-122"/>
                <a:cs typeface="Arial" pitchFamily="34" charset="-120"/>
              </a:rPr>
              <a:t>Daily, then hourly, alerts per reason code</a:t>
            </a:r>
            <a:endParaRPr lang="en-US" sz="1250" dirty="0"/>
          </a:p>
        </p:txBody>
      </p:sp>
      <p:sp>
        <p:nvSpPr>
          <p:cNvPr id="13" name="text-11"/>
          <p:cNvSpPr txBox="1"/>
          <p:nvPr/>
        </p:nvSpPr>
        <p:spPr>
          <a:xfrm>
            <a:off x="6318504" y="2084832"/>
            <a:ext cx="2359152" cy="274320"/>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Data &amp; Analytics · Measure · S</a:t>
            </a:r>
            <a:endParaRPr lang="en-US" sz="1000" dirty="0"/>
          </a:p>
        </p:txBody>
      </p:sp>
      <p:sp>
        <p:nvSpPr>
          <p:cNvPr id="14" name="text-12"/>
          <p:cNvSpPr txBox="1"/>
          <p:nvPr/>
        </p:nvSpPr>
        <p:spPr>
          <a:xfrm>
            <a:off x="6318504" y="2468880"/>
            <a:ext cx="2359152" cy="960120"/>
          </a:xfrm>
          <a:prstGeom prst="rect">
            <a:avLst/>
          </a:prstGeom>
          <a:noFill/>
          <a:ln/>
        </p:spPr>
        <p:txBody>
          <a:bodyPr wrap="square" lIns="0" tIns="0" rIns="0" bIns="0" rtlCol="0" anchor="t"/>
          <a:lstStyle/>
          <a:p>
            <a:pPr algn="l" indent="0" marL="0">
              <a:buNone/>
            </a:pPr>
            <a:r>
              <a:rPr lang="en-US" sz="1050" dirty="0">
                <a:solidFill>
                  <a:srgbClr val="1F2A2E"/>
                </a:solidFill>
                <a:latin typeface="Arial" pitchFamily="34" charset="0"/>
                <a:ea typeface="Arial" pitchFamily="34" charset="-122"/>
                <a:cs typeface="Arial" pitchFamily="34" charset="-120"/>
              </a:rPr>
              <a:t>Done when: On replay, alerts fire on the first day of every incident window, with thresholds tuned so prior-period false alerts stay under one a week.</a:t>
            </a:r>
            <a:endParaRPr lang="en-US" sz="1050" dirty="0"/>
          </a:p>
        </p:txBody>
      </p:sp>
      <p:sp>
        <p:nvSpPr>
          <p:cNvPr id="15" name="rect-13"/>
          <p:cNvSpPr/>
          <p:nvPr/>
        </p:nvSpPr>
        <p:spPr>
          <a:xfrm>
            <a:off x="8970264" y="1371600"/>
            <a:ext cx="2670048" cy="2103120"/>
          </a:xfrm>
          <a:prstGeom prst="roundRect">
            <a:avLst>
              <a:gd name="adj" fmla="val 3478"/>
            </a:avLst>
          </a:prstGeom>
          <a:solidFill>
            <a:srgbClr val="F3F6F6"/>
          </a:solidFill>
          <a:ln/>
        </p:spPr>
      </p:sp>
      <p:sp>
        <p:nvSpPr>
          <p:cNvPr id="16" name="text-14"/>
          <p:cNvSpPr txBox="1"/>
          <p:nvPr/>
        </p:nvSpPr>
        <p:spPr>
          <a:xfrm>
            <a:off x="9125712" y="1499616"/>
            <a:ext cx="2359152" cy="548640"/>
          </a:xfrm>
          <a:prstGeom prst="rect">
            <a:avLst/>
          </a:prstGeom>
          <a:noFill/>
          <a:ln/>
        </p:spPr>
        <p:txBody>
          <a:bodyPr wrap="square" lIns="0" tIns="0" rIns="0" bIns="0" rtlCol="0" anchor="t"/>
          <a:lstStyle/>
          <a:p>
            <a:pPr algn="l" indent="0" marL="0">
              <a:buNone/>
            </a:pPr>
            <a:r>
              <a:rPr lang="en-US" sz="1250" b="1" dirty="0">
                <a:solidFill>
                  <a:srgbClr val="0F4C4D"/>
                </a:solidFill>
                <a:latin typeface="Arial" pitchFamily="34" charset="0"/>
                <a:ea typeface="Arial" pitchFamily="34" charset="-122"/>
                <a:cs typeface="Arial" pitchFamily="34" charset="-120"/>
              </a:rPr>
              <a:t>Reconcile the control findings</a:t>
            </a:r>
            <a:endParaRPr lang="en-US" sz="1250" dirty="0"/>
          </a:p>
        </p:txBody>
      </p:sp>
      <p:sp>
        <p:nvSpPr>
          <p:cNvPr id="17" name="text-15"/>
          <p:cNvSpPr txBox="1"/>
          <p:nvPr/>
        </p:nvSpPr>
        <p:spPr>
          <a:xfrm>
            <a:off x="9125712" y="2084832"/>
            <a:ext cx="2359152" cy="274320"/>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Compliance · Control · S</a:t>
            </a:r>
            <a:endParaRPr lang="en-US" sz="1000" dirty="0"/>
          </a:p>
        </p:txBody>
      </p:sp>
      <p:sp>
        <p:nvSpPr>
          <p:cNvPr id="18" name="text-16"/>
          <p:cNvSpPr txBox="1"/>
          <p:nvPr/>
        </p:nvSpPr>
        <p:spPr>
          <a:xfrm>
            <a:off x="9125712" y="2468880"/>
            <a:ext cx="2359152" cy="960120"/>
          </a:xfrm>
          <a:prstGeom prst="rect">
            <a:avLst/>
          </a:prstGeom>
          <a:noFill/>
          <a:ln/>
        </p:spPr>
        <p:txBody>
          <a:bodyPr wrap="square" lIns="0" tIns="0" rIns="0" bIns="0" rtlCol="0" anchor="t"/>
          <a:lstStyle/>
          <a:p>
            <a:pPr algn="l" indent="0" marL="0">
              <a:buNone/>
            </a:pPr>
            <a:r>
              <a:rPr lang="en-US" sz="1050" dirty="0">
                <a:solidFill>
                  <a:srgbClr val="1F2A2E"/>
                </a:solidFill>
                <a:latin typeface="Arial" pitchFamily="34" charset="0"/>
                <a:ea typeface="Arial" pitchFamily="34" charset="-122"/>
                <a:cs typeface="Arial" pitchFamily="34" charset="-120"/>
              </a:rPr>
              <a:t>Done when: Every record classified (confirmed, explained, data error) with evidence.</a:t>
            </a:r>
            <a:endParaRPr lang="en-US" sz="1050" dirty="0"/>
          </a:p>
        </p:txBody>
      </p:sp>
      <p:sp>
        <p:nvSpPr>
          <p:cNvPr id="19" name="rect-17"/>
          <p:cNvSpPr/>
          <p:nvPr/>
        </p:nvSpPr>
        <p:spPr>
          <a:xfrm>
            <a:off x="548640" y="3611880"/>
            <a:ext cx="2670048" cy="2103120"/>
          </a:xfrm>
          <a:prstGeom prst="roundRect">
            <a:avLst>
              <a:gd name="adj" fmla="val 3478"/>
            </a:avLst>
          </a:prstGeom>
          <a:solidFill>
            <a:srgbClr val="F3F6F6"/>
          </a:solidFill>
          <a:ln/>
        </p:spPr>
      </p:sp>
      <p:sp>
        <p:nvSpPr>
          <p:cNvPr id="20" name="text-18"/>
          <p:cNvSpPr txBox="1"/>
          <p:nvPr/>
        </p:nvSpPr>
        <p:spPr>
          <a:xfrm>
            <a:off x="704088" y="3739896"/>
            <a:ext cx="2359152" cy="548640"/>
          </a:xfrm>
          <a:prstGeom prst="rect">
            <a:avLst/>
          </a:prstGeom>
          <a:noFill/>
          <a:ln/>
        </p:spPr>
        <p:txBody>
          <a:bodyPr wrap="square" lIns="0" tIns="0" rIns="0" bIns="0" rtlCol="0" anchor="t"/>
          <a:lstStyle/>
          <a:p>
            <a:pPr algn="l" indent="0" marL="0">
              <a:buNone/>
            </a:pPr>
            <a:r>
              <a:rPr lang="en-US" sz="1250" b="1" dirty="0">
                <a:solidFill>
                  <a:srgbClr val="0F4C4D"/>
                </a:solidFill>
                <a:latin typeface="Arial" pitchFamily="34" charset="0"/>
                <a:ea typeface="Arial" pitchFamily="34" charset="-122"/>
                <a:cs typeface="Arial" pitchFamily="34" charset="-120"/>
              </a:rPr>
              <a:t>Adjudicate a sample of fraud signals</a:t>
            </a:r>
            <a:endParaRPr lang="en-US" sz="1250" dirty="0"/>
          </a:p>
        </p:txBody>
      </p:sp>
      <p:sp>
        <p:nvSpPr>
          <p:cNvPr id="21" name="text-19"/>
          <p:cNvSpPr txBox="1"/>
          <p:nvPr/>
        </p:nvSpPr>
        <p:spPr>
          <a:xfrm>
            <a:off x="704088" y="4325112"/>
            <a:ext cx="2359152" cy="274320"/>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Risk &amp; Fraud · Investigate · S</a:t>
            </a:r>
            <a:endParaRPr lang="en-US" sz="1000" dirty="0"/>
          </a:p>
        </p:txBody>
      </p:sp>
      <p:sp>
        <p:nvSpPr>
          <p:cNvPr id="22" name="text-20"/>
          <p:cNvSpPr txBox="1"/>
          <p:nvPr/>
        </p:nvSpPr>
        <p:spPr>
          <a:xfrm>
            <a:off x="704088" y="4709160"/>
            <a:ext cx="2359152" cy="960120"/>
          </a:xfrm>
          <a:prstGeom prst="rect">
            <a:avLst/>
          </a:prstGeom>
          <a:noFill/>
          <a:ln/>
        </p:spPr>
        <p:txBody>
          <a:bodyPr wrap="square" lIns="0" tIns="0" rIns="0" bIns="0" rtlCol="0" anchor="t"/>
          <a:lstStyle/>
          <a:p>
            <a:pPr algn="l" indent="0" marL="0">
              <a:buNone/>
            </a:pPr>
            <a:r>
              <a:rPr lang="en-US" sz="1050" dirty="0">
                <a:solidFill>
                  <a:srgbClr val="1F2A2E"/>
                </a:solidFill>
                <a:latin typeface="Arial" pitchFamily="34" charset="0"/>
                <a:ea typeface="Arial" pitchFamily="34" charset="-122"/>
                <a:cs typeface="Arial" pitchFamily="34" charset="-120"/>
              </a:rPr>
              <a:t>Done when: At least 50 cases per cluster adjudicated with documented rationale.</a:t>
            </a:r>
            <a:endParaRPr lang="en-US" sz="1050" dirty="0"/>
          </a:p>
        </p:txBody>
      </p:sp>
      <p:sp>
        <p:nvSpPr>
          <p:cNvPr id="23" name="rect-21"/>
          <p:cNvSpPr/>
          <p:nvPr/>
        </p:nvSpPr>
        <p:spPr>
          <a:xfrm>
            <a:off x="3355848" y="3611880"/>
            <a:ext cx="2670048" cy="2103120"/>
          </a:xfrm>
          <a:prstGeom prst="roundRect">
            <a:avLst>
              <a:gd name="adj" fmla="val 3478"/>
            </a:avLst>
          </a:prstGeom>
          <a:solidFill>
            <a:srgbClr val="F3F6F6"/>
          </a:solidFill>
          <a:ln/>
        </p:spPr>
      </p:sp>
      <p:sp>
        <p:nvSpPr>
          <p:cNvPr id="24" name="text-22"/>
          <p:cNvSpPr txBox="1"/>
          <p:nvPr/>
        </p:nvSpPr>
        <p:spPr>
          <a:xfrm>
            <a:off x="3511296" y="3739896"/>
            <a:ext cx="2359152" cy="548640"/>
          </a:xfrm>
          <a:prstGeom prst="rect">
            <a:avLst/>
          </a:prstGeom>
          <a:noFill/>
          <a:ln/>
        </p:spPr>
        <p:txBody>
          <a:bodyPr wrap="square" lIns="0" tIns="0" rIns="0" bIns="0" rtlCol="0" anchor="t"/>
          <a:lstStyle/>
          <a:p>
            <a:pPr algn="l" indent="0" marL="0">
              <a:buNone/>
            </a:pPr>
            <a:r>
              <a:rPr lang="en-US" sz="1250" b="1" dirty="0">
                <a:solidFill>
                  <a:srgbClr val="0F4C4D"/>
                </a:solidFill>
                <a:latin typeface="Arial" pitchFamily="34" charset="0"/>
                <a:ea typeface="Arial" pitchFamily="34" charset="-122"/>
                <a:cs typeface="Arial" pitchFamily="34" charset="-120"/>
              </a:rPr>
              <a:t>Diagnose 'no document type' in Mexico</a:t>
            </a:r>
            <a:endParaRPr lang="en-US" sz="1250" dirty="0"/>
          </a:p>
        </p:txBody>
      </p:sp>
      <p:sp>
        <p:nvSpPr>
          <p:cNvPr id="25" name="text-23"/>
          <p:cNvSpPr txBox="1"/>
          <p:nvPr/>
        </p:nvSpPr>
        <p:spPr>
          <a:xfrm>
            <a:off x="3511296" y="4325112"/>
            <a:ext cx="2359152" cy="274320"/>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Product · Onboarding · Investigate · S</a:t>
            </a:r>
            <a:endParaRPr lang="en-US" sz="1000" dirty="0"/>
          </a:p>
        </p:txBody>
      </p:sp>
      <p:sp>
        <p:nvSpPr>
          <p:cNvPr id="26" name="text-24"/>
          <p:cNvSpPr txBox="1"/>
          <p:nvPr/>
        </p:nvSpPr>
        <p:spPr>
          <a:xfrm>
            <a:off x="3511296" y="4709160"/>
            <a:ext cx="2359152" cy="960120"/>
          </a:xfrm>
          <a:prstGeom prst="rect">
            <a:avLst/>
          </a:prstGeom>
          <a:noFill/>
          <a:ln/>
        </p:spPr>
        <p:txBody>
          <a:bodyPr wrap="square" lIns="0" tIns="0" rIns="0" bIns="0" rtlCol="0" anchor="t"/>
          <a:lstStyle/>
          <a:p>
            <a:pPr algn="l" indent="0" marL="0">
              <a:buNone/>
            </a:pPr>
            <a:r>
              <a:rPr lang="en-US" sz="1050" dirty="0">
                <a:solidFill>
                  <a:srgbClr val="1F2A2E"/>
                </a:solidFill>
                <a:latin typeface="Arial" pitchFamily="34" charset="0"/>
                <a:ea typeface="Arial" pitchFamily="34" charset="-122"/>
                <a:cs typeface="Arial" pitchFamily="34" charset="-120"/>
              </a:rPr>
              <a:t>Done when: Each sampled case assigned a cause with vendor agreement.</a:t>
            </a:r>
            <a:endParaRPr lang="en-US" sz="1050" dirty="0"/>
          </a:p>
        </p:txBody>
      </p:sp>
      <p:sp>
        <p:nvSpPr>
          <p:cNvPr id="27" name="rect-25"/>
          <p:cNvSpPr/>
          <p:nvPr/>
        </p:nvSpPr>
        <p:spPr>
          <a:xfrm>
            <a:off x="6163056" y="3611880"/>
            <a:ext cx="2670048" cy="2103120"/>
          </a:xfrm>
          <a:prstGeom prst="roundRect">
            <a:avLst>
              <a:gd name="adj" fmla="val 3478"/>
            </a:avLst>
          </a:prstGeom>
          <a:solidFill>
            <a:srgbClr val="F3F6F6"/>
          </a:solidFill>
          <a:ln/>
        </p:spPr>
      </p:sp>
      <p:sp>
        <p:nvSpPr>
          <p:cNvPr id="28" name="text-26"/>
          <p:cNvSpPr txBox="1"/>
          <p:nvPr/>
        </p:nvSpPr>
        <p:spPr>
          <a:xfrm>
            <a:off x="6318504" y="3739896"/>
            <a:ext cx="2359152" cy="548640"/>
          </a:xfrm>
          <a:prstGeom prst="rect">
            <a:avLst/>
          </a:prstGeom>
          <a:noFill/>
          <a:ln/>
        </p:spPr>
        <p:txBody>
          <a:bodyPr wrap="square" lIns="0" tIns="0" rIns="0" bIns="0" rtlCol="0" anchor="t"/>
          <a:lstStyle/>
          <a:p>
            <a:pPr algn="l" indent="0" marL="0">
              <a:buNone/>
            </a:pPr>
            <a:r>
              <a:rPr lang="en-US" sz="1250" b="1" dirty="0">
                <a:solidFill>
                  <a:srgbClr val="0F4C4D"/>
                </a:solidFill>
                <a:latin typeface="Arial" pitchFamily="34" charset="0"/>
                <a:ea typeface="Arial" pitchFamily="34" charset="-122"/>
                <a:cs typeface="Arial" pitchFamily="34" charset="-120"/>
              </a:rPr>
              <a:t>Confirm vendor incident scope</a:t>
            </a:r>
            <a:endParaRPr lang="en-US" sz="1250" dirty="0"/>
          </a:p>
        </p:txBody>
      </p:sp>
      <p:sp>
        <p:nvSpPr>
          <p:cNvPr id="29" name="text-27"/>
          <p:cNvSpPr txBox="1"/>
          <p:nvPr/>
        </p:nvSpPr>
        <p:spPr>
          <a:xfrm>
            <a:off x="6318504" y="4325112"/>
            <a:ext cx="2359152" cy="274320"/>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Vendor management · Investigate · S</a:t>
            </a:r>
            <a:endParaRPr lang="en-US" sz="1000" dirty="0"/>
          </a:p>
        </p:txBody>
      </p:sp>
      <p:sp>
        <p:nvSpPr>
          <p:cNvPr id="30" name="text-28"/>
          <p:cNvSpPr txBox="1"/>
          <p:nvPr/>
        </p:nvSpPr>
        <p:spPr>
          <a:xfrm>
            <a:off x="6318504" y="4709160"/>
            <a:ext cx="2359152" cy="960120"/>
          </a:xfrm>
          <a:prstGeom prst="rect">
            <a:avLst/>
          </a:prstGeom>
          <a:noFill/>
          <a:ln/>
        </p:spPr>
        <p:txBody>
          <a:bodyPr wrap="square" lIns="0" tIns="0" rIns="0" bIns="0" rtlCol="0" anchor="t"/>
          <a:lstStyle/>
          <a:p>
            <a:pPr algn="l" indent="0" marL="0">
              <a:buNone/>
            </a:pPr>
            <a:r>
              <a:rPr lang="en-US" sz="1050" dirty="0">
                <a:solidFill>
                  <a:srgbClr val="1F2A2E"/>
                </a:solidFill>
                <a:latin typeface="Arial" pitchFamily="34" charset="0"/>
                <a:ea typeface="Arial" pitchFamily="34" charset="-122"/>
                <a:cs typeface="Arial" pitchFamily="34" charset="-120"/>
              </a:rPr>
              <a:t>Done when: Written vendor confirmation or denial per date.</a:t>
            </a:r>
            <a:endParaRPr lang="en-US" sz="1050" dirty="0"/>
          </a:p>
        </p:txBody>
      </p:sp>
      <p:sp>
        <p:nvSpPr>
          <p:cNvPr id="31" name="rect-29"/>
          <p:cNvSpPr/>
          <p:nvPr/>
        </p:nvSpPr>
        <p:spPr>
          <a:xfrm>
            <a:off x="8970264" y="3611880"/>
            <a:ext cx="2670048" cy="2103120"/>
          </a:xfrm>
          <a:prstGeom prst="roundRect">
            <a:avLst>
              <a:gd name="adj" fmla="val 3478"/>
            </a:avLst>
          </a:prstGeom>
          <a:solidFill>
            <a:srgbClr val="F3F6F6"/>
          </a:solidFill>
          <a:ln/>
        </p:spPr>
      </p:sp>
      <p:sp>
        <p:nvSpPr>
          <p:cNvPr id="32" name="text-30"/>
          <p:cNvSpPr txBox="1"/>
          <p:nvPr/>
        </p:nvSpPr>
        <p:spPr>
          <a:xfrm>
            <a:off x="9125712" y="3739896"/>
            <a:ext cx="2359152" cy="548640"/>
          </a:xfrm>
          <a:prstGeom prst="rect">
            <a:avLst/>
          </a:prstGeom>
          <a:noFill/>
          <a:ln/>
        </p:spPr>
        <p:txBody>
          <a:bodyPr wrap="square" lIns="0" tIns="0" rIns="0" bIns="0" rtlCol="0" anchor="t"/>
          <a:lstStyle/>
          <a:p>
            <a:pPr algn="l" indent="0" marL="0">
              <a:buNone/>
            </a:pPr>
            <a:r>
              <a:rPr lang="en-US" sz="1250" b="1" dirty="0">
                <a:solidFill>
                  <a:srgbClr val="0F4C4D"/>
                </a:solidFill>
                <a:latin typeface="Arial" pitchFamily="34" charset="0"/>
                <a:ea typeface="Arial" pitchFamily="34" charset="-122"/>
                <a:cs typeface="Arial" pitchFamily="34" charset="-120"/>
              </a:rPr>
              <a:t>Report the headline with its breakdown</a:t>
            </a:r>
            <a:endParaRPr lang="en-US" sz="1250" dirty="0"/>
          </a:p>
        </p:txBody>
      </p:sp>
      <p:sp>
        <p:nvSpPr>
          <p:cNvPr id="33" name="text-31"/>
          <p:cNvSpPr txBox="1"/>
          <p:nvPr/>
        </p:nvSpPr>
        <p:spPr>
          <a:xfrm>
            <a:off x="9125712" y="4325112"/>
            <a:ext cx="2359152" cy="274320"/>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Data &amp; Analytics · Measure · S</a:t>
            </a:r>
            <a:endParaRPr lang="en-US" sz="1000" dirty="0"/>
          </a:p>
        </p:txBody>
      </p:sp>
      <p:sp>
        <p:nvSpPr>
          <p:cNvPr id="34" name="text-32"/>
          <p:cNvSpPr txBox="1"/>
          <p:nvPr/>
        </p:nvSpPr>
        <p:spPr>
          <a:xfrm>
            <a:off x="9125712" y="4709160"/>
            <a:ext cx="2359152" cy="960120"/>
          </a:xfrm>
          <a:prstGeom prst="rect">
            <a:avLst/>
          </a:prstGeom>
          <a:noFill/>
          <a:ln/>
        </p:spPr>
        <p:txBody>
          <a:bodyPr wrap="square" lIns="0" tIns="0" rIns="0" bIns="0" rtlCol="0" anchor="t"/>
          <a:lstStyle/>
          <a:p>
            <a:pPr algn="l" indent="0" marL="0">
              <a:buNone/>
            </a:pPr>
            <a:r>
              <a:rPr lang="en-US" sz="1050" dirty="0">
                <a:solidFill>
                  <a:srgbClr val="1F2A2E"/>
                </a:solidFill>
                <a:latin typeface="Arial" pitchFamily="34" charset="0"/>
                <a:ea typeface="Arial" pitchFamily="34" charset="-122"/>
                <a:cs typeface="Arial" pitchFamily="34" charset="-120"/>
              </a:rPr>
              <a:t>Done when: Weekly report adopted by the funnel review.</a:t>
            </a:r>
            <a:endParaRPr lang="en-US" sz="1050" dirty="0"/>
          </a:p>
        </p:txBody>
      </p:sp>
      <p:sp>
        <p:nvSpPr>
          <p:cNvPr id="35" name="text-33"/>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Effort sizes are assumptions (S ≤ 2 engineer-weeks, M = 2–6). Owners are role-based examples, not named people.</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Later phases depend on what Phase 0 finds; platform work is multi-quarter</a:t>
            </a:r>
            <a:endParaRPr lang="en-US" sz="2600" dirty="0"/>
          </a:p>
        </p:txBody>
      </p:sp>
      <p:sp>
        <p:nvSpPr>
          <p:cNvPr id="3" name="rect-1"/>
          <p:cNvSpPr/>
          <p:nvPr/>
        </p:nvSpPr>
        <p:spPr>
          <a:xfrm>
            <a:off x="548640" y="1371600"/>
            <a:ext cx="3566160" cy="457200"/>
          </a:xfrm>
          <a:prstGeom prst="roundRect">
            <a:avLst>
              <a:gd name="adj" fmla="val 12000"/>
            </a:avLst>
          </a:prstGeom>
          <a:solidFill>
            <a:srgbClr val="DCEAE9"/>
          </a:solidFill>
          <a:ln/>
        </p:spPr>
      </p:sp>
      <p:sp>
        <p:nvSpPr>
          <p:cNvPr id="4" name="text-2"/>
          <p:cNvSpPr txBox="1"/>
          <p:nvPr/>
        </p:nvSpPr>
        <p:spPr>
          <a:xfrm>
            <a:off x="685800" y="1463040"/>
            <a:ext cx="3291840" cy="320040"/>
          </a:xfrm>
          <a:prstGeom prst="rect">
            <a:avLst/>
          </a:prstGeom>
          <a:noFill/>
          <a:ln/>
        </p:spPr>
        <p:txBody>
          <a:bodyPr wrap="square" lIns="0" tIns="0" rIns="0" bIns="0" rtlCol="0" anchor="t"/>
          <a:lstStyle/>
          <a:p>
            <a:pPr algn="l" indent="0" marL="0">
              <a:buNone/>
            </a:pPr>
            <a:r>
              <a:rPr lang="en-US" sz="1200" dirty="0">
                <a:solidFill>
                  <a:srgbClr val="0F4C4D"/>
                </a:solidFill>
                <a:latin typeface="Arial" pitchFamily="34" charset="0"/>
                <a:ea typeface="Arial" pitchFamily="34" charset="-122"/>
                <a:cs typeface="Arial" pitchFamily="34" charset="-120"/>
              </a:rPr>
              <a:t>P1 · Weeks 2–6 · Test the leading fixes</a:t>
            </a:r>
            <a:endParaRPr lang="en-US" sz="1200" dirty="0"/>
          </a:p>
        </p:txBody>
      </p:sp>
      <p:sp>
        <p:nvSpPr>
          <p:cNvPr id="5" name="rect-3"/>
          <p:cNvSpPr/>
          <p:nvPr/>
        </p:nvSpPr>
        <p:spPr>
          <a:xfrm>
            <a:off x="548640" y="1965960"/>
            <a:ext cx="3566160" cy="1234440"/>
          </a:xfrm>
          <a:prstGeom prst="roundRect">
            <a:avLst>
              <a:gd name="adj" fmla="val 4444"/>
            </a:avLst>
          </a:prstGeom>
          <a:solidFill>
            <a:srgbClr val="F3F6F6"/>
          </a:solidFill>
          <a:ln/>
        </p:spPr>
      </p:sp>
      <p:sp>
        <p:nvSpPr>
          <p:cNvPr id="6" name="text-4"/>
          <p:cNvSpPr txBox="1"/>
          <p:nvPr/>
        </p:nvSpPr>
        <p:spPr>
          <a:xfrm>
            <a:off x="685800" y="2039112"/>
            <a:ext cx="3291840" cy="411480"/>
          </a:xfrm>
          <a:prstGeom prst="rect">
            <a:avLst/>
          </a:prstGeom>
          <a:noFill/>
          <a:ln/>
        </p:spPr>
        <p:txBody>
          <a:bodyPr wrap="square" lIns="0" tIns="0" rIns="0" bIns="0" rtlCol="0" anchor="t"/>
          <a:lstStyle/>
          <a:p>
            <a:pPr algn="l" indent="0" marL="0">
              <a:buNone/>
            </a:pPr>
            <a:r>
              <a:rPr lang="en-US" sz="1150" b="1" dirty="0">
                <a:solidFill>
                  <a:srgbClr val="1F2A2E"/>
                </a:solidFill>
                <a:latin typeface="Arial" pitchFamily="34" charset="0"/>
                <a:ea typeface="Arial" pitchFamily="34" charset="-122"/>
                <a:cs typeface="Arial" pitchFamily="34" charset="-120"/>
              </a:rPr>
              <a:t>Test one guided retake on unclear selfies</a:t>
            </a:r>
            <a:endParaRPr lang="en-US" sz="1150" dirty="0"/>
          </a:p>
        </p:txBody>
      </p:sp>
      <p:sp>
        <p:nvSpPr>
          <p:cNvPr id="7" name="text-5"/>
          <p:cNvSpPr txBox="1"/>
          <p:nvPr/>
        </p:nvSpPr>
        <p:spPr>
          <a:xfrm>
            <a:off x="685800" y="2441448"/>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Product · Onboarding</a:t>
            </a:r>
            <a:endParaRPr lang="en-US" sz="1000" dirty="0"/>
          </a:p>
        </p:txBody>
      </p:sp>
      <p:sp>
        <p:nvSpPr>
          <p:cNvPr id="8" name="text-6"/>
          <p:cNvSpPr txBox="1"/>
          <p:nvPr/>
        </p:nvSpPr>
        <p:spPr>
          <a:xfrm>
            <a:off x="685800" y="2633472"/>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Effort M · confidence low</a:t>
            </a:r>
            <a:endParaRPr lang="en-US" sz="1000" dirty="0"/>
          </a:p>
        </p:txBody>
      </p:sp>
      <p:sp>
        <p:nvSpPr>
          <p:cNvPr id="9" name="text-7"/>
          <p:cNvSpPr txBox="1"/>
          <p:nvPr/>
        </p:nvSpPr>
        <p:spPr>
          <a:xfrm>
            <a:off x="685800" y="2834640"/>
            <a:ext cx="3291840" cy="347472"/>
          </a:xfrm>
          <a:prstGeom prst="rect">
            <a:avLst/>
          </a:prstGeom>
          <a:noFill/>
          <a:ln/>
        </p:spPr>
        <p:txBody>
          <a:bodyPr wrap="square" lIns="0" tIns="0" rIns="0" bIns="0" rtlCol="0" anchor="t"/>
          <a:lstStyle/>
          <a:p>
            <a:pPr algn="l" indent="0" marL="0">
              <a:buNone/>
            </a:pPr>
            <a:r>
              <a:rPr lang="en-US" sz="1000" dirty="0">
                <a:solidFill>
                  <a:srgbClr val="B8691F"/>
                </a:solidFill>
                <a:latin typeface="Arial" pitchFamily="34" charset="0"/>
                <a:ea typeface="Arial" pitchFamily="34" charset="-122"/>
                <a:cs typeface="Arial" pitchFamily="34" charset="-120"/>
              </a:rPr>
              <a:t>If: Only if vendor rules permit retakes for these labels.</a:t>
            </a:r>
            <a:endParaRPr lang="en-US" sz="1000" dirty="0"/>
          </a:p>
        </p:txBody>
      </p:sp>
      <p:sp>
        <p:nvSpPr>
          <p:cNvPr id="10" name="rect-8"/>
          <p:cNvSpPr/>
          <p:nvPr/>
        </p:nvSpPr>
        <p:spPr>
          <a:xfrm>
            <a:off x="548640" y="3291840"/>
            <a:ext cx="3566160" cy="1234440"/>
          </a:xfrm>
          <a:prstGeom prst="roundRect">
            <a:avLst>
              <a:gd name="adj" fmla="val 4444"/>
            </a:avLst>
          </a:prstGeom>
          <a:solidFill>
            <a:srgbClr val="F3F6F6"/>
          </a:solidFill>
          <a:ln/>
        </p:spPr>
      </p:sp>
      <p:sp>
        <p:nvSpPr>
          <p:cNvPr id="11" name="text-9"/>
          <p:cNvSpPr txBox="1"/>
          <p:nvPr/>
        </p:nvSpPr>
        <p:spPr>
          <a:xfrm>
            <a:off x="685800" y="3364992"/>
            <a:ext cx="3291840" cy="411480"/>
          </a:xfrm>
          <a:prstGeom prst="rect">
            <a:avLst/>
          </a:prstGeom>
          <a:noFill/>
          <a:ln/>
        </p:spPr>
        <p:txBody>
          <a:bodyPr wrap="square" lIns="0" tIns="0" rIns="0" bIns="0" rtlCol="0" anchor="t"/>
          <a:lstStyle/>
          <a:p>
            <a:pPr algn="l" indent="0" marL="0">
              <a:buNone/>
            </a:pPr>
            <a:r>
              <a:rPr lang="en-US" sz="1150" b="1" dirty="0">
                <a:solidFill>
                  <a:srgbClr val="1F2A2E"/>
                </a:solidFill>
                <a:latin typeface="Arial" pitchFamily="34" charset="0"/>
                <a:ea typeface="Arial" pitchFamily="34" charset="-122"/>
                <a:cs typeface="Arial" pitchFamily="34" charset="-120"/>
              </a:rPr>
              <a:t>Test accepted-document guidance in Mexico</a:t>
            </a:r>
            <a:endParaRPr lang="en-US" sz="1150" dirty="0"/>
          </a:p>
        </p:txBody>
      </p:sp>
      <p:sp>
        <p:nvSpPr>
          <p:cNvPr id="12" name="text-10"/>
          <p:cNvSpPr txBox="1"/>
          <p:nvPr/>
        </p:nvSpPr>
        <p:spPr>
          <a:xfrm>
            <a:off x="685800" y="3767328"/>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Product · Onboarding</a:t>
            </a:r>
            <a:endParaRPr lang="en-US" sz="1000" dirty="0"/>
          </a:p>
        </p:txBody>
      </p:sp>
      <p:sp>
        <p:nvSpPr>
          <p:cNvPr id="13" name="text-11"/>
          <p:cNvSpPr txBox="1"/>
          <p:nvPr/>
        </p:nvSpPr>
        <p:spPr>
          <a:xfrm>
            <a:off x="685800" y="3959352"/>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Effort M · confidence low</a:t>
            </a:r>
            <a:endParaRPr lang="en-US" sz="1000" dirty="0"/>
          </a:p>
        </p:txBody>
      </p:sp>
      <p:sp>
        <p:nvSpPr>
          <p:cNvPr id="14" name="text-12"/>
          <p:cNvSpPr txBox="1"/>
          <p:nvPr/>
        </p:nvSpPr>
        <p:spPr>
          <a:xfrm>
            <a:off x="685800" y="4160520"/>
            <a:ext cx="3291840" cy="347472"/>
          </a:xfrm>
          <a:prstGeom prst="rect">
            <a:avLst/>
          </a:prstGeom>
          <a:noFill/>
          <a:ln/>
        </p:spPr>
        <p:txBody>
          <a:bodyPr wrap="square" lIns="0" tIns="0" rIns="0" bIns="0" rtlCol="0" anchor="t"/>
          <a:lstStyle/>
          <a:p>
            <a:pPr algn="l" indent="0" marL="0">
              <a:buNone/>
            </a:pPr>
            <a:r>
              <a:rPr lang="en-US" sz="1000" dirty="0">
                <a:solidFill>
                  <a:srgbClr val="B8691F"/>
                </a:solidFill>
                <a:latin typeface="Arial" pitchFamily="34" charset="0"/>
                <a:ea typeface="Arial" pitchFamily="34" charset="-122"/>
                <a:cs typeface="Arial" pitchFamily="34" charset="-120"/>
              </a:rPr>
              <a:t>If: Only if the diagnosis points to document choice rather than configuration or vendor coverage.</a:t>
            </a:r>
            <a:endParaRPr lang="en-US" sz="1000" dirty="0"/>
          </a:p>
        </p:txBody>
      </p:sp>
      <p:sp>
        <p:nvSpPr>
          <p:cNvPr id="15" name="rect-13"/>
          <p:cNvSpPr/>
          <p:nvPr/>
        </p:nvSpPr>
        <p:spPr>
          <a:xfrm>
            <a:off x="548640" y="4617720"/>
            <a:ext cx="3566160" cy="1234440"/>
          </a:xfrm>
          <a:prstGeom prst="roundRect">
            <a:avLst>
              <a:gd name="adj" fmla="val 4444"/>
            </a:avLst>
          </a:prstGeom>
          <a:solidFill>
            <a:srgbClr val="F3F6F6"/>
          </a:solidFill>
          <a:ln/>
        </p:spPr>
      </p:sp>
      <p:sp>
        <p:nvSpPr>
          <p:cNvPr id="16" name="text-14"/>
          <p:cNvSpPr txBox="1"/>
          <p:nvPr/>
        </p:nvSpPr>
        <p:spPr>
          <a:xfrm>
            <a:off x="685800" y="4690872"/>
            <a:ext cx="3291840" cy="411480"/>
          </a:xfrm>
          <a:prstGeom prst="rect">
            <a:avLst/>
          </a:prstGeom>
          <a:noFill/>
          <a:ln/>
        </p:spPr>
        <p:txBody>
          <a:bodyPr wrap="square" lIns="0" tIns="0" rIns="0" bIns="0" rtlCol="0" anchor="t"/>
          <a:lstStyle/>
          <a:p>
            <a:pPr algn="l" indent="0" marL="0">
              <a:buNone/>
            </a:pPr>
            <a:r>
              <a:rPr lang="en-US" sz="1150" b="1" dirty="0">
                <a:solidFill>
                  <a:srgbClr val="1F2A2E"/>
                </a:solidFill>
                <a:latin typeface="Arial" pitchFamily="34" charset="0"/>
                <a:ea typeface="Arial" pitchFamily="34" charset="-122"/>
                <a:cs typeface="Arial" pitchFamily="34" charset="-120"/>
              </a:rPr>
              <a:t>Velocity and device checks before the vendor call</a:t>
            </a:r>
            <a:endParaRPr lang="en-US" sz="1150" dirty="0"/>
          </a:p>
        </p:txBody>
      </p:sp>
      <p:sp>
        <p:nvSpPr>
          <p:cNvPr id="17" name="text-15"/>
          <p:cNvSpPr txBox="1"/>
          <p:nvPr/>
        </p:nvSpPr>
        <p:spPr>
          <a:xfrm>
            <a:off x="685800" y="5093208"/>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Risk &amp; Fraud</a:t>
            </a:r>
            <a:endParaRPr lang="en-US" sz="1000" dirty="0"/>
          </a:p>
        </p:txBody>
      </p:sp>
      <p:sp>
        <p:nvSpPr>
          <p:cNvPr id="18" name="text-16"/>
          <p:cNvSpPr txBox="1"/>
          <p:nvPr/>
        </p:nvSpPr>
        <p:spPr>
          <a:xfrm>
            <a:off x="685800" y="5285232"/>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Effort M · confidence medium</a:t>
            </a:r>
            <a:endParaRPr lang="en-US" sz="1000" dirty="0"/>
          </a:p>
        </p:txBody>
      </p:sp>
      <p:sp>
        <p:nvSpPr>
          <p:cNvPr id="19" name="text-17"/>
          <p:cNvSpPr txBox="1"/>
          <p:nvPr/>
        </p:nvSpPr>
        <p:spPr>
          <a:xfrm>
            <a:off x="685800" y="5486400"/>
            <a:ext cx="3291840" cy="347472"/>
          </a:xfrm>
          <a:prstGeom prst="rect">
            <a:avLst/>
          </a:prstGeom>
          <a:noFill/>
          <a:ln/>
        </p:spPr>
        <p:txBody>
          <a:bodyPr wrap="square" lIns="0" tIns="0" rIns="0" bIns="0" rtlCol="0" anchor="t"/>
          <a:lstStyle/>
          <a:p>
            <a:pPr algn="l" indent="0" marL="0">
              <a:buNone/>
            </a:pPr>
            <a:r>
              <a:rPr lang="en-US" sz="1000" dirty="0">
                <a:solidFill>
                  <a:srgbClr val="B8691F"/>
                </a:solidFill>
                <a:latin typeface="Arial" pitchFamily="34" charset="0"/>
                <a:ea typeface="Arial" pitchFamily="34" charset="-122"/>
                <a:cs typeface="Arial" pitchFamily="34" charset="-120"/>
              </a:rPr>
              <a:t>If: Depends on adjudication confirming coordinated fraud.</a:t>
            </a:r>
            <a:endParaRPr lang="en-US" sz="1000" dirty="0"/>
          </a:p>
        </p:txBody>
      </p:sp>
      <p:sp>
        <p:nvSpPr>
          <p:cNvPr id="20" name="rect-18"/>
          <p:cNvSpPr/>
          <p:nvPr/>
        </p:nvSpPr>
        <p:spPr>
          <a:xfrm>
            <a:off x="4297680" y="1371600"/>
            <a:ext cx="3566160" cy="457200"/>
          </a:xfrm>
          <a:prstGeom prst="roundRect">
            <a:avLst>
              <a:gd name="adj" fmla="val 12000"/>
            </a:avLst>
          </a:prstGeom>
          <a:solidFill>
            <a:srgbClr val="DCEAE9"/>
          </a:solidFill>
          <a:ln/>
        </p:spPr>
      </p:sp>
      <p:sp>
        <p:nvSpPr>
          <p:cNvPr id="21" name="text-19"/>
          <p:cNvSpPr txBox="1"/>
          <p:nvPr/>
        </p:nvSpPr>
        <p:spPr>
          <a:xfrm>
            <a:off x="4434840" y="1463040"/>
            <a:ext cx="3291840" cy="320040"/>
          </a:xfrm>
          <a:prstGeom prst="rect">
            <a:avLst/>
          </a:prstGeom>
          <a:noFill/>
          <a:ln/>
        </p:spPr>
        <p:txBody>
          <a:bodyPr wrap="square" lIns="0" tIns="0" rIns="0" bIns="0" rtlCol="0" anchor="t"/>
          <a:lstStyle/>
          <a:p>
            <a:pPr algn="l" indent="0" marL="0">
              <a:buNone/>
            </a:pPr>
            <a:r>
              <a:rPr lang="en-US" sz="1200" dirty="0">
                <a:solidFill>
                  <a:srgbClr val="0F4C4D"/>
                </a:solidFill>
                <a:latin typeface="Arial" pitchFamily="34" charset="0"/>
                <a:ea typeface="Arial" pitchFamily="34" charset="-122"/>
                <a:cs typeface="Arial" pitchFamily="34" charset="-120"/>
              </a:rPr>
              <a:t>P2 · Weeks 6–13 · Scale what works</a:t>
            </a:r>
            <a:endParaRPr lang="en-US" sz="1200" dirty="0"/>
          </a:p>
        </p:txBody>
      </p:sp>
      <p:sp>
        <p:nvSpPr>
          <p:cNvPr id="22" name="rect-20"/>
          <p:cNvSpPr/>
          <p:nvPr/>
        </p:nvSpPr>
        <p:spPr>
          <a:xfrm>
            <a:off x="4297680" y="1965960"/>
            <a:ext cx="3566160" cy="1234440"/>
          </a:xfrm>
          <a:prstGeom prst="roundRect">
            <a:avLst>
              <a:gd name="adj" fmla="val 4444"/>
            </a:avLst>
          </a:prstGeom>
          <a:solidFill>
            <a:srgbClr val="F3F6F6"/>
          </a:solidFill>
          <a:ln/>
        </p:spPr>
      </p:sp>
      <p:sp>
        <p:nvSpPr>
          <p:cNvPr id="23" name="text-21"/>
          <p:cNvSpPr txBox="1"/>
          <p:nvPr/>
        </p:nvSpPr>
        <p:spPr>
          <a:xfrm>
            <a:off x="4434840" y="2039112"/>
            <a:ext cx="3291840" cy="411480"/>
          </a:xfrm>
          <a:prstGeom prst="rect">
            <a:avLst/>
          </a:prstGeom>
          <a:noFill/>
          <a:ln/>
        </p:spPr>
        <p:txBody>
          <a:bodyPr wrap="square" lIns="0" tIns="0" rIns="0" bIns="0" rtlCol="0" anchor="t"/>
          <a:lstStyle/>
          <a:p>
            <a:pPr algn="l" indent="0" marL="0">
              <a:buNone/>
            </a:pPr>
            <a:r>
              <a:rPr lang="en-US" sz="1150" b="1" dirty="0">
                <a:solidFill>
                  <a:srgbClr val="1F2A2E"/>
                </a:solidFill>
                <a:latin typeface="Arial" pitchFamily="34" charset="0"/>
                <a:ea typeface="Arial" pitchFamily="34" charset="-122"/>
                <a:cs typeface="Arial" pitchFamily="34" charset="-120"/>
              </a:rPr>
              <a:t>On-device capture quality checks</a:t>
            </a:r>
            <a:endParaRPr lang="en-US" sz="1150" dirty="0"/>
          </a:p>
        </p:txBody>
      </p:sp>
      <p:sp>
        <p:nvSpPr>
          <p:cNvPr id="24" name="text-22"/>
          <p:cNvSpPr txBox="1"/>
          <p:nvPr/>
        </p:nvSpPr>
        <p:spPr>
          <a:xfrm>
            <a:off x="4434840" y="2441448"/>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Engineering · Mobile</a:t>
            </a:r>
            <a:endParaRPr lang="en-US" sz="1000" dirty="0"/>
          </a:p>
        </p:txBody>
      </p:sp>
      <p:sp>
        <p:nvSpPr>
          <p:cNvPr id="25" name="text-23"/>
          <p:cNvSpPr txBox="1"/>
          <p:nvPr/>
        </p:nvSpPr>
        <p:spPr>
          <a:xfrm>
            <a:off x="4434840" y="2633472"/>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Effort M · confidence low</a:t>
            </a:r>
            <a:endParaRPr lang="en-US" sz="1000" dirty="0"/>
          </a:p>
        </p:txBody>
      </p:sp>
      <p:sp>
        <p:nvSpPr>
          <p:cNvPr id="26" name="text-24"/>
          <p:cNvSpPr txBox="1"/>
          <p:nvPr/>
        </p:nvSpPr>
        <p:spPr>
          <a:xfrm>
            <a:off x="4434840" y="2834640"/>
            <a:ext cx="3291840" cy="347472"/>
          </a:xfrm>
          <a:prstGeom prst="rect">
            <a:avLst/>
          </a:prstGeom>
          <a:noFill/>
          <a:ln/>
        </p:spPr>
        <p:txBody>
          <a:bodyPr wrap="square" lIns="0" tIns="0" rIns="0" bIns="0" rtlCol="0" anchor="t"/>
          <a:lstStyle/>
          <a:p>
            <a:pPr algn="l" indent="0" marL="0">
              <a:buNone/>
            </a:pPr>
            <a:r>
              <a:rPr lang="en-US" sz="1000" dirty="0">
                <a:solidFill>
                  <a:srgbClr val="B8691F"/>
                </a:solidFill>
                <a:latin typeface="Arial" pitchFamily="34" charset="0"/>
                <a:ea typeface="Arial" pitchFamily="34" charset="-122"/>
                <a:cs typeface="Arial" pitchFamily="34" charset="-120"/>
              </a:rPr>
              <a:t>If: Camera-only capture depends on the existing flow and on the cause being uploads.</a:t>
            </a:r>
            <a:endParaRPr lang="en-US" sz="1000" dirty="0"/>
          </a:p>
        </p:txBody>
      </p:sp>
      <p:sp>
        <p:nvSpPr>
          <p:cNvPr id="27" name="rect-25"/>
          <p:cNvSpPr/>
          <p:nvPr/>
        </p:nvSpPr>
        <p:spPr>
          <a:xfrm>
            <a:off x="4297680" y="3291840"/>
            <a:ext cx="3566160" cy="1234440"/>
          </a:xfrm>
          <a:prstGeom prst="roundRect">
            <a:avLst>
              <a:gd name="adj" fmla="val 4444"/>
            </a:avLst>
          </a:prstGeom>
          <a:solidFill>
            <a:srgbClr val="F3F6F6"/>
          </a:solidFill>
          <a:ln/>
        </p:spPr>
      </p:sp>
      <p:sp>
        <p:nvSpPr>
          <p:cNvPr id="28" name="text-26"/>
          <p:cNvSpPr txBox="1"/>
          <p:nvPr/>
        </p:nvSpPr>
        <p:spPr>
          <a:xfrm>
            <a:off x="4434840" y="3364992"/>
            <a:ext cx="3291840" cy="411480"/>
          </a:xfrm>
          <a:prstGeom prst="rect">
            <a:avLst/>
          </a:prstGeom>
          <a:noFill/>
          <a:ln/>
        </p:spPr>
        <p:txBody>
          <a:bodyPr wrap="square" lIns="0" tIns="0" rIns="0" bIns="0" rtlCol="0" anchor="t"/>
          <a:lstStyle/>
          <a:p>
            <a:pPr algn="l" indent="0" marL="0">
              <a:buNone/>
            </a:pPr>
            <a:r>
              <a:rPr lang="en-US" sz="1150" b="1" dirty="0">
                <a:solidFill>
                  <a:srgbClr val="1F2A2E"/>
                </a:solidFill>
                <a:latin typeface="Arial" pitchFamily="34" charset="0"/>
                <a:ea typeface="Arial" pitchFamily="34" charset="-122"/>
                <a:cs typeface="Arial" pitchFamily="34" charset="-120"/>
              </a:rPr>
              <a:t>Pilot manual review of face-match warnings</a:t>
            </a:r>
            <a:endParaRPr lang="en-US" sz="1150" dirty="0"/>
          </a:p>
        </p:txBody>
      </p:sp>
      <p:sp>
        <p:nvSpPr>
          <p:cNvPr id="29" name="text-27"/>
          <p:cNvSpPr txBox="1"/>
          <p:nvPr/>
        </p:nvSpPr>
        <p:spPr>
          <a:xfrm>
            <a:off x="4434840" y="3767328"/>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Operations · KYC review</a:t>
            </a:r>
            <a:endParaRPr lang="en-US" sz="1000" dirty="0"/>
          </a:p>
        </p:txBody>
      </p:sp>
      <p:sp>
        <p:nvSpPr>
          <p:cNvPr id="30" name="text-28"/>
          <p:cNvSpPr txBox="1"/>
          <p:nvPr/>
        </p:nvSpPr>
        <p:spPr>
          <a:xfrm>
            <a:off x="4434840" y="3959352"/>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Effort M · confidence low</a:t>
            </a:r>
            <a:endParaRPr lang="en-US" sz="1000" dirty="0"/>
          </a:p>
        </p:txBody>
      </p:sp>
      <p:sp>
        <p:nvSpPr>
          <p:cNvPr id="31" name="text-29"/>
          <p:cNvSpPr txBox="1"/>
          <p:nvPr/>
        </p:nvSpPr>
        <p:spPr>
          <a:xfrm>
            <a:off x="4434840" y="4160520"/>
            <a:ext cx="3291840" cy="347472"/>
          </a:xfrm>
          <a:prstGeom prst="rect">
            <a:avLst/>
          </a:prstGeom>
          <a:noFill/>
          <a:ln/>
        </p:spPr>
        <p:txBody>
          <a:bodyPr wrap="square" lIns="0" tIns="0" rIns="0" bIns="0" rtlCol="0" anchor="t"/>
          <a:lstStyle/>
          <a:p>
            <a:pPr algn="l" indent="0" marL="0">
              <a:buNone/>
            </a:pPr>
            <a:r>
              <a:rPr lang="en-US" sz="1000" dirty="0">
                <a:solidFill>
                  <a:srgbClr val="B8691F"/>
                </a:solidFill>
                <a:latin typeface="Arial" pitchFamily="34" charset="0"/>
                <a:ea typeface="Arial" pitchFamily="34" charset="-122"/>
                <a:cs typeface="Arial" pitchFamily="34" charset="-120"/>
              </a:rPr>
              <a:t>If: Requires capacity and quality planning; any threshold change requires risk validation.</a:t>
            </a:r>
            <a:endParaRPr lang="en-US" sz="1000" dirty="0"/>
          </a:p>
        </p:txBody>
      </p:sp>
      <p:sp>
        <p:nvSpPr>
          <p:cNvPr id="32" name="rect-30"/>
          <p:cNvSpPr/>
          <p:nvPr/>
        </p:nvSpPr>
        <p:spPr>
          <a:xfrm>
            <a:off x="4297680" y="4617720"/>
            <a:ext cx="3566160" cy="1234440"/>
          </a:xfrm>
          <a:prstGeom prst="roundRect">
            <a:avLst>
              <a:gd name="adj" fmla="val 4444"/>
            </a:avLst>
          </a:prstGeom>
          <a:solidFill>
            <a:srgbClr val="F3F6F6"/>
          </a:solidFill>
          <a:ln/>
        </p:spPr>
      </p:sp>
      <p:sp>
        <p:nvSpPr>
          <p:cNvPr id="33" name="text-31"/>
          <p:cNvSpPr txBox="1"/>
          <p:nvPr/>
        </p:nvSpPr>
        <p:spPr>
          <a:xfrm>
            <a:off x="4434840" y="4690872"/>
            <a:ext cx="3291840" cy="411480"/>
          </a:xfrm>
          <a:prstGeom prst="rect">
            <a:avLst/>
          </a:prstGeom>
          <a:noFill/>
          <a:ln/>
        </p:spPr>
        <p:txBody>
          <a:bodyPr wrap="square" lIns="0" tIns="0" rIns="0" bIns="0" rtlCol="0" anchor="t"/>
          <a:lstStyle/>
          <a:p>
            <a:pPr algn="l" indent="0" marL="0">
              <a:buNone/>
            </a:pPr>
            <a:r>
              <a:rPr lang="en-US" sz="1150" b="1" dirty="0">
                <a:solidFill>
                  <a:srgbClr val="1F2A2E"/>
                </a:solidFill>
                <a:latin typeface="Arial" pitchFamily="34" charset="0"/>
                <a:ea typeface="Arial" pitchFamily="34" charset="-122"/>
                <a:cs typeface="Arial" pitchFamily="34" charset="-120"/>
              </a:rPr>
              <a:t>Invite recoverable applicants back</a:t>
            </a:r>
            <a:endParaRPr lang="en-US" sz="1150" dirty="0"/>
          </a:p>
        </p:txBody>
      </p:sp>
      <p:sp>
        <p:nvSpPr>
          <p:cNvPr id="34" name="text-32"/>
          <p:cNvSpPr txBox="1"/>
          <p:nvPr/>
        </p:nvSpPr>
        <p:spPr>
          <a:xfrm>
            <a:off x="4434840" y="5093208"/>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Growth &amp; Marketing</a:t>
            </a:r>
            <a:endParaRPr lang="en-US" sz="1000" dirty="0"/>
          </a:p>
        </p:txBody>
      </p:sp>
      <p:sp>
        <p:nvSpPr>
          <p:cNvPr id="35" name="text-33"/>
          <p:cNvSpPr txBox="1"/>
          <p:nvPr/>
        </p:nvSpPr>
        <p:spPr>
          <a:xfrm>
            <a:off x="4434840" y="5285232"/>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Effort S · confidence low</a:t>
            </a:r>
            <a:endParaRPr lang="en-US" sz="1000" dirty="0"/>
          </a:p>
        </p:txBody>
      </p:sp>
      <p:sp>
        <p:nvSpPr>
          <p:cNvPr id="36" name="text-34"/>
          <p:cNvSpPr txBox="1"/>
          <p:nvPr/>
        </p:nvSpPr>
        <p:spPr>
          <a:xfrm>
            <a:off x="4434840" y="5486400"/>
            <a:ext cx="3291840" cy="347472"/>
          </a:xfrm>
          <a:prstGeom prst="rect">
            <a:avLst/>
          </a:prstGeom>
          <a:noFill/>
          <a:ln/>
        </p:spPr>
        <p:txBody>
          <a:bodyPr wrap="square" lIns="0" tIns="0" rIns="0" bIns="0" rtlCol="0" anchor="t"/>
          <a:lstStyle/>
          <a:p>
            <a:pPr algn="l" indent="0" marL="0">
              <a:buNone/>
            </a:pPr>
            <a:r>
              <a:rPr lang="en-US" sz="1000" dirty="0">
                <a:solidFill>
                  <a:srgbClr val="B8691F"/>
                </a:solidFill>
                <a:latin typeface="Arial" pitchFamily="34" charset="0"/>
                <a:ea typeface="Arial" pitchFamily="34" charset="-122"/>
                <a:cs typeface="Arial" pitchFamily="34" charset="-120"/>
              </a:rPr>
              <a:t>If: Only for appropriate recoverable categories and with consent.</a:t>
            </a:r>
            <a:endParaRPr lang="en-US" sz="1000" dirty="0"/>
          </a:p>
        </p:txBody>
      </p:sp>
      <p:sp>
        <p:nvSpPr>
          <p:cNvPr id="37" name="rect-35"/>
          <p:cNvSpPr/>
          <p:nvPr/>
        </p:nvSpPr>
        <p:spPr>
          <a:xfrm>
            <a:off x="8046720" y="1371600"/>
            <a:ext cx="3566160" cy="457200"/>
          </a:xfrm>
          <a:prstGeom prst="roundRect">
            <a:avLst>
              <a:gd name="adj" fmla="val 12000"/>
            </a:avLst>
          </a:prstGeom>
          <a:solidFill>
            <a:srgbClr val="F6E7D6"/>
          </a:solidFill>
          <a:ln/>
        </p:spPr>
      </p:sp>
      <p:sp>
        <p:nvSpPr>
          <p:cNvPr id="38" name="text-36"/>
          <p:cNvSpPr txBox="1"/>
          <p:nvPr/>
        </p:nvSpPr>
        <p:spPr>
          <a:xfrm>
            <a:off x="8183880" y="1463040"/>
            <a:ext cx="3291840" cy="320040"/>
          </a:xfrm>
          <a:prstGeom prst="rect">
            <a:avLst/>
          </a:prstGeom>
          <a:noFill/>
          <a:ln/>
        </p:spPr>
        <p:txBody>
          <a:bodyPr wrap="square" lIns="0" tIns="0" rIns="0" bIns="0" rtlCol="0" anchor="t"/>
          <a:lstStyle/>
          <a:p>
            <a:pPr algn="l" indent="0" marL="0">
              <a:buNone/>
            </a:pPr>
            <a:r>
              <a:rPr lang="en-US" sz="1200" dirty="0">
                <a:solidFill>
                  <a:srgbClr val="B8691F"/>
                </a:solidFill>
                <a:latin typeface="Arial" pitchFamily="34" charset="0"/>
                <a:ea typeface="Arial" pitchFamily="34" charset="-122"/>
                <a:cs typeface="Arial" pitchFamily="34" charset="-120"/>
              </a:rPr>
              <a:t>P3 · Next two quarters · Platform work (large)</a:t>
            </a:r>
            <a:endParaRPr lang="en-US" sz="1200" dirty="0"/>
          </a:p>
        </p:txBody>
      </p:sp>
      <p:sp>
        <p:nvSpPr>
          <p:cNvPr id="39" name="rect-37"/>
          <p:cNvSpPr/>
          <p:nvPr/>
        </p:nvSpPr>
        <p:spPr>
          <a:xfrm>
            <a:off x="8046720" y="1965960"/>
            <a:ext cx="3566160" cy="1234440"/>
          </a:xfrm>
          <a:prstGeom prst="roundRect">
            <a:avLst>
              <a:gd name="adj" fmla="val 4444"/>
            </a:avLst>
          </a:prstGeom>
          <a:solidFill>
            <a:srgbClr val="F3F6F6"/>
          </a:solidFill>
          <a:ln/>
        </p:spPr>
      </p:sp>
      <p:sp>
        <p:nvSpPr>
          <p:cNvPr id="40" name="text-38"/>
          <p:cNvSpPr txBox="1"/>
          <p:nvPr/>
        </p:nvSpPr>
        <p:spPr>
          <a:xfrm>
            <a:off x="8183880" y="2039112"/>
            <a:ext cx="3291840" cy="411480"/>
          </a:xfrm>
          <a:prstGeom prst="rect">
            <a:avLst/>
          </a:prstGeom>
          <a:noFill/>
          <a:ln/>
        </p:spPr>
        <p:txBody>
          <a:bodyPr wrap="square" lIns="0" tIns="0" rIns="0" bIns="0" rtlCol="0" anchor="t"/>
          <a:lstStyle/>
          <a:p>
            <a:pPr algn="l" indent="0" marL="0">
              <a:buNone/>
            </a:pPr>
            <a:r>
              <a:rPr lang="en-US" sz="1150" b="1" dirty="0">
                <a:solidFill>
                  <a:srgbClr val="1F2A2E"/>
                </a:solidFill>
                <a:latin typeface="Arial" pitchFamily="34" charset="0"/>
                <a:ea typeface="Arial" pitchFamily="34" charset="-122"/>
                <a:cs typeface="Arial" pitchFamily="34" charset="-120"/>
              </a:rPr>
              <a:t>KYC orchestration and decision layer</a:t>
            </a:r>
            <a:endParaRPr lang="en-US" sz="1150" dirty="0"/>
          </a:p>
        </p:txBody>
      </p:sp>
      <p:sp>
        <p:nvSpPr>
          <p:cNvPr id="41" name="text-39"/>
          <p:cNvSpPr txBox="1"/>
          <p:nvPr/>
        </p:nvSpPr>
        <p:spPr>
          <a:xfrm>
            <a:off x="8183880" y="2441448"/>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Engineering · Onboarding platform</a:t>
            </a:r>
            <a:endParaRPr lang="en-US" sz="1000" dirty="0"/>
          </a:p>
        </p:txBody>
      </p:sp>
      <p:sp>
        <p:nvSpPr>
          <p:cNvPr id="42" name="text-40"/>
          <p:cNvSpPr txBox="1"/>
          <p:nvPr/>
        </p:nvSpPr>
        <p:spPr>
          <a:xfrm>
            <a:off x="8183880" y="2633472"/>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Effort L · confidence medium</a:t>
            </a:r>
            <a:endParaRPr lang="en-US" sz="1000" dirty="0"/>
          </a:p>
        </p:txBody>
      </p:sp>
      <p:sp>
        <p:nvSpPr>
          <p:cNvPr id="43" name="text-41"/>
          <p:cNvSpPr txBox="1"/>
          <p:nvPr/>
        </p:nvSpPr>
        <p:spPr>
          <a:xfrm>
            <a:off x="8183880" y="2834640"/>
            <a:ext cx="3291840" cy="347472"/>
          </a:xfrm>
          <a:prstGeom prst="rect">
            <a:avLst/>
          </a:prstGeom>
          <a:noFill/>
          <a:ln/>
        </p:spPr>
        <p:txBody>
          <a:bodyPr wrap="square" lIns="0" tIns="0" rIns="0" bIns="0" rtlCol="0" anchor="t"/>
          <a:lstStyle/>
          <a:p>
            <a:pPr algn="l" indent="0" marL="0">
              <a:buNone/>
            </a:pPr>
            <a:r>
              <a:rPr lang="en-US" sz="1000" dirty="0">
                <a:solidFill>
                  <a:srgbClr val="B8691F"/>
                </a:solidFill>
                <a:latin typeface="Arial" pitchFamily="34" charset="0"/>
                <a:ea typeface="Arial" pitchFamily="34" charset="-122"/>
                <a:cs typeface="Arial" pitchFamily="34" charset="-120"/>
              </a:rPr>
              <a:t>If: Depends on what the current architecture already provides.</a:t>
            </a:r>
            <a:endParaRPr lang="en-US" sz="1000" dirty="0"/>
          </a:p>
        </p:txBody>
      </p:sp>
      <p:sp>
        <p:nvSpPr>
          <p:cNvPr id="44" name="rect-42"/>
          <p:cNvSpPr/>
          <p:nvPr/>
        </p:nvSpPr>
        <p:spPr>
          <a:xfrm>
            <a:off x="8046720" y="3291840"/>
            <a:ext cx="3566160" cy="1234440"/>
          </a:xfrm>
          <a:prstGeom prst="roundRect">
            <a:avLst>
              <a:gd name="adj" fmla="val 4444"/>
            </a:avLst>
          </a:prstGeom>
          <a:solidFill>
            <a:srgbClr val="F3F6F6"/>
          </a:solidFill>
          <a:ln/>
        </p:spPr>
      </p:sp>
      <p:sp>
        <p:nvSpPr>
          <p:cNvPr id="45" name="text-43"/>
          <p:cNvSpPr txBox="1"/>
          <p:nvPr/>
        </p:nvSpPr>
        <p:spPr>
          <a:xfrm>
            <a:off x="8183880" y="3364992"/>
            <a:ext cx="3291840" cy="411480"/>
          </a:xfrm>
          <a:prstGeom prst="rect">
            <a:avLst/>
          </a:prstGeom>
          <a:noFill/>
          <a:ln/>
        </p:spPr>
        <p:txBody>
          <a:bodyPr wrap="square" lIns="0" tIns="0" rIns="0" bIns="0" rtlCol="0" anchor="t"/>
          <a:lstStyle/>
          <a:p>
            <a:pPr algn="l" indent="0" marL="0">
              <a:buNone/>
            </a:pPr>
            <a:r>
              <a:rPr lang="en-US" sz="1150" b="1" dirty="0">
                <a:solidFill>
                  <a:srgbClr val="1F2A2E"/>
                </a:solidFill>
                <a:latin typeface="Arial" pitchFamily="34" charset="0"/>
                <a:ea typeface="Arial" pitchFamily="34" charset="-122"/>
                <a:cs typeface="Arial" pitchFamily="34" charset="-120"/>
              </a:rPr>
              <a:t>Government registry checks (INE, RENAPER)</a:t>
            </a:r>
            <a:endParaRPr lang="en-US" sz="1150" dirty="0"/>
          </a:p>
        </p:txBody>
      </p:sp>
      <p:sp>
        <p:nvSpPr>
          <p:cNvPr id="46" name="text-44"/>
          <p:cNvSpPr txBox="1"/>
          <p:nvPr/>
        </p:nvSpPr>
        <p:spPr>
          <a:xfrm>
            <a:off x="8183880" y="3767328"/>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Vendor management</a:t>
            </a:r>
            <a:endParaRPr lang="en-US" sz="1000" dirty="0"/>
          </a:p>
        </p:txBody>
      </p:sp>
      <p:sp>
        <p:nvSpPr>
          <p:cNvPr id="47" name="text-45"/>
          <p:cNvSpPr txBox="1"/>
          <p:nvPr/>
        </p:nvSpPr>
        <p:spPr>
          <a:xfrm>
            <a:off x="8183880" y="3959352"/>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Effort L · confidence low</a:t>
            </a:r>
            <a:endParaRPr lang="en-US" sz="1000" dirty="0"/>
          </a:p>
        </p:txBody>
      </p:sp>
      <p:sp>
        <p:nvSpPr>
          <p:cNvPr id="48" name="text-46"/>
          <p:cNvSpPr txBox="1"/>
          <p:nvPr/>
        </p:nvSpPr>
        <p:spPr>
          <a:xfrm>
            <a:off x="8183880" y="4160520"/>
            <a:ext cx="3291840" cy="347472"/>
          </a:xfrm>
          <a:prstGeom prst="rect">
            <a:avLst/>
          </a:prstGeom>
          <a:noFill/>
          <a:ln/>
        </p:spPr>
        <p:txBody>
          <a:bodyPr wrap="square" lIns="0" tIns="0" rIns="0" bIns="0" rtlCol="0" anchor="t"/>
          <a:lstStyle/>
          <a:p>
            <a:pPr algn="l" indent="0" marL="0">
              <a:buNone/>
            </a:pPr>
            <a:r>
              <a:rPr lang="en-US" sz="1000" dirty="0">
                <a:solidFill>
                  <a:srgbClr val="B8691F"/>
                </a:solidFill>
                <a:latin typeface="Arial" pitchFamily="34" charset="0"/>
                <a:ea typeface="Arial" pitchFamily="34" charset="-122"/>
                <a:cs typeface="Arial" pitchFamily="34" charset="-120"/>
              </a:rPr>
              <a:t>If: Requires integration and commercial work.</a:t>
            </a:r>
            <a:endParaRPr lang="en-US" sz="1000" dirty="0"/>
          </a:p>
        </p:txBody>
      </p:sp>
      <p:sp>
        <p:nvSpPr>
          <p:cNvPr id="49" name="rect-47"/>
          <p:cNvSpPr/>
          <p:nvPr/>
        </p:nvSpPr>
        <p:spPr>
          <a:xfrm>
            <a:off x="8046720" y="4617720"/>
            <a:ext cx="3566160" cy="1234440"/>
          </a:xfrm>
          <a:prstGeom prst="roundRect">
            <a:avLst>
              <a:gd name="adj" fmla="val 4444"/>
            </a:avLst>
          </a:prstGeom>
          <a:solidFill>
            <a:srgbClr val="F3F6F6"/>
          </a:solidFill>
          <a:ln/>
        </p:spPr>
      </p:sp>
      <p:sp>
        <p:nvSpPr>
          <p:cNvPr id="50" name="text-48"/>
          <p:cNvSpPr txBox="1"/>
          <p:nvPr/>
        </p:nvSpPr>
        <p:spPr>
          <a:xfrm>
            <a:off x="8183880" y="4690872"/>
            <a:ext cx="3291840" cy="411480"/>
          </a:xfrm>
          <a:prstGeom prst="rect">
            <a:avLst/>
          </a:prstGeom>
          <a:noFill/>
          <a:ln/>
        </p:spPr>
        <p:txBody>
          <a:bodyPr wrap="square" lIns="0" tIns="0" rIns="0" bIns="0" rtlCol="0" anchor="t"/>
          <a:lstStyle/>
          <a:p>
            <a:pPr algn="l" indent="0" marL="0">
              <a:buNone/>
            </a:pPr>
            <a:r>
              <a:rPr lang="en-US" sz="1150" b="1" dirty="0">
                <a:solidFill>
                  <a:srgbClr val="1F2A2E"/>
                </a:solidFill>
                <a:latin typeface="Arial" pitchFamily="34" charset="0"/>
                <a:ea typeface="Arial" pitchFamily="34" charset="-122"/>
                <a:cs typeface="Arial" pitchFamily="34" charset="-120"/>
              </a:rPr>
              <a:t>Second verification vendor for failover</a:t>
            </a:r>
            <a:endParaRPr lang="en-US" sz="1150" dirty="0"/>
          </a:p>
        </p:txBody>
      </p:sp>
      <p:sp>
        <p:nvSpPr>
          <p:cNvPr id="51" name="text-49"/>
          <p:cNvSpPr txBox="1"/>
          <p:nvPr/>
        </p:nvSpPr>
        <p:spPr>
          <a:xfrm>
            <a:off x="8183880" y="5093208"/>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Vendor management</a:t>
            </a:r>
            <a:endParaRPr lang="en-US" sz="1000" dirty="0"/>
          </a:p>
        </p:txBody>
      </p:sp>
      <p:sp>
        <p:nvSpPr>
          <p:cNvPr id="52" name="text-50"/>
          <p:cNvSpPr txBox="1"/>
          <p:nvPr/>
        </p:nvSpPr>
        <p:spPr>
          <a:xfrm>
            <a:off x="8183880" y="5285232"/>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Effort L · confidence low</a:t>
            </a:r>
            <a:endParaRPr lang="en-US" sz="1000" dirty="0"/>
          </a:p>
        </p:txBody>
      </p:sp>
      <p:sp>
        <p:nvSpPr>
          <p:cNvPr id="53" name="text-51"/>
          <p:cNvSpPr txBox="1"/>
          <p:nvPr/>
        </p:nvSpPr>
        <p:spPr>
          <a:xfrm>
            <a:off x="8183880" y="5486400"/>
            <a:ext cx="3291840" cy="347472"/>
          </a:xfrm>
          <a:prstGeom prst="rect">
            <a:avLst/>
          </a:prstGeom>
          <a:noFill/>
          <a:ln/>
        </p:spPr>
        <p:txBody>
          <a:bodyPr wrap="square" lIns="0" tIns="0" rIns="0" bIns="0" rtlCol="0" anchor="t"/>
          <a:lstStyle/>
          <a:p>
            <a:pPr algn="l" indent="0" marL="0">
              <a:buNone/>
            </a:pPr>
            <a:r>
              <a:rPr lang="en-US" sz="1000" dirty="0">
                <a:solidFill>
                  <a:srgbClr val="B8691F"/>
                </a:solidFill>
                <a:latin typeface="Arial" pitchFamily="34" charset="0"/>
                <a:ea typeface="Arial" pitchFamily="34" charset="-122"/>
                <a:cs typeface="Arial" pitchFamily="34" charset="-120"/>
              </a:rPr>
              <a:t>If: Requires integration and commercial work.</a:t>
            </a:r>
            <a:endParaRPr lang="en-US" sz="1000" dirty="0"/>
          </a:p>
        </p:txBody>
      </p:sp>
      <p:sp>
        <p:nvSpPr>
          <p:cNvPr id="54" name="text-52"/>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Timelines match the dashboard and FAQ: P0 weeks 0–2, P1 weeks 2–6, P2 weeks 6–13, P3 the following two quarters.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Recovery scenarios: +0.9 pp to +4.3 pp on recurring causes, not a forecast</a:t>
            </a:r>
            <a:endParaRPr lang="en-US" sz="2600" dirty="0"/>
          </a:p>
        </p:txBody>
      </p:sp>
      <p:sp>
        <p:nvSpPr>
          <p:cNvPr id="3" name="rect-1"/>
          <p:cNvSpPr/>
          <p:nvPr/>
        </p:nvSpPr>
        <p:spPr>
          <a:xfrm>
            <a:off x="548640" y="1371600"/>
            <a:ext cx="2194560" cy="1645920"/>
          </a:xfrm>
          <a:prstGeom prst="roundRect">
            <a:avLst>
              <a:gd name="adj" fmla="val 4444"/>
            </a:avLst>
          </a:prstGeom>
          <a:solidFill>
            <a:srgbClr val="F3F6F6"/>
          </a:solidFill>
          <a:ln/>
        </p:spPr>
      </p:sp>
      <p:sp>
        <p:nvSpPr>
          <p:cNvPr id="4" name="text-2"/>
          <p:cNvSpPr txBox="1"/>
          <p:nvPr/>
        </p:nvSpPr>
        <p:spPr>
          <a:xfrm>
            <a:off x="731520" y="1499616"/>
            <a:ext cx="1828800" cy="566928"/>
          </a:xfrm>
          <a:prstGeom prst="rect">
            <a:avLst/>
          </a:prstGeom>
          <a:noFill/>
          <a:ln/>
        </p:spPr>
        <p:txBody>
          <a:bodyPr wrap="square" lIns="0" tIns="0" rIns="0" bIns="0" rtlCol="0" anchor="t"/>
          <a:lstStyle/>
          <a:p>
            <a:pPr algn="l" indent="0" marL="0">
              <a:buNone/>
            </a:pPr>
            <a:r>
              <a:rPr lang="en-US" sz="3000" dirty="0">
                <a:solidFill>
                  <a:srgbClr val="1F2A2E"/>
                </a:solidFill>
                <a:latin typeface="Georgia" pitchFamily="34" charset="0"/>
                <a:ea typeface="Georgia" pitchFamily="34" charset="-122"/>
                <a:cs typeface="Georgia" pitchFamily="34" charset="-120"/>
              </a:rPr>
              <a:t>+0.9 pp</a:t>
            </a:r>
            <a:endParaRPr lang="en-US" sz="3000" dirty="0"/>
          </a:p>
        </p:txBody>
      </p:sp>
      <p:sp>
        <p:nvSpPr>
          <p:cNvPr id="5" name="text-3"/>
          <p:cNvSpPr txBox="1"/>
          <p:nvPr/>
        </p:nvSpPr>
        <p:spPr>
          <a:xfrm>
            <a:off x="731520" y="2103120"/>
            <a:ext cx="1828800" cy="86868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Conservative: 233 approvals per 30 days; recent rate would be 84.2%</a:t>
            </a:r>
            <a:endParaRPr lang="en-US" sz="1150" dirty="0"/>
          </a:p>
        </p:txBody>
      </p:sp>
      <p:sp>
        <p:nvSpPr>
          <p:cNvPr id="6" name="rect-4"/>
          <p:cNvSpPr/>
          <p:nvPr/>
        </p:nvSpPr>
        <p:spPr>
          <a:xfrm>
            <a:off x="2880360" y="1371600"/>
            <a:ext cx="2194560" cy="1645920"/>
          </a:xfrm>
          <a:prstGeom prst="roundRect">
            <a:avLst>
              <a:gd name="adj" fmla="val 4444"/>
            </a:avLst>
          </a:prstGeom>
          <a:solidFill>
            <a:srgbClr val="DCEAE9"/>
          </a:solidFill>
          <a:ln/>
        </p:spPr>
      </p:sp>
      <p:sp>
        <p:nvSpPr>
          <p:cNvPr id="7" name="text-5"/>
          <p:cNvSpPr txBox="1"/>
          <p:nvPr/>
        </p:nvSpPr>
        <p:spPr>
          <a:xfrm>
            <a:off x="3063240" y="1499616"/>
            <a:ext cx="1828800" cy="566928"/>
          </a:xfrm>
          <a:prstGeom prst="rect">
            <a:avLst/>
          </a:prstGeom>
          <a:noFill/>
          <a:ln/>
        </p:spPr>
        <p:txBody>
          <a:bodyPr wrap="square" lIns="0" tIns="0" rIns="0" bIns="0" rtlCol="0" anchor="t"/>
          <a:lstStyle/>
          <a:p>
            <a:pPr algn="l" indent="0" marL="0">
              <a:buNone/>
            </a:pPr>
            <a:r>
              <a:rPr lang="en-US" sz="3000" dirty="0">
                <a:solidFill>
                  <a:srgbClr val="1F2A2E"/>
                </a:solidFill>
                <a:latin typeface="Georgia" pitchFamily="34" charset="0"/>
                <a:ea typeface="Georgia" pitchFamily="34" charset="-122"/>
                <a:cs typeface="Georgia" pitchFamily="34" charset="-120"/>
              </a:rPr>
              <a:t>+2.5 pp</a:t>
            </a:r>
            <a:endParaRPr lang="en-US" sz="3000" dirty="0"/>
          </a:p>
        </p:txBody>
      </p:sp>
      <p:sp>
        <p:nvSpPr>
          <p:cNvPr id="8" name="text-6"/>
          <p:cNvSpPr txBox="1"/>
          <p:nvPr/>
        </p:nvSpPr>
        <p:spPr>
          <a:xfrm>
            <a:off x="3063240" y="2103120"/>
            <a:ext cx="1828800" cy="86868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Central: 634 approvals per 30 days; recent rate would be 85.8%</a:t>
            </a:r>
            <a:endParaRPr lang="en-US" sz="1150" dirty="0"/>
          </a:p>
        </p:txBody>
      </p:sp>
      <p:sp>
        <p:nvSpPr>
          <p:cNvPr id="9" name="rect-7"/>
          <p:cNvSpPr/>
          <p:nvPr/>
        </p:nvSpPr>
        <p:spPr>
          <a:xfrm>
            <a:off x="5212080" y="1371600"/>
            <a:ext cx="2194560" cy="1645920"/>
          </a:xfrm>
          <a:prstGeom prst="roundRect">
            <a:avLst>
              <a:gd name="adj" fmla="val 4444"/>
            </a:avLst>
          </a:prstGeom>
          <a:solidFill>
            <a:srgbClr val="F3F6F6"/>
          </a:solidFill>
          <a:ln/>
        </p:spPr>
      </p:sp>
      <p:sp>
        <p:nvSpPr>
          <p:cNvPr id="10" name="text-8"/>
          <p:cNvSpPr txBox="1"/>
          <p:nvPr/>
        </p:nvSpPr>
        <p:spPr>
          <a:xfrm>
            <a:off x="5394960" y="1499616"/>
            <a:ext cx="1828800" cy="566928"/>
          </a:xfrm>
          <a:prstGeom prst="rect">
            <a:avLst/>
          </a:prstGeom>
          <a:noFill/>
          <a:ln/>
        </p:spPr>
        <p:txBody>
          <a:bodyPr wrap="square" lIns="0" tIns="0" rIns="0" bIns="0" rtlCol="0" anchor="t"/>
          <a:lstStyle/>
          <a:p>
            <a:pPr algn="l" indent="0" marL="0">
              <a:buNone/>
            </a:pPr>
            <a:r>
              <a:rPr lang="en-US" sz="3000" dirty="0">
                <a:solidFill>
                  <a:srgbClr val="1F2A2E"/>
                </a:solidFill>
                <a:latin typeface="Georgia" pitchFamily="34" charset="0"/>
                <a:ea typeface="Georgia" pitchFamily="34" charset="-122"/>
                <a:cs typeface="Georgia" pitchFamily="34" charset="-120"/>
              </a:rPr>
              <a:t>+4.3 pp</a:t>
            </a:r>
            <a:endParaRPr lang="en-US" sz="3000" dirty="0"/>
          </a:p>
        </p:txBody>
      </p:sp>
      <p:sp>
        <p:nvSpPr>
          <p:cNvPr id="11" name="text-9"/>
          <p:cNvSpPr txBox="1"/>
          <p:nvPr/>
        </p:nvSpPr>
        <p:spPr>
          <a:xfrm>
            <a:off x="5394960" y="2103120"/>
            <a:ext cx="1828800" cy="86868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Optimistic: 1,093 approvals per 30 days; recent rate would be 87.6%</a:t>
            </a:r>
            <a:endParaRPr lang="en-US" sz="1150" dirty="0"/>
          </a:p>
        </p:txBody>
      </p:sp>
      <p:sp>
        <p:nvSpPr>
          <p:cNvPr id="12" name="rect-10"/>
          <p:cNvSpPr/>
          <p:nvPr/>
        </p:nvSpPr>
        <p:spPr>
          <a:xfrm>
            <a:off x="7635240" y="1371600"/>
            <a:ext cx="2057400" cy="1645920"/>
          </a:xfrm>
          <a:prstGeom prst="roundRect">
            <a:avLst>
              <a:gd name="adj" fmla="val 4444"/>
            </a:avLst>
          </a:prstGeom>
          <a:solidFill>
            <a:srgbClr val="F3F6F6"/>
          </a:solidFill>
          <a:ln/>
        </p:spPr>
      </p:sp>
      <p:sp>
        <p:nvSpPr>
          <p:cNvPr id="13" name="text-11"/>
          <p:cNvSpPr txBox="1"/>
          <p:nvPr/>
        </p:nvSpPr>
        <p:spPr>
          <a:xfrm>
            <a:off x="7818120" y="1499616"/>
            <a:ext cx="1691640" cy="566928"/>
          </a:xfrm>
          <a:prstGeom prst="rect">
            <a:avLst/>
          </a:prstGeom>
          <a:noFill/>
          <a:ln/>
        </p:spPr>
        <p:txBody>
          <a:bodyPr wrap="square" lIns="0" tIns="0" rIns="0" bIns="0" rtlCol="0" anchor="t"/>
          <a:lstStyle/>
          <a:p>
            <a:pPr algn="l" indent="0" marL="0">
              <a:buNone/>
            </a:pPr>
            <a:r>
              <a:rPr lang="en-US" sz="2800" dirty="0">
                <a:solidFill>
                  <a:srgbClr val="1F2A2E"/>
                </a:solidFill>
                <a:latin typeface="Georgia" pitchFamily="34" charset="0"/>
                <a:ea typeface="Georgia" pitchFamily="34" charset="-122"/>
                <a:cs typeface="Georgia" pitchFamily="34" charset="-120"/>
              </a:rPr>
              <a:t>295</a:t>
            </a:r>
            <a:endParaRPr lang="en-US" sz="2800" dirty="0"/>
          </a:p>
        </p:txBody>
      </p:sp>
      <p:sp>
        <p:nvSpPr>
          <p:cNvPr id="14" name="text-12"/>
          <p:cNvSpPr txBox="1"/>
          <p:nvPr/>
        </p:nvSpPr>
        <p:spPr>
          <a:xfrm>
            <a:off x="7818120" y="2103120"/>
            <a:ext cx="1691640" cy="86868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Central: approvals protected per comparable incident (execution errors, liveness spikes)</a:t>
            </a:r>
            <a:endParaRPr lang="en-US" sz="1150" dirty="0"/>
          </a:p>
        </p:txBody>
      </p:sp>
      <p:sp>
        <p:nvSpPr>
          <p:cNvPr id="15" name="rect-13"/>
          <p:cNvSpPr/>
          <p:nvPr/>
        </p:nvSpPr>
        <p:spPr>
          <a:xfrm>
            <a:off x="9829800" y="1371600"/>
            <a:ext cx="1813255" cy="1645920"/>
          </a:xfrm>
          <a:prstGeom prst="roundRect">
            <a:avLst>
              <a:gd name="adj" fmla="val 4444"/>
            </a:avLst>
          </a:prstGeom>
          <a:solidFill>
            <a:srgbClr val="F5DEDA"/>
          </a:solidFill>
          <a:ln/>
        </p:spPr>
      </p:sp>
      <p:sp>
        <p:nvSpPr>
          <p:cNvPr id="16" name="text-14"/>
          <p:cNvSpPr txBox="1"/>
          <p:nvPr/>
        </p:nvSpPr>
        <p:spPr>
          <a:xfrm>
            <a:off x="10012680" y="1499616"/>
            <a:ext cx="1447495" cy="566928"/>
          </a:xfrm>
          <a:prstGeom prst="rect">
            <a:avLst/>
          </a:prstGeom>
          <a:noFill/>
          <a:ln/>
        </p:spPr>
        <p:txBody>
          <a:bodyPr wrap="square" lIns="0" tIns="0" rIns="0" bIns="0" rtlCol="0" anchor="t"/>
          <a:lstStyle/>
          <a:p>
            <a:pPr algn="l" indent="0" marL="0">
              <a:buNone/>
            </a:pPr>
            <a:r>
              <a:rPr lang="en-US" sz="2600" dirty="0">
                <a:solidFill>
                  <a:srgbClr val="B93A2C"/>
                </a:solidFill>
                <a:latin typeface="Georgia" pitchFamily="34" charset="0"/>
                <a:ea typeface="Georgia" pitchFamily="34" charset="-122"/>
                <a:cs typeface="Georgia" pitchFamily="34" charset="-120"/>
              </a:rPr>
              <a:t>−580</a:t>
            </a:r>
            <a:endParaRPr lang="en-US" sz="2600" dirty="0"/>
          </a:p>
        </p:txBody>
      </p:sp>
      <p:sp>
        <p:nvSpPr>
          <p:cNvPr id="17" name="text-15"/>
          <p:cNvSpPr txBox="1"/>
          <p:nvPr/>
        </p:nvSpPr>
        <p:spPr>
          <a:xfrm>
            <a:off x="10012680" y="2103120"/>
            <a:ext cx="1447495" cy="86868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If all control findings are confirmed: approvals per 30 days that may need reversing (−2.3 pp)</a:t>
            </a:r>
            <a:endParaRPr lang="en-US" sz="1150" dirty="0"/>
          </a:p>
        </p:txBody>
      </p:sp>
      <p:sp>
        <p:nvSpPr>
          <p:cNvPr id="18" name="text-16"/>
          <p:cNvSpPr txBox="1"/>
          <p:nvPr/>
        </p:nvSpPr>
        <p:spPr>
          <a:xfrm>
            <a:off x="548640" y="3200400"/>
            <a:ext cx="11094415" cy="365760"/>
          </a:xfrm>
          <a:prstGeom prst="rect">
            <a:avLst/>
          </a:prstGeom>
          <a:noFill/>
          <a:ln/>
        </p:spPr>
        <p:txBody>
          <a:bodyPr wrap="square" lIns="0" tIns="0" rIns="0" bIns="0" rtlCol="0" anchor="t"/>
          <a:lstStyle/>
          <a:p>
            <a:pPr algn="l" indent="0" marL="0">
              <a:buNone/>
            </a:pPr>
            <a:r>
              <a:rPr lang="en-US" sz="1300" b="1" dirty="0">
                <a:solidFill>
                  <a:srgbClr val="0F4C4D"/>
                </a:solidFill>
                <a:latin typeface="Arial" pitchFamily="34" charset="0"/>
                <a:ea typeface="Arial" pitchFamily="34" charset="-122"/>
                <a:cs typeface="Arial" pitchFamily="34" charset="-120"/>
              </a:rPr>
              <a:t>Recovered = observed population × eligibility × reach × return × remediation × subsequent approval</a:t>
            </a:r>
            <a:endParaRPr lang="en-US" sz="1300" dirty="0"/>
          </a:p>
        </p:txBody>
      </p:sp>
      <p:graphicFrame>
        <p:nvGraphicFramePr>
          <p:cNvPr id="11" name="table-17"/>
          <p:cNvGraphicFramePr>
            <a:graphicFrameLocks noGrp="1"/>
          </p:cNvGraphicFramePr>
          <p:nvPr>
            <p:extLst>
              <p:ext uri="{D42A27DB-BD31-4B8C-83A1-F6EECF244321}">
                <p14:modId xmlns:p14="http://schemas.microsoft.com/office/powerpoint/2010/main" val="1579011935"/>
              </p:ext>
            </p:extLst>
          </p:nvPr>
        </p:nvGraphicFramePr>
        <p:xfrm>
          <a:off x="548640" y="3611880"/>
          <a:ext cx="11094415" cy="914400"/>
        </p:xfrm>
        <a:graphic>
          <a:graphicData uri="http://schemas.openxmlformats.org/drawingml/2006/table">
            <a:tbl>
              <a:tblPr/>
              <a:tblGrid>
                <a:gridCol w="4160520"/>
                <a:gridCol w="960120"/>
                <a:gridCol w="3657600"/>
                <a:gridCol w="914400"/>
                <a:gridCol w="1399032"/>
              </a:tblGrid>
              <a:tr h="0">
                <a:tc>
                  <a:txBody>
                    <a:bodyPr/>
                    <a:lstStyle/>
                    <a:p>
                      <a:pPr indent="0" marL="0">
                        <a:buNone/>
                      </a:pPr>
                      <a:r>
                        <a:rPr lang="en-US" sz="1050" b="1" dirty="0">
                          <a:solidFill>
                            <a:srgbClr val="FFFFFF"/>
                          </a:solidFill>
                          <a:latin typeface="Arial" pitchFamily="34" charset="0"/>
                          <a:ea typeface="Arial" pitchFamily="34" charset="-122"/>
                          <a:cs typeface="Arial" pitchFamily="34" charset="-120"/>
                        </a:rPr>
                        <a:t>Population (recent period)</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Observed</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Central factors (E × R × Ret × Fix × Then)</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Central</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Range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Execution errors (Sep 1–2) (per incident)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 × 1.0 × 0.75 × 0.9 × 0.88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242</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116–351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Liveness quality failures on incident days (per incident)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0.75 × 1.0 × 0.6 × 0.75 × 0.9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53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23–84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Other selfie / liveness failures</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486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0.66 × 1.0 × 0.6 × 0.45 × 0.9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78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28–138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Mexico: no document type or unsupported / incomplete document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1,570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0.7 × 1.0 × 1.0 × 0.35 × 0.84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323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107–561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Image quality and screen or paper copies</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333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0.85 × 1.0 × 1.0 × 0.45 × 0.85</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48–162</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Face match: WARNING plus a share of NO_MATCH</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278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 × 1.0 × 1.0 × 0.45 × 1.0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125</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50–232</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20" name="text-18"/>
          <p:cNvSpPr txBox="1"/>
          <p:nvPr/>
        </p:nvSpPr>
        <p:spPr>
          <a:xfrm>
            <a:off x="548640" y="5989320"/>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A target set from these scenarios is a goal, not a prediction. "Eligible" for selfie populations is the observed share with no other failing check; "Then" is the prior-period approval rate for the same countries, except review, where a reviewer approval is final.</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What we need, and how we will know it worked</a:t>
            </a:r>
            <a:endParaRPr lang="en-US" sz="2600" dirty="0"/>
          </a:p>
        </p:txBody>
      </p:sp>
      <p:sp>
        <p:nvSpPr>
          <p:cNvPr id="3" name="rect-1"/>
          <p:cNvSpPr/>
          <p:nvPr/>
        </p:nvSpPr>
        <p:spPr>
          <a:xfrm>
            <a:off x="548640" y="1371600"/>
            <a:ext cx="5394960" cy="4480560"/>
          </a:xfrm>
          <a:prstGeom prst="roundRect">
            <a:avLst>
              <a:gd name="adj" fmla="val 1633"/>
            </a:avLst>
          </a:prstGeom>
          <a:solidFill>
            <a:srgbClr val="F3F6F6"/>
          </a:solidFill>
          <a:ln/>
        </p:spPr>
      </p:sp>
      <p:sp>
        <p:nvSpPr>
          <p:cNvPr id="4" name="text-2"/>
          <p:cNvSpPr txBox="1"/>
          <p:nvPr/>
        </p:nvSpPr>
        <p:spPr>
          <a:xfrm>
            <a:off x="777240" y="1536192"/>
            <a:ext cx="4937760" cy="4297680"/>
          </a:xfrm>
          <a:prstGeom prst="rect">
            <a:avLst/>
          </a:prstGeom>
          <a:noFill/>
          <a:ln/>
        </p:spPr>
        <p:txBody>
          <a:bodyPr wrap="square" lIns="0" tIns="0" rIns="0" bIns="0" rtlCol="0" anchor="t"/>
          <a:lstStyle/>
          <a:p>
            <a:pPr algn="l" indent="0" marL="0">
              <a:spcAft>
                <a:spcPts val="800"/>
              </a:spcAft>
              <a:buNone/>
            </a:pPr>
            <a:r>
              <a:rPr lang="en-US" sz="1300" b="1" dirty="0">
                <a:solidFill>
                  <a:srgbClr val="0F4C4D"/>
                </a:solidFill>
                <a:latin typeface="Arial" pitchFamily="34" charset="0"/>
                <a:ea typeface="Arial" pitchFamily="34" charset="-122"/>
                <a:cs typeface="Arial" pitchFamily="34" charset="-120"/>
              </a:rPr>
              <a:t>Decisions and resources</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Approve Phase 0 and its owners.</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Privacy review of the event schema (Legal &amp; Privacy).</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Vendor: case access, raw responses, incident reports for Sep 1, 2 and 6.</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Risk and Compliance time: fraud adjudication and control reconciliation.</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Engineering: instrumentation (M), hold-and-retry (S), alerts (S). Sizes to confirm.</a:t>
            </a:r>
            <a:endParaRPr lang="en-US" sz="1300" dirty="0"/>
          </a:p>
          <a:p>
            <a:pPr algn="l" marL="152400" indent="-152400">
              <a:buSzPct val="100000"/>
              <a:buChar char="•"/>
            </a:pPr>
            <a:r>
              <a:rPr lang="en-US" sz="1300" dirty="0">
                <a:solidFill>
                  <a:srgbClr val="1F2A2E"/>
                </a:solidFill>
                <a:latin typeface="Arial" pitchFamily="34" charset="0"/>
                <a:ea typeface="Arial" pitchFamily="34" charset="-122"/>
                <a:cs typeface="Arial" pitchFamily="34" charset="-120"/>
              </a:rPr>
              <a:t>Finance: replace the value model’s market-based presets with ARQ unit economics.</a:t>
            </a:r>
            <a:endParaRPr lang="en-US" sz="1300" dirty="0"/>
          </a:p>
        </p:txBody>
      </p:sp>
      <p:sp>
        <p:nvSpPr>
          <p:cNvPr id="5" name="rect-3"/>
          <p:cNvSpPr/>
          <p:nvPr/>
        </p:nvSpPr>
        <p:spPr>
          <a:xfrm>
            <a:off x="6172200" y="1371600"/>
            <a:ext cx="5470855" cy="4480560"/>
          </a:xfrm>
          <a:prstGeom prst="roundRect">
            <a:avLst>
              <a:gd name="adj" fmla="val 1633"/>
            </a:avLst>
          </a:prstGeom>
          <a:solidFill>
            <a:srgbClr val="DCEAE9"/>
          </a:solidFill>
          <a:ln/>
        </p:spPr>
      </p:sp>
      <p:sp>
        <p:nvSpPr>
          <p:cNvPr id="6" name="text-4"/>
          <p:cNvSpPr txBox="1"/>
          <p:nvPr/>
        </p:nvSpPr>
        <p:spPr>
          <a:xfrm>
            <a:off x="6400800" y="1536192"/>
            <a:ext cx="5013655" cy="4297680"/>
          </a:xfrm>
          <a:prstGeom prst="rect">
            <a:avLst/>
          </a:prstGeom>
          <a:noFill/>
          <a:ln/>
        </p:spPr>
        <p:txBody>
          <a:bodyPr wrap="square" lIns="0" tIns="0" rIns="0" bIns="0" rtlCol="0" anchor="t"/>
          <a:lstStyle/>
          <a:p>
            <a:pPr algn="l" indent="0" marL="0">
              <a:spcAft>
                <a:spcPts val="800"/>
              </a:spcAft>
              <a:buNone/>
            </a:pPr>
            <a:r>
              <a:rPr lang="en-US" sz="1300" b="1" dirty="0">
                <a:solidFill>
                  <a:srgbClr val="0F4C4D"/>
                </a:solidFill>
                <a:latin typeface="Arial" pitchFamily="34" charset="0"/>
                <a:ea typeface="Arial" pitchFamily="34" charset="-122"/>
                <a:cs typeface="Arial" pitchFamily="34" charset="-120"/>
              </a:rPr>
              <a:t>How success is verified</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Zero final rejections with TECHNICAL_ERROR over 4 weeks.</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Alerts replayed on 2023 data fire on the first day of all four windows.</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Each control finding classified as confirmed, explained or data error.</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Experiments by person, outcome = eventual approval within 7 days. Mexico guidance: about 6,314 people per arm for +2 pp (stand-in baseline).</a:t>
            </a:r>
            <a:endParaRPr lang="en-US" sz="1300" dirty="0"/>
          </a:p>
          <a:p>
            <a:pPr algn="l" marL="152400" indent="-152400">
              <a:buSzPct val="100000"/>
              <a:buChar char="•"/>
            </a:pPr>
            <a:r>
              <a:rPr lang="en-US" sz="1300" dirty="0">
                <a:solidFill>
                  <a:srgbClr val="1F2A2E"/>
                </a:solidFill>
                <a:latin typeface="Arial" pitchFamily="34" charset="0"/>
                <a:ea typeface="Arial" pitchFamily="34" charset="-122"/>
                <a:cs typeface="Arial" pitchFamily="34" charset="-120"/>
              </a:rPr>
              <a:t>Weekly: approval rate with fraud-signal, execution-error and warning shares beside it; completion once events exist.</a:t>
            </a:r>
            <a:endParaRPr lang="en-US" sz="13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Four things to confirm with the team before acting</a:t>
            </a:r>
            <a:endParaRPr lang="en-US" sz="2600" dirty="0"/>
          </a:p>
        </p:txBody>
      </p:sp>
      <p:graphicFrame>
        <p:nvGraphicFramePr>
          <p:cNvPr id="13" name="table-1"/>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320040"/>
                <a:gridCol w="3566160"/>
                <a:gridCol w="4114800"/>
                <a:gridCol w="3090672"/>
              </a:tblGrid>
              <a:tr h="0">
                <a:tc>
                  <a:txBody>
                    <a:bodyPr/>
                    <a:lstStyle/>
                    <a:p>
                      <a:pPr indent="0" marL="0">
                        <a:buNone/>
                      </a:pP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Question</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Why it matters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What the answer changes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1</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Does each row hold a user's first, latest or final KYC attempt, and does the date mark the submission or the vendor's decision?</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The headline is approval among recorded decisions. If rows are latest attempts, earlier failures and retries are invisible and the first-pass rate is lower than shown; if they are final decisions, the warnings may be stale.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The metric definition (v2 to v3 in the registry), the retry hypotheses, and whether the bridge counts people or attempts.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2</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Is there any record, even weekly counts, of people who opened KYC and never submitted?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The brief defines the pass rate as people who start and finish. Without starts, completion and abandonment can't be measured, and the 1,587 fewer approvals from lower volume could be fewer starts, more abandonment, or both.</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Whether Phase 0 instrumentation is a prerequisite or a check on existing data; the reading of the volume effect; the completion metric's status.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What happens today after a TECHNICAL_ERROR or a liveness failure: does the user see the vendor's outcome, get a retake, or enter a review queue?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Hold-and-retry and the guided retake assume no retry exists. In the central scenario they recover 242 approvals per comparable execution-error incident and 78 per 30 days on steady liveness failures.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If a retry already exists, those recoverable counts shrink and the question becomes why retries fail; the Phase 0 hold-and-retry becomes a configuration check.</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4</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Which vendor product tier and data centre does ARQ use, and did ARQ receive incident notices for Sep 1, 2 and 6, 2023?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The vendor's status history shows liveness incidents on Sep 1 and 6 on its US data centre and nothing for Sep 2. The liveness spike is 173 failures above baseline and the execution errors 407.</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On another data centre the liveness attribution loses its vendor evidence; with notices, the execution errors have an owner and an SLA claim.</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4" name="text-2"/>
          <p:cNvSpPr txBox="1"/>
          <p:nvPr/>
        </p:nvSpPr>
        <p:spPr>
          <a:xfrm>
            <a:off x="548640" y="5943600"/>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The analysis stands on the extract alone. These answers decide how far each conclusion carries, not whether the work was done.</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rect-0"/>
          <p:cNvSpPr/>
          <p:nvPr/>
        </p:nvSpPr>
        <p:spPr>
          <a:xfrm>
            <a:off x="0" y="0"/>
            <a:ext cx="12191695" cy="6858000"/>
          </a:xfrm>
          <a:prstGeom prst="rect">
            <a:avLst/>
          </a:prstGeom>
          <a:solidFill>
            <a:srgbClr val="0F4C4D"/>
          </a:solidFill>
          <a:ln/>
        </p:spPr>
      </p:sp>
      <p:sp>
        <p:nvSpPr>
          <p:cNvPr id="3" name="text-1"/>
          <p:cNvSpPr txBox="1"/>
          <p:nvPr/>
        </p:nvSpPr>
        <p:spPr>
          <a:xfrm>
            <a:off x="548640" y="2468880"/>
            <a:ext cx="10058400" cy="914400"/>
          </a:xfrm>
          <a:prstGeom prst="rect">
            <a:avLst/>
          </a:prstGeom>
          <a:noFill/>
          <a:ln/>
        </p:spPr>
        <p:txBody>
          <a:bodyPr wrap="square" lIns="0" tIns="0" rIns="0" bIns="0" rtlCol="0" anchor="t"/>
          <a:lstStyle/>
          <a:p>
            <a:pPr algn="l" indent="0" marL="0">
              <a:buNone/>
            </a:pPr>
            <a:r>
              <a:rPr lang="en-US" sz="3400" dirty="0">
                <a:solidFill>
                  <a:srgbClr val="FFFFFF"/>
                </a:solidFill>
                <a:latin typeface="Georgia" pitchFamily="34" charset="0"/>
                <a:ea typeface="Georgia" pitchFamily="34" charset="-122"/>
                <a:cs typeface="Georgia" pitchFamily="34" charset="-120"/>
              </a:rPr>
              <a:t>Appendix: evidence and method</a:t>
            </a:r>
            <a:endParaRPr lang="en-US" sz="3400" dirty="0"/>
          </a:p>
        </p:txBody>
      </p:sp>
      <p:sp>
        <p:nvSpPr>
          <p:cNvPr id="4" name="text-2"/>
          <p:cNvSpPr txBox="1"/>
          <p:nvPr/>
        </p:nvSpPr>
        <p:spPr>
          <a:xfrm>
            <a:off x="548640" y="3474720"/>
            <a:ext cx="10058400" cy="1463040"/>
          </a:xfrm>
          <a:prstGeom prst="rect">
            <a:avLst/>
          </a:prstGeom>
          <a:noFill/>
          <a:ln/>
        </p:spPr>
        <p:txBody>
          <a:bodyPr wrap="square" lIns="0" tIns="0" rIns="0" bIns="0" rtlCol="0" anchor="t"/>
          <a:lstStyle/>
          <a:p>
            <a:pPr algn="l" indent="0" marL="0">
              <a:buNone/>
            </a:pPr>
            <a:r>
              <a:rPr lang="en-US" sz="1500" dirty="0">
                <a:solidFill>
                  <a:srgbClr val="DCEAE9"/>
                </a:solidFill>
                <a:latin typeface="Arial" pitchFamily="34" charset="0"/>
                <a:ea typeface="Arial" pitchFamily="34" charset="-122"/>
                <a:cs typeface="Arial" pitchFamily="34" charset="-120"/>
              </a:rPr>
              <a:t>A1 Definitions · A2 Validation · A3 Composition · A4 Mexico · A5 Incident sensitivity · A6 Experiments · A7–A8 Value model · A9 Operating model · A10 Control findings · A11 Vendor research</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A1 · Metric definitions: what is available and what needs new events</a:t>
            </a:r>
            <a:endParaRPr lang="en-US" sz="2600" dirty="0"/>
          </a:p>
        </p:txBody>
      </p:sp>
      <p:graphicFrame>
        <p:nvGraphicFramePr>
          <p:cNvPr id="15"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86000"/>
                <a:gridCol w="960120"/>
                <a:gridCol w="5120640"/>
                <a:gridCol w="2724912"/>
              </a:tblGrid>
              <a:tr h="0">
                <a:tc>
                  <a:txBody>
                    <a:bodyPr/>
                    <a:lstStyle/>
                    <a:p>
                      <a:pPr indent="0" marL="0">
                        <a:buNone/>
                      </a:pPr>
                      <a:r>
                        <a:rPr lang="en-US" sz="1000" b="1" dirty="0">
                          <a:solidFill>
                            <a:srgbClr val="FFFFFF"/>
                          </a:solidFill>
                          <a:latin typeface="Arial" pitchFamily="34" charset="0"/>
                          <a:ea typeface="Arial" pitchFamily="34" charset="-122"/>
                          <a:cs typeface="Arial" pitchFamily="34" charset="-120"/>
                        </a:rPr>
                        <a:t>Metric</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Definition and window</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Gap or caveat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KYC starts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People who open the KYC flow. Window: daily, by country.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kyc_started with person id, session id, timestamp, country, app version, channel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Recorded decisions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User records with a final decision in the extract (one per user_reference). Window: per period.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Whether a record is a first, latest or final attempt is not stated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Approval rate among recorded decisions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Approved (PASSED or APPROVED) ÷ recorded decisions. The headline metric of this analysis. Window: per period, by decision date.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Not the start-to-finish completion rate: starts, abandonment and attempts are missing</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Rejection rate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REJECTED ÷ recorded decisions. Window: per period.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Unresolved warning rate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WARNING ÷ recorded decisions. Later review outcome not in the extract. Window: per period.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Review dispositions needed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Completion rate (start to terminal state)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Starts that reach a terminal state (approved, finally rejected, or abandoned for 7 days) within 7 days of start. Window: 7 days after start.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kyc_started, step events, terminal decision, abandonment rule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Eventual approval within 7 days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Starts approved on any attempt within 7 days of the first start. Window: 7 days, cohort by start date.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Person id across attempts, attempt number, timestamps, review dispositions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Abandonment rate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Starts with no submission within 7 days. Window: 7 days.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kyc_started and kyc_submitted events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Retry rate and retry approval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Share of unsuccessful first attempts that retry, and their approval. Window: 7 days.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Attempt number per person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Manual-review outcomes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Approval and turnaround of cases sent to review. Window: per week.</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Review queue events and dispositions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Time to completion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Median minutes from start to terminal decision. Window: per week.</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Timestamps with time of day on start and decision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Execution-error rate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Unsuccessful decisions whose primary reason is TECHNICAL_ERROR ÷ recorded decisions. Window: per period.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Fraud-signal rate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Unsuccessful decisions whose primary reason is a manipulation or fake label ÷ recorded decisions. Not adjudicated. Window: per period.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Adjudication of a sample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A2 · Data validation and outcome treatment</a:t>
            </a:r>
            <a:endParaRPr lang="en-US" sz="2600" dirty="0"/>
          </a:p>
        </p:txBody>
      </p:sp>
      <p:graphicFrame>
        <p:nvGraphicFramePr>
          <p:cNvPr id="16"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057400"/>
                <a:gridCol w="3429000"/>
                <a:gridCol w="777240"/>
                <a:gridCol w="4828032"/>
              </a:tblGrid>
              <a:tr h="0">
                <a:tc>
                  <a:txBody>
                    <a:bodyPr/>
                    <a:lstStyle/>
                    <a:p>
                      <a:pPr indent="0" marL="0">
                        <a:buNone/>
                      </a:pPr>
                      <a:r>
                        <a:rPr lang="en-US" sz="1000" b="1" dirty="0">
                          <a:solidFill>
                            <a:srgbClr val="FFFFFF"/>
                          </a:solidFill>
                          <a:latin typeface="Arial" pitchFamily="34" charset="0"/>
                          <a:ea typeface="Arial" pitchFamily="34" charset="-122"/>
                          <a:cs typeface="Arial" pitchFamily="34" charset="-120"/>
                        </a:rPr>
                        <a:t>Check</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Result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Treatment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Records in each extract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52,075 summary / 52,075 details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Equal row counts.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Unique user_reference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52,075 / 52,075</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 duplicate users in either file.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Join coverage on user_reference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52,075 matched, 0 + 0 unmatched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Complete one-to-one join.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Date coverage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2023-07-25 to 2023-09-22: 60 of 60 calendar days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 missing days.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Timestamp precision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52,075 of 52,075 at midnight UTC</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Dates only. Intraday outage windows cannot be matched to records, and the extract does not say which event the date marks (submission, decision or export).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Final outcome categories (summary.decision_type)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PASSED 44,825, REJECTED 6,772, WARNING 474, APPROVED 4</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PASSED and APPROVED = approved; REJECTED = rejected; WARNING = unresolved (not approved, not a confirmed rejection).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decision_type vs details.decision_label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PASSED vs REJECTED: 1; PASSED vs OK: 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summary.decision_type is treated as the outcome. The 8 'OK' labels are label-only; 1 record shows PASSED in the summary but REJECTED in details and is counted as approved, pending reconciliation.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Non-standard capability value 'PASSES'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3 values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Treated as PASSED.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Blank watchlist_screening_decision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6,606 blank, 1 NOT_EXECUTED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Shown as 'not recorded'. Mostly on rejected records; a blank field does not prove screening never ran elsewhere.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Blank data_type (no document type returned)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3,781 records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 symptom with several possible causes (unsupported document, capture, configuration, classification coverage).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Birth year extracted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48,286 present, 3,789 blank; range 1909–2022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3,769 of the 3,789 blanks are rejected records, so ages describe applicants whose document was read, not all applicants. Extreme years (e.g. 2022) suggest extraction errors.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Country field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MEX / ARG only (data_issuing_country)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This is the document's issuing country, not necessarily residence or account market.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Attempts per user</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 record per user_reference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The extract does not say whether a record is the first, latest or final attempt; retries and later outcomes are not visible.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Raw files unchanged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summary 67e4190909b7…, details e0762f377a41…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SHA-256 prefixes, recomputed on every build.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A3 · What the not-approved share is made of</a:t>
            </a:r>
            <a:endParaRPr lang="en-US" sz="2600" dirty="0"/>
          </a:p>
        </p:txBody>
      </p:sp>
      <p:graphicFrame>
        <p:nvGraphicFramePr>
          <p:cNvPr id="17"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3017520"/>
                <a:gridCol w="2743200"/>
                <a:gridCol w="822960"/>
                <a:gridCol w="822960"/>
                <a:gridCol w="1188720"/>
                <a:gridCol w="1234440"/>
                <a:gridCol w="1261872"/>
              </a:tblGrid>
              <a:tr h="0">
                <a:tc>
                  <a:txBody>
                    <a:bodyPr/>
                    <a:lstStyle/>
                    <a:p>
                      <a:pPr indent="0" marL="0">
                        <a:buNone/>
                      </a:pPr>
                      <a:r>
                        <a:rPr lang="en-US" sz="1000" b="1" dirty="0">
                          <a:solidFill>
                            <a:srgbClr val="FFFFFF"/>
                          </a:solidFill>
                          <a:latin typeface="Arial" pitchFamily="34" charset="0"/>
                          <a:ea typeface="Arial" pitchFamily="34" charset="-122"/>
                          <a:cs typeface="Arial" pitchFamily="34" charset="-120"/>
                        </a:rPr>
                        <a:t>Group</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Class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Prior</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Recent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Of decisions, prior</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Of decisions, recent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Of unsuccessful, recent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407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0.00%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1.62%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9.7%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Fraud signal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Fraud signal (not adjudicated)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88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598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0.33%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2.38%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14.2%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No document type, no reason code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945</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1,034</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3.51%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4.11%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24.6%</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Unsupported or incomplete document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528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536</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1.96%</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2.13%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12.8%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Image quality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186</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175</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0.69%</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0.70%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4.2%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Screen or paper copy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78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158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0.29%</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0.63%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3.8%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Selfie / liveness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451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660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1.68%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2.63%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15.7%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Face match</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747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606</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2.77%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2.41%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14.4%</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Other</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0.08%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0.11%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0.6%</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F2A2E"/>
                          </a:solidFill>
                          <a:latin typeface="Arial" pitchFamily="34" charset="0"/>
                          <a:ea typeface="Arial" pitchFamily="34" charset="-122"/>
                          <a:cs typeface="Arial" pitchFamily="34" charset="-120"/>
                        </a:rPr>
                        <a:t>Fraud signal (not adjudicated)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88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598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0.33%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2.38%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14.2%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b="1" dirty="0">
                          <a:solidFill>
                            <a:srgbClr val="1F2A2E"/>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407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0.00%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1.62%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9.7%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F2A2E"/>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1,243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1,529</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4.61%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6.08%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36.4%</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b="1" dirty="0">
                          <a:solidFill>
                            <a:srgbClr val="1F2A2E"/>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1,713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1,667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6.36%</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6.63%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39.7%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Not-approved share: 11.3% prior, 16.7% recent. 281 recent decisions are unresolved warnings, not confirmed rejections.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A4 · Mexico: "no document type" is a symptom with several outcomes</a:t>
            </a:r>
            <a:endParaRPr lang="en-US" sz="2600" dirty="0"/>
          </a:p>
        </p:txBody>
      </p:sp>
      <p:graphicFrame>
        <p:nvGraphicFramePr>
          <p:cNvPr id="18"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949440" cy="914400"/>
        </p:xfrm>
        <a:graphic>
          <a:graphicData uri="http://schemas.openxmlformats.org/drawingml/2006/table">
            <a:tbl>
              <a:tblPr/>
              <a:tblGrid>
                <a:gridCol w="3108960"/>
                <a:gridCol w="685800"/>
                <a:gridCol w="685800"/>
                <a:gridCol w="822960"/>
                <a:gridCol w="822960"/>
                <a:gridCol w="822960"/>
              </a:tblGrid>
              <a:tr h="0">
                <a:tc>
                  <a:txBody>
                    <a:bodyPr/>
                    <a:lstStyle/>
                    <a:p>
                      <a:pPr indent="0" marL="0">
                        <a:buNone/>
                      </a:pPr>
                      <a:r>
                        <a:rPr lang="en-US" sz="1050" b="1" dirty="0">
                          <a:solidFill>
                            <a:srgbClr val="FFFFFF"/>
                          </a:solidFill>
                          <a:latin typeface="Arial" pitchFamily="34" charset="0"/>
                          <a:ea typeface="Arial" pitchFamily="34" charset="-122"/>
                          <a:cs typeface="Arial" pitchFamily="34" charset="-120"/>
                        </a:rPr>
                        <a:t>Outcome for Mexican decisions with no document type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Prior</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Recent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Share, prior</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Share, recent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Change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No reason code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945</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1,034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6.13%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7.24%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+1.11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Unsupported document type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245</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264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1.59%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1.85%</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+0.26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Missing mandatory data</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203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204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1.32%</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1.43%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+0.11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Missing page or part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80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68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0.52%</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0.48%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−0.04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Image quality</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186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175</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1.21%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1.23%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+0.02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Screen or paper copy</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59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116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0.38%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0.81%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+0.43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Execution error</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0.01%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0.67%</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+0.67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Selfie, face or other</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58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0.18%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0.41%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+0.22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Approved</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0.00%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0.13%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+0.13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graphicFrame>
        <p:nvGraphicFramePr>
          <p:cNvPr id="35" name="table-2"/>
          <p:cNvGraphicFramePr>
            <a:graphicFrameLocks noGrp="1"/>
          </p:cNvGraphicFramePr>
          <p:nvPr>
            <p:extLst>
              <p:ext uri="{D42A27DB-BD31-4B8C-83A1-F6EECF244321}">
                <p14:modId xmlns:p14="http://schemas.microsoft.com/office/powerpoint/2010/main" val="1579011935"/>
              </p:ext>
            </p:extLst>
          </p:nvPr>
        </p:nvGraphicFramePr>
        <p:xfrm>
          <a:off x="7772400" y="1325880"/>
          <a:ext cx="3870655" cy="914400"/>
        </p:xfrm>
        <a:graphic>
          <a:graphicData uri="http://schemas.openxmlformats.org/drawingml/2006/table">
            <a:tbl>
              <a:tblPr/>
              <a:tblGrid>
                <a:gridCol w="2057400"/>
                <a:gridCol w="868680"/>
                <a:gridCol w="941832"/>
              </a:tblGrid>
              <a:tr h="0">
                <a:tc>
                  <a:txBody>
                    <a:bodyPr/>
                    <a:lstStyle/>
                    <a:p>
                      <a:pPr indent="0" marL="0">
                        <a:buNone/>
                      </a:pPr>
                      <a:r>
                        <a:rPr lang="en-US" sz="1050" b="1" dirty="0">
                          <a:solidFill>
                            <a:srgbClr val="FFFFFF"/>
                          </a:solidFill>
                          <a:latin typeface="Arial" pitchFamily="34" charset="0"/>
                          <a:ea typeface="Arial" pitchFamily="34" charset="-122"/>
                          <a:cs typeface="Arial" pitchFamily="34" charset="-120"/>
                        </a:rPr>
                        <a:t>Document type returned (Mexico)</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Approval prior</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Approval recent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Voter ID (INE)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97.7%</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93.9%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National ID card</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91.0%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87.0%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No document type returned</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Passport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97.8%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95.6%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Residence permit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97.6%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94.6%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Driving licence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97.0%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92.5%</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Other</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100.0%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93.8%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sp>
        <p:nvSpPr>
          <p:cNvPr id="5" name="text-3"/>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Argentine documents: 0 usability rejections or warnings in the extract; Mexican: 1,442. Possible causes include documents outside the accepted list, capture quality, issuing-country mismatch, configuration and vendor coverage.</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A5 · Incident attribution: sensitivity and vendor evidence</a:t>
            </a:r>
            <a:endParaRPr lang="en-US" sz="2600" dirty="0"/>
          </a:p>
        </p:txBody>
      </p:sp>
      <p:graphicFrame>
        <p:nvGraphicFramePr>
          <p:cNvPr id="19"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675120" cy="914400"/>
        </p:xfrm>
        <a:graphic>
          <a:graphicData uri="http://schemas.openxmlformats.org/drawingml/2006/table">
            <a:tbl>
              <a:tblPr/>
              <a:tblGrid>
                <a:gridCol w="2286000"/>
                <a:gridCol w="731520"/>
                <a:gridCol w="868680"/>
                <a:gridCol w="914400"/>
                <a:gridCol w="868680"/>
                <a:gridCol w="1005840"/>
              </a:tblGrid>
              <a:tr h="0">
                <a:tc>
                  <a:txBody>
                    <a:bodyPr/>
                    <a:lstStyle/>
                    <a:p>
                      <a:pPr indent="0" marL="0">
                        <a:buNone/>
                      </a:pPr>
                      <a:r>
                        <a:rPr lang="en-US" sz="1050" b="1" dirty="0">
                          <a:solidFill>
                            <a:srgbClr val="FFFFFF"/>
                          </a:solidFill>
                          <a:latin typeface="Arial" pitchFamily="34" charset="0"/>
                          <a:ea typeface="Arial" pitchFamily="34" charset="-122"/>
                          <a:cs typeface="Arial" pitchFamily="34" charset="-120"/>
                        </a:rPr>
                        <a:t>Window</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Base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Window ±1 day</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Broader signature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Recent baseline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Old method (no baseline)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1. Argentina fraud-signal burst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373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378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372</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371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376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2. Execution errors at usability</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454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3. Liveness quality spike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173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171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4. Mexico INE fraud-signal cluster</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102</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133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111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b="1" dirty="0">
                          <a:solidFill>
                            <a:srgbClr val="1F2A2E"/>
                          </a:solidFill>
                          <a:latin typeface="Arial" pitchFamily="34" charset="0"/>
                          <a:ea typeface="Arial" pitchFamily="34" charset="-122"/>
                          <a:cs typeface="Arial" pitchFamily="34" charset="-120"/>
                        </a:rPr>
                        <a:t>Total</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1,057</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1,068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3429000"/>
            <a:ext cx="6675120" cy="2377440"/>
          </a:xfrm>
          <a:prstGeom prst="rect">
            <a:avLst/>
          </a:prstGeom>
          <a:noFill/>
          <a:ln/>
        </p:spPr>
        <p:txBody>
          <a:bodyPr wrap="square" lIns="0" tIns="0" rIns="0" bIns="0" rtlCol="0" anchor="t"/>
          <a:lstStyle/>
          <a:p>
            <a:pPr algn="l" indent="0" marL="0">
              <a:spcAft>
                <a:spcPts val="500"/>
              </a:spcAft>
              <a:buNone/>
            </a:pPr>
            <a:r>
              <a:rPr lang="en-US" sz="1250" b="1" dirty="0">
                <a:solidFill>
                  <a:srgbClr val="0F4C4D"/>
                </a:solidFill>
                <a:latin typeface="Arial" pitchFamily="34" charset="0"/>
                <a:ea typeface="Arial" pitchFamily="34" charset="-122"/>
                <a:cs typeface="Arial" pitchFamily="34" charset="-120"/>
              </a:rPr>
              <a:t>How to read it</a:t>
            </a:r>
            <a:endParaRPr lang="en-US" sz="1250" dirty="0"/>
          </a:p>
          <a:p>
            <a:pPr algn="l" marL="152400" indent="-152400">
              <a:spcAft>
                <a:spcPts val="300"/>
              </a:spcAft>
              <a:buSzPct val="100000"/>
              <a:buChar char="•"/>
            </a:pPr>
            <a:r>
              <a:rPr lang="en-US" sz="1150" dirty="0">
                <a:solidFill>
                  <a:srgbClr val="1F2A2E"/>
                </a:solidFill>
                <a:latin typeface="Arial" pitchFamily="34" charset="0"/>
                <a:ea typeface="Arial" pitchFamily="34" charset="-122"/>
                <a:cs typeface="Arial" pitchFamily="34" charset="-120"/>
              </a:rPr>
              <a:t>Base: failures matching the window’s signature, minus the count expected at the prior-period rate for the window’s volume.</a:t>
            </a:r>
            <a:endParaRPr lang="en-US" sz="1250" dirty="0"/>
          </a:p>
          <a:p>
            <a:pPr algn="l" marL="152400" indent="-152400">
              <a:spcAft>
                <a:spcPts val="300"/>
              </a:spcAft>
              <a:buSzPct val="100000"/>
              <a:buChar char="•"/>
            </a:pPr>
            <a:r>
              <a:rPr lang="en-US" sz="1150" dirty="0">
                <a:solidFill>
                  <a:srgbClr val="1F2A2E"/>
                </a:solidFill>
                <a:latin typeface="Arial" pitchFamily="34" charset="0"/>
                <a:ea typeface="Arial" pitchFamily="34" charset="-122"/>
                <a:cs typeface="Arial" pitchFamily="34" charset="-120"/>
              </a:rPr>
              <a:t>Range across the four baseline-based variants: 1,055–1,130.</a:t>
            </a:r>
            <a:endParaRPr lang="en-US" sz="1250" dirty="0"/>
          </a:p>
          <a:p>
            <a:pPr algn="l" marL="152400" indent="-152400">
              <a:buSzPct val="100000"/>
              <a:buChar char="•"/>
            </a:pPr>
            <a:r>
              <a:rPr lang="en-US" sz="1150" dirty="0">
                <a:solidFill>
                  <a:srgbClr val="1F2A2E"/>
                </a:solidFill>
                <a:latin typeface="Arial" pitchFamily="34" charset="0"/>
                <a:ea typeface="Arial" pitchFamily="34" charset="-122"/>
                <a:cs typeface="Arial" pitchFamily="34" charset="-120"/>
              </a:rPr>
              <a:t>The old method attributes every matching failure on the day, including ones that would have happened anyway.</a:t>
            </a:r>
            <a:endParaRPr lang="en-US" sz="1250" dirty="0"/>
          </a:p>
        </p:txBody>
      </p:sp>
      <p:graphicFrame>
        <p:nvGraphicFramePr>
          <p:cNvPr id="37" name="table-3"/>
          <p:cNvGraphicFramePr>
            <a:graphicFrameLocks noGrp="1"/>
          </p:cNvGraphicFramePr>
          <p:nvPr>
            <p:extLst>
              <p:ext uri="{D42A27DB-BD31-4B8C-83A1-F6EECF244321}">
                <p14:modId xmlns:p14="http://schemas.microsoft.com/office/powerpoint/2010/main" val="1579011935"/>
              </p:ext>
            </p:extLst>
          </p:nvPr>
        </p:nvGraphicFramePr>
        <p:xfrm>
          <a:off x="7452360" y="1325880"/>
          <a:ext cx="4190695" cy="914400"/>
        </p:xfrm>
        <a:graphic>
          <a:graphicData uri="http://schemas.openxmlformats.org/drawingml/2006/table">
            <a:tbl>
              <a:tblPr/>
              <a:tblGrid>
                <a:gridCol w="960120"/>
                <a:gridCol w="868680"/>
                <a:gridCol w="2359152"/>
              </a:tblGrid>
              <a:tr h="0">
                <a:tc>
                  <a:txBody>
                    <a:bodyPr/>
                    <a:lstStyle/>
                    <a:p>
                      <a:pPr indent="0" marL="0">
                        <a:buNone/>
                      </a:pPr>
                      <a:r>
                        <a:rPr lang="en-US" sz="1000" b="1" dirty="0">
                          <a:solidFill>
                            <a:srgbClr val="FFFFFF"/>
                          </a:solidFill>
                          <a:latin typeface="Arial" pitchFamily="34" charset="0"/>
                          <a:ea typeface="Arial" pitchFamily="34" charset="-122"/>
                          <a:cs typeface="Arial" pitchFamily="34" charset="-120"/>
                        </a:rPr>
                        <a:t>Date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UTC</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Vendor status page entry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2023-09-01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15:38–16:42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Liveness returned 'Unable to see your face properly' for all ID verification transactions.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2023-09-01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18:07–22:44</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Same liveness message. Liveness restored 20:59; Authentication restored for new users only; resolved 22:44.</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2023-09-06</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10:00–17:22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Instability; workaround 11:25; liveness restored 16:21; resolved 17:22.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2023-09-13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13:23–13:44</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Retry surge after a fix: V2 scans unavailable; Jumio Go customers may have seen extra 'unsupported document' rejections; Hybrid delays.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2023-09-01 / 09-02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 status entry mentions usability, TECHNICAL_ERROR or skipped document checks, and none is listed for Sep 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2023-08-24, 09-14 to 09-19</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 incidents listed for August 2023; only scheduled maintenance in Singapore during Sep 14–19.</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A6 · Experiment and validation designs</a:t>
            </a:r>
            <a:endParaRPr lang="en-US" sz="2600" dirty="0"/>
          </a:p>
        </p:txBody>
      </p:sp>
      <p:graphicFrame>
        <p:nvGraphicFramePr>
          <p:cNvPr id="20"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1463040"/>
                <a:gridCol w="4818888"/>
                <a:gridCol w="4809744"/>
              </a:tblGrid>
              <a:tr h="0">
                <a:tc>
                  <a:txBody>
                    <a:bodyPr/>
                    <a:lstStyle/>
                    <a:p>
                      <a:pPr indent="0" marL="0">
                        <a:buNone/>
                      </a:pP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Mexico document guidance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Guided liveness retake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Kind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Optimisation experiment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Optimisation experiment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Hypothesis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Showing Mexican applicants which documents are accepted, with pictures, before capture raises eventual approval.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Offering one guided retake when liveness returns BAD_QUALITY or FACE_NOT_FULLY_VISIBLE raises eventual approval without raising fraud.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Population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People starting KYC with a Mexican document. Exclude staff and test accounts, and people already approved.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People whose first liveness result is BAD_QUALITY or FACE_NOT_FULLY_VISIBLE and who have no fraud signal. Exclude ID_USED_AS_SELFIE and any manipulation label.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Assignment unit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Person (person_id), assigned at first kyc_started, sticky across attempts.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Person, assigned at the first eligible liveness failure, sticky.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Primary outcome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Eventual approval within 7 days of first start.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Eventual approval within 7 days of the failure.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Window</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7 days per person plus 7 days to mature the last cohort.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7 days plus 7 days to mature.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Minimum effect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+2.0 pp on eventual approval.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+10 pp on eventual approval in the eligible group.</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Sample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Using the recent submission-based Mexican approval rate (78.8%) as a stand-in baseline, about 6,314 people per arm (95% confidence, 80% power). At about 476 Mexican decisions a day that is roughly 27 days at a 50/50 split. Recompute once start-based data exists.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Assuming about 5% of the eligible group is approved later without a retake (not measurable yet), about 141 people per arm. At about 16 eligible people a day (recent non-incident rate) that is roughly 18 days. Needs the real baseline from instrumentation.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Guardrails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Start-to-submit rate, time to decision, fraud-signal rate, support contacts.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Fraud-signal rate and confirmed fraud among retake approvals, liveness spoof labels, vendor cost per approval, time to decision.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Rules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Start at 10% for 3 days to check events, then 50/50. Expand if the primary outcome improves by at least the minimum and guardrails hold. Roll back if start-to-submit falls more than 2 pp or fraud signals rise more than 0.5 pp.</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Needs Risk sign-off before launch. Start 50/50. Roll back on any confirmed spoof or a fraud-signal rate among retake approvals above control.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A7 · Value model inputs: market-based presets, not ARQ figures</a:t>
            </a:r>
            <a:endParaRPr lang="en-US" sz="2600" dirty="0"/>
          </a:p>
        </p:txBody>
      </p:sp>
      <p:graphicFrame>
        <p:nvGraphicFramePr>
          <p:cNvPr id="21"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788920"/>
                <a:gridCol w="777240"/>
                <a:gridCol w="777240"/>
                <a:gridCol w="777240"/>
                <a:gridCol w="1463040"/>
                <a:gridCol w="3291840"/>
                <a:gridCol w="1216152"/>
              </a:tblGrid>
              <a:tr h="0">
                <a:tc>
                  <a:txBody>
                    <a:bodyPr/>
                    <a:lstStyle/>
                    <a:p>
                      <a:pPr indent="0" marL="0">
                        <a:buNone/>
                      </a:pPr>
                      <a:r>
                        <a:rPr lang="en-US" sz="1100" b="1" dirty="0">
                          <a:solidFill>
                            <a:srgbClr val="FFFFFF"/>
                          </a:solidFill>
                          <a:latin typeface="Arial" pitchFamily="34" charset="0"/>
                          <a:ea typeface="Arial" pitchFamily="34" charset="-122"/>
                          <a:cs typeface="Arial" pitchFamily="34" charset="-120"/>
                        </a:rPr>
                        <a:t>Input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Low</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Mid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Kind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Basis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Sources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Value per activated customer (USD)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$21</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$53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ARQ press figures; Nu México revenue and margin</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S4, S5, S8, S9</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Activation rate after approval (%)</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38.2%</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56.3%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83.0%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Proxy</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Liftoff LATAM and fintech activation; Nu activity rate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S6, S7</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Share of applicants from paid channels (%)</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29.0%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40.0%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50.0%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Proxy + assumption</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Nu organic and word-of-mouth shares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S6</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Acquisition cost per paid applicant (USD)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$8.74</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$17.96</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$29.93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Liftoff cost per install and per registration</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S7</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Billable vendor transactions per decision (count)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1.2</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1.5</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Assumption</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Assumption; replace with invoiced transactions ÷ decisions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S2</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Vendor cost per billable transaction (USD)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$1.44</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$1.85</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List price / estimate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Veriff and Sumsub list prices; Vendr estimate for Jumio</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S1, S2, S3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Cost per manual review (USD)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$0.83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$5.72</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$10.79</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Mexico analyst salaries × handling time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S10, S11, S13, S14</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Implementation cost of the recurring-cause actions (USD)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$24,400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$31,600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$85,000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Roadmap effort × Mexico engineering cost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S12, S13, S14</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Run cost per month (USD)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$510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$2,010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$3,860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Review cases and retake vendor calls, central scenario</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S1, S2, S3, S10, S11</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897880"/>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Sources: S1 Veriff · S2 Sumsub · S3 Vendr · S4 Nu Holdings · S5 Nu Holdings · S6 Nu Holdings · S7 Liftoff, via MarTech Series · S8 Bloomberg Línea · S9 Passageiro de Primeira · S10 TalentUp · S11 Paylab · S12 Levels.fyi · S13 Revelo · S14 Banco de México. Full figures, periods and links are in the dashboard (Plan &amp; value).</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A8 · Value model results by preset, central scenario</a:t>
            </a:r>
            <a:endParaRPr lang="en-US" sz="2600" dirty="0"/>
          </a:p>
        </p:txBody>
      </p:sp>
      <p:graphicFrame>
        <p:nvGraphicFramePr>
          <p:cNvPr id="22"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4873752"/>
                <a:gridCol w="1645920"/>
                <a:gridCol w="1645920"/>
                <a:gridCol w="1645920"/>
                <a:gridCol w="1280160"/>
              </a:tblGrid>
              <a:tr h="0">
                <a:tc>
                  <a:txBody>
                    <a:bodyPr/>
                    <a:lstStyle/>
                    <a:p>
                      <a:pPr indent="0" marL="0">
                        <a:buNone/>
                      </a:pPr>
                      <a:r>
                        <a:rPr lang="en-US" sz="1150" b="1" dirty="0">
                          <a:solidFill>
                            <a:srgbClr val="FFFFFF"/>
                          </a:solidFill>
                          <a:latin typeface="Arial" pitchFamily="34" charset="0"/>
                          <a:ea typeface="Arial" pitchFamily="34" charset="-122"/>
                          <a:cs typeface="Arial" pitchFamily="34" charset="-120"/>
                        </a:rPr>
                        <a:t>Result (per 30 days unless stated)</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Low</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Mid</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High</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Cautious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Activated customers from recoverable approvals, per 30 days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242</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357</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526</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242</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First-year value of one 30-day cohort</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$3,148</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$7,496</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$27,890</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$3,148</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Same, if every 30 days repeats for a year</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$38,306</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$91,199</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$339,324</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$38,306</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Break-even first-year value per activated customer</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$13</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$21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$45</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Review cost per 30 days for the review-pilot population</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$231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$1,590</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$3,000</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$3,000</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Historical vendor spend on recent not-approved decisions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$6,049</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$9,326</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$18,905</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$6,049</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Vendor spend avoidable on suspected extra attack traffic</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$492</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$759</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$1,539</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$492</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Historical paid acquisition spend on recent not-approved applicants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$10,648</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$30,180</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$62,868</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$10,648</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Pays back within the first year? (value per activated customer vs break-even)</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Yes: $13 vs $11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Yes: $21 vs $13</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Yes: $53 vs $21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No: $13 vs $45</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806440"/>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The first-year value of a cohort is earned over the following year, not recognised in the next 12 months. Past vendor and paid-acquisition spend on not-approved applicants is spent; it is not a saving unless the cause is removed.</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A9 · Operating model: owned metrics with versions, lineage and adoption</a:t>
            </a:r>
            <a:endParaRPr lang="en-US" sz="2600" dirty="0"/>
          </a:p>
        </p:txBody>
      </p:sp>
      <p:graphicFrame>
        <p:nvGraphicFramePr>
          <p:cNvPr id="23"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583680" cy="914400"/>
        </p:xfrm>
        <a:graphic>
          <a:graphicData uri="http://schemas.openxmlformats.org/drawingml/2006/table">
            <a:tbl>
              <a:tblPr/>
              <a:tblGrid>
                <a:gridCol w="2377440"/>
                <a:gridCol w="914400"/>
                <a:gridCol w="1645920"/>
                <a:gridCol w="594360"/>
                <a:gridCol w="1051560"/>
              </a:tblGrid>
              <a:tr h="0">
                <a:tc>
                  <a:txBody>
                    <a:bodyPr/>
                    <a:lstStyle/>
                    <a:p>
                      <a:pPr indent="0" marL="0">
                        <a:buNone/>
                      </a:pPr>
                      <a:r>
                        <a:rPr lang="en-US" sz="1000" b="1" dirty="0">
                          <a:solidFill>
                            <a:srgbClr val="FFFFFF"/>
                          </a:solidFill>
                          <a:latin typeface="Arial" pitchFamily="34" charset="0"/>
                          <a:ea typeface="Arial" pitchFamily="34" charset="-122"/>
                          <a:cs typeface="Arial" pitchFamily="34" charset="-120"/>
                        </a:rPr>
                        <a:t>Metric</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Owner (role)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Version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Lineage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Approval rate among recorded decisions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Completion rate (start to terminal state)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Eventual approval within 7 days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Manual-review outcomes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Operations · KYC review</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Execution-error rate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Engineering · Onboarding platform</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Fraud-signal rate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Risk &amp; Fraud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4" name="text-2"/>
          <p:cNvSpPr txBox="1"/>
          <p:nvPr/>
        </p:nvSpPr>
        <p:spPr>
          <a:xfrm>
            <a:off x="7406640" y="1325880"/>
            <a:ext cx="4236415" cy="2194560"/>
          </a:xfrm>
          <a:prstGeom prst="rect">
            <a:avLst/>
          </a:prstGeom>
          <a:noFill/>
          <a:ln/>
        </p:spPr>
        <p:txBody>
          <a:bodyPr wrap="square" lIns="0" tIns="0" rIns="0" bIns="0" rtlCol="0" anchor="t"/>
          <a:lstStyle/>
          <a:p>
            <a:pPr algn="l" indent="0" marL="0">
              <a:spcAft>
                <a:spcPts val="500"/>
              </a:spcAft>
              <a:buNone/>
            </a:pPr>
            <a:r>
              <a:rPr lang="en-US" sz="1250" b="1" dirty="0">
                <a:solidFill>
                  <a:srgbClr val="0F4C4D"/>
                </a:solidFill>
                <a:latin typeface="Arial" pitchFamily="34" charset="0"/>
                <a:ea typeface="Arial" pitchFamily="34" charset="-122"/>
                <a:cs typeface="Arial" pitchFamily="34" charset="-120"/>
              </a:rPr>
              <a:t>Ownership rules</a:t>
            </a:r>
            <a:endParaRPr lang="en-US" sz="125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One accountable owner per metric, effective-dated.</a:t>
            </a:r>
            <a:endParaRPr lang="en-US" sz="125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Definition changes need owner and Data approval; old versions stay queryable.</a:t>
            </a:r>
            <a:endParaRPr lang="en-US" sz="1250" dirty="0"/>
          </a:p>
          <a:p>
            <a:pPr algn="l" marL="152400" indent="-152400">
              <a:buSzPct val="100000"/>
              <a:buChar char="•"/>
            </a:pPr>
            <a:r>
              <a:rPr lang="en-US" sz="1150" dirty="0">
                <a:solidFill>
                  <a:srgbClr val="1F2A2E"/>
                </a:solidFill>
                <a:latin typeface="Arial" pitchFamily="34" charset="0"/>
                <a:ea typeface="Arial" pitchFamily="34" charset="-122"/>
                <a:cs typeface="Arial" pitchFamily="34" charset="-120"/>
              </a:rPr>
              <a:t>Past results stay attributed to the owner at the time.</a:t>
            </a:r>
            <a:endParaRPr lang="en-US" sz="1250" dirty="0"/>
          </a:p>
        </p:txBody>
      </p:sp>
      <p:sp>
        <p:nvSpPr>
          <p:cNvPr id="5" name="text-3"/>
          <p:cNvSpPr txBox="1"/>
          <p:nvPr/>
        </p:nvSpPr>
        <p:spPr>
          <a:xfrm>
            <a:off x="7406640" y="3657600"/>
            <a:ext cx="4236415" cy="2194560"/>
          </a:xfrm>
          <a:prstGeom prst="rect">
            <a:avLst/>
          </a:prstGeom>
          <a:noFill/>
          <a:ln/>
        </p:spPr>
        <p:txBody>
          <a:bodyPr wrap="square" lIns="0" tIns="0" rIns="0" bIns="0" rtlCol="0" anchor="t"/>
          <a:lstStyle/>
          <a:p>
            <a:pPr algn="l" indent="0" marL="0">
              <a:spcAft>
                <a:spcPts val="500"/>
              </a:spcAft>
              <a:buNone/>
            </a:pPr>
            <a:r>
              <a:rPr lang="en-US" sz="1250" b="1" dirty="0">
                <a:solidFill>
                  <a:srgbClr val="0F4C4D"/>
                </a:solidFill>
                <a:latin typeface="Arial" pitchFamily="34" charset="0"/>
                <a:ea typeface="Arial" pitchFamily="34" charset="-122"/>
                <a:cs typeface="Arial" pitchFamily="34" charset="-120"/>
              </a:rPr>
              <a:t>Adoption success measures</a:t>
            </a:r>
            <a:endParaRPr lang="en-US" sz="1250" dirty="0"/>
          </a:p>
          <a:p>
            <a:pPr algn="l" indent="0" marL="0">
              <a:buNone/>
            </a:pPr>
            <a:r>
              <a:rPr lang="en-US" sz="1150" dirty="0">
                <a:solidFill>
                  <a:srgbClr val="1F2A2E"/>
                </a:solidFill>
                <a:latin typeface="Arial" pitchFamily="34" charset="0"/>
                <a:ea typeface="Arial" pitchFamily="34" charset="-122"/>
                <a:cs typeface="Arial" pitchFamily="34" charset="-120"/>
              </a:rPr>
              <a:t>Share of KYC actions with an owner and a current status; share of metrics with an approved definition; time from alert to acknowledged; decisions taken in the review that cite the platform. Page views are not a success measure.</a:t>
            </a:r>
            <a:endParaRPr lang="en-US" sz="1250" dirty="0"/>
          </a:p>
        </p:txBody>
      </p:sp>
      <p:sp>
        <p:nvSpPr>
          <p:cNvPr id="6" name="text-4"/>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This analysis is version 2.0 of the headline metric: v1.0 called it "pass rate"; v2.0 renamed it and defined completion separately.</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A10 · Control findings in the extract: to reconcile, not confirmed failures</a:t>
            </a:r>
            <a:endParaRPr lang="en-US" sz="2600" dirty="0"/>
          </a:p>
        </p:txBody>
      </p:sp>
      <p:graphicFrame>
        <p:nvGraphicFramePr>
          <p:cNvPr id="24"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3017520"/>
                <a:gridCol w="822960"/>
                <a:gridCol w="3566160"/>
                <a:gridCol w="3685032"/>
              </a:tblGrid>
              <a:tr h="0">
                <a:tc>
                  <a:txBody>
                    <a:bodyPr/>
                    <a:lstStyle/>
                    <a:p>
                      <a:pPr indent="0" marL="0">
                        <a:buNone/>
                      </a:pPr>
                      <a:r>
                        <a:rPr lang="en-US" sz="1050" b="1" dirty="0">
                          <a:solidFill>
                            <a:srgbClr val="FFFFFF"/>
                          </a:solidFill>
                          <a:latin typeface="Arial" pitchFamily="34" charset="0"/>
                          <a:ea typeface="Arial" pitchFamily="34" charset="-122"/>
                          <a:cs typeface="Arial" pitchFamily="34" charset="-120"/>
                        </a:rPr>
                        <a:t>Finding</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Records</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Other explanations</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How to validate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Approved records with birth year 2006 or later</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1,223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Extraction error; a policy that allows minors in some product; an approval record that never became an enabled account.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Compare with raw vendor responses and document images for a sample; check the age policy per country; check account state.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Approved records with no screening result in the extract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86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Screening ran in another system or a later step; field not exported.</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Look up screening records for these users in the screening system; confirm whether an account was enabled.</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Approved records with a watchlist WARNING</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69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Warnings cleared in manual review that the extract doesn't show.</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Retrieve review dispositions; confirm who cleared each case and when.</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Outcome disagrees between the two files</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Export mapping difference.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Reconcile against the system of record.</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Non-standard capability values</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Manual edits or an export bug.</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Fix at source; add schema checks to the extract.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If an extracted birth year of 2006 or later is accurate, the person was under 18 during 2023. The applicable eligibility policy and the data quality both still need confirming.</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A11 · Vendor research (Oct 13, 2026): availability is not effectiveness</a:t>
            </a:r>
            <a:endParaRPr lang="en-US" sz="2600" dirty="0"/>
          </a:p>
        </p:txBody>
      </p:sp>
      <p:graphicFrame>
        <p:nvGraphicFramePr>
          <p:cNvPr id="25"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1645920"/>
                <a:gridCol w="1554480"/>
                <a:gridCol w="3474720"/>
                <a:gridCol w="2606040"/>
                <a:gridCol w="1810512"/>
              </a:tblGrid>
              <a:tr h="0">
                <a:tc>
                  <a:txBody>
                    <a:bodyPr/>
                    <a:lstStyle/>
                    <a:p>
                      <a:pPr indent="0" marL="0">
                        <a:buNone/>
                      </a:pPr>
                      <a:r>
                        <a:rPr lang="en-US" sz="1000" b="1" dirty="0">
                          <a:solidFill>
                            <a:srgbClr val="FFFFFF"/>
                          </a:solidFill>
                          <a:latin typeface="Arial" pitchFamily="34" charset="0"/>
                          <a:ea typeface="Arial" pitchFamily="34" charset="-122"/>
                          <a:cs typeface="Arial" pitchFamily="34" charset="-120"/>
                        </a:rPr>
                        <a:t>Capability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2023 problem</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Documented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Prerequisites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Not verified for ARQ</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Classification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 document type returned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 separate capability that returns the document type, including UNSUPPORTED.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None stated.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Whether ARQ's workflow already returns it.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Usability labels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Missing mandatory data; automation level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UNSUPPORTED_DOCUMENT_TYPE is a WARNING; MISSING_MANDATORY_DATAPOINTS 'will only happen for Jumio Go transactions'; TECHNICAL_ERROR is NOT_EXECUTED.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None stated.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Whether ARQ had manual review elsewhere in its own process.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Liveness labels and tiers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Liveness quality spike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BAD_QUALITY is a WARNING; FACE_NOT_FULLY_VISIBLE is REJECTED; Standard or Premium type.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Premium 'requires additional configuration for your tenant'; technology depends on the product purchased.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Which tier and labels ARQ receives.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Cross Transaction Risk</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Fraud-signal clusters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Matches ID data, faces and image parts such as backgrounds across transactions; informational by default.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Enabled by contacting Jumio Support. Press release of Apr 22, 2025 announced general availability.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Commercial terms; effect on ARQ's traffic.</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Result retrieval and retries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Execution errors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After a callback, retry retrieval from 40 seconds with growing intervals, at most 10 consecutive failures.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None.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How ARQ handles TECHNICAL_ERROR today.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Mobile SDK capture features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 document type; capture quality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ML document and country classifier (4.9.0); unsupported-document check (4.11.0); virtual-camera injection detection (4.14.0); controls to limit manual capture (4.18.0).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SDK upgrade; configuration details for 4.18.0 controls not documented; gallery upload not documented.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ARQ's current SDK version and capture flow.</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Mexico INE registry checks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INE fraud signals; face mismatch</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INE Lista Nominal validates card fields. INE Data &amp; Face Validation compares with INE records.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Data &amp; Face needs a direct contract with INE, onboarding with FIMPE, dedicated middleware, about 4–5 days setup plus 2 days certification per client.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Cost, coverage and effect.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Argentina RENAPER data and biometric</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Fraud signals; face mismatch</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Data check and biometric (selfie vs registry) check.</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PII fields need an updated data-processing agreement and are disabled by default; enabled by Jumio.</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Cost and effect.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Case study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KYC approval-rate diagnosis</dc:title>
  <dc:subject>PptxGenJS Presentation</dc:subject>
  <dc:creator>KYC case study</dc:creator>
  <cp:lastModifiedBy>KYC case study</cp:lastModifiedBy>
  <cp:revision>1</cp:revision>
  <dcterms:created xsi:type="dcterms:W3CDTF">2026-10-14T13:32:02Z</dcterms:created>
  <dcterms:modified xsi:type="dcterms:W3CDTF">2026-10-14T13:32:02Z</dcterms:modified>
</cp:coreProperties>
</file>